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drawings/drawing1.xml" ContentType="application/vnd.openxmlformats-officedocument.drawingml.chartshapes+xml"/>
  <Override PartName="/ppt/charts/chart6.xml" ContentType="application/vnd.openxmlformats-officedocument.drawingml.chart+xml"/>
  <Override PartName="/ppt/drawings/drawing2.xml" ContentType="application/vnd.openxmlformats-officedocument.drawingml.chartshapes+xml"/>
  <Override PartName="/ppt/charts/chart7.xml" ContentType="application/vnd.openxmlformats-officedocument.drawingml.chart+xml"/>
  <Override PartName="/ppt/drawings/drawing3.xml" ContentType="application/vnd.openxmlformats-officedocument.drawingml.chartshapes+xml"/>
  <Override PartName="/ppt/charts/chart8.xml" ContentType="application/vnd.openxmlformats-officedocument.drawingml.chart+xml"/>
  <Override PartName="/ppt/drawings/drawing4.xml" ContentType="application/vnd.openxmlformats-officedocument.drawingml.chartshapes+xml"/>
  <Override PartName="/ppt/charts/chart9.xml" ContentType="application/vnd.openxmlformats-officedocument.drawingml.chart+xml"/>
  <Override PartName="/ppt/drawings/drawing5.xml" ContentType="application/vnd.openxmlformats-officedocument.drawingml.chartshapes+xml"/>
  <Override PartName="/ppt/charts/chart10.xml" ContentType="application/vnd.openxmlformats-officedocument.drawingml.chart+xml"/>
  <Override PartName="/ppt/drawings/drawing6.xml" ContentType="application/vnd.openxmlformats-officedocument.drawingml.chartshapes+xml"/>
  <Override PartName="/ppt/charts/chart11.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a:t>Top 10 Most Used Handsets</a:t>
            </a:r>
          </a:p>
        </c:rich>
      </c:tx>
      <c:overlay val="0"/>
    </c:title>
    <c:autoTitleDeleted val="0"/>
    <c:plotArea>
      <c:layout/>
      <c:barChart>
        <c:barDir val="bar"/>
        <c:grouping val="clustered"/>
        <c:varyColors val="1"/>
        <c:ser>
          <c:idx val="0"/>
          <c:order val="0"/>
          <c:tx>
            <c:strRef>
              <c:f>Sheet1!$B$1</c:f>
              <c:strCache>
                <c:ptCount val="1"/>
                <c:pt idx="0">
                  <c:v>Value</c:v>
                </c:pt>
              </c:strCache>
            </c:strRef>
          </c:tx>
          <c:spPr>
            <a:solidFill>
              <a:srgbClr val="149191"/>
            </a:solidFill>
            <a:ln>
              <a:solidFill>
                <a:srgbClr val="149191"/>
              </a:solidFill>
            </a:ln>
          </c:spPr>
          <c:invertIfNegative val="1"/>
          <c:cat>
            <c:strRef>
              <c:f>Sheet1!$A$2:$A$11</c:f>
              <c:strCache>
                <c:ptCount val="10"/>
                <c:pt idx="0">
                  <c:v>Apple iPhone X (A1901)</c:v>
                </c:pt>
                <c:pt idx="1">
                  <c:v>Samsung Galaxy S8 (Sm-G950F)</c:v>
                </c:pt>
                <c:pt idx="2">
                  <c:v>Apple iPhone XR (A2105)</c:v>
                </c:pt>
                <c:pt idx="3">
                  <c:v>Apple iPhone 8 (A1905)</c:v>
                </c:pt>
                <c:pt idx="4">
                  <c:v>Apple iPhone SE (A1723)</c:v>
                </c:pt>
                <c:pt idx="5">
                  <c:v>Apple iPhone 7 (A1778)</c:v>
                </c:pt>
                <c:pt idx="6">
                  <c:v>undefined</c:v>
                </c:pt>
                <c:pt idx="7">
                  <c:v>Apple iPhone 6 (A1586)</c:v>
                </c:pt>
                <c:pt idx="8">
                  <c:v>Apple iPhone 6S (A1688)</c:v>
                </c:pt>
                <c:pt idx="9">
                  <c:v>Huawei B528S-23A</c:v>
                </c:pt>
              </c:strCache>
            </c:strRef>
          </c:cat>
          <c:val>
            <c:numRef>
              <c:f>Sheet1!$B$2:$B$11</c:f>
              <c:numCache>
                <c:formatCode>General</c:formatCode>
                <c:ptCount val="10"/>
                <c:pt idx="0">
                  <c:v>3813</c:v>
                </c:pt>
                <c:pt idx="1">
                  <c:v>4520</c:v>
                </c:pt>
                <c:pt idx="2">
                  <c:v>4568</c:v>
                </c:pt>
                <c:pt idx="3">
                  <c:v>4993</c:v>
                </c:pt>
                <c:pt idx="4">
                  <c:v>5187</c:v>
                </c:pt>
                <c:pt idx="5">
                  <c:v>6326</c:v>
                </c:pt>
                <c:pt idx="6">
                  <c:v>8987</c:v>
                </c:pt>
                <c:pt idx="7">
                  <c:v>9023</c:v>
                </c:pt>
                <c:pt idx="8">
                  <c:v>9419</c:v>
                </c:pt>
                <c:pt idx="9">
                  <c:v>19752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49191"/>
                    </a:solidFill>
                  </a:ln>
                </c14:spPr>
              </c14:invertSolidFillFmt>
            </c:ext>
            <c:ext xmlns:c16="http://schemas.microsoft.com/office/drawing/2014/chart" uri="{C3380CC4-5D6E-409C-BE32-E72D297353CC}">
              <c16:uniqueId val="{00000000-E3B7-49A9-A28D-C9D60B7B607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1E7E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spPr>
          <a:ln>
            <a:solidFill>
              <a:srgbClr val="E1E7EE"/>
            </a:solidFill>
          </a:ln>
        </c:spPr>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Top 3 Manufacturers</a:t>
            </a:r>
          </a:p>
        </c:rich>
      </c:tx>
      <c:overlay val="0"/>
    </c:title>
    <c:autoTitleDeleted val="0"/>
    <c:plotArea>
      <c:layout/>
      <c:barChart>
        <c:barDir val="bar"/>
        <c:grouping val="clustered"/>
        <c:varyColors val="1"/>
        <c:ser>
          <c:idx val="0"/>
          <c:order val="0"/>
          <c:tx>
            <c:strRef>
              <c:f>Sheet1!$B$1</c:f>
              <c:strCache>
                <c:ptCount val="1"/>
                <c:pt idx="0">
                  <c:v>Value</c:v>
                </c:pt>
              </c:strCache>
            </c:strRef>
          </c:tx>
          <c:spPr>
            <a:solidFill>
              <a:srgbClr val="F18B41"/>
            </a:solidFill>
            <a:ln>
              <a:solidFill>
                <a:srgbClr val="F18B41"/>
              </a:solidFill>
            </a:ln>
          </c:spPr>
          <c:invertIfNegative val="1"/>
          <c:cat>
            <c:strRef>
              <c:f>Sheet1!$A$2:$A$4</c:f>
              <c:strCache>
                <c:ptCount val="3"/>
                <c:pt idx="0">
                  <c:v>Apple</c:v>
                </c:pt>
                <c:pt idx="1">
                  <c:v>Samsung</c:v>
                </c:pt>
                <c:pt idx="2">
                  <c:v>Huawei</c:v>
                </c:pt>
              </c:strCache>
            </c:strRef>
          </c:cat>
          <c:val>
            <c:numRef>
              <c:f>Sheet1!$B$2:$B$4</c:f>
              <c:numCache>
                <c:formatCode>General</c:formatCode>
                <c:ptCount val="3"/>
                <c:pt idx="0">
                  <c:v>59565</c:v>
                </c:pt>
                <c:pt idx="1">
                  <c:v>40839</c:v>
                </c:pt>
                <c:pt idx="2">
                  <c:v>34423</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18B41"/>
                    </a:solidFill>
                  </a:ln>
                </c14:spPr>
              </c14:invertSolidFillFmt>
            </c:ext>
            <c:ext xmlns:c16="http://schemas.microsoft.com/office/drawing/2014/chart" uri="{C3380CC4-5D6E-409C-BE32-E72D297353CC}">
              <c16:uniqueId val="{00000000-1870-40A0-A719-D95B712B632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1E7E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spPr>
          <a:ln>
            <a:solidFill>
              <a:srgbClr val="E1E7EE"/>
            </a:solidFill>
          </a:ln>
        </c:spPr>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Application Traffic (GB)</a:t>
            </a:r>
          </a:p>
        </c:rich>
      </c:tx>
      <c:overlay val="0"/>
    </c:title>
    <c:autoTitleDeleted val="0"/>
    <c:plotArea>
      <c:layout/>
      <c:barChart>
        <c:barDir val="bar"/>
        <c:grouping val="clustered"/>
        <c:varyColors val="1"/>
        <c:ser>
          <c:idx val="0"/>
          <c:order val="0"/>
          <c:tx>
            <c:strRef>
              <c:f>Sheet1!$B$1</c:f>
              <c:strCache>
                <c:ptCount val="1"/>
                <c:pt idx="0">
                  <c:v>Value</c:v>
                </c:pt>
              </c:strCache>
            </c:strRef>
          </c:tx>
          <c:spPr>
            <a:solidFill>
              <a:srgbClr val="F18B41"/>
            </a:solidFill>
            <a:ln>
              <a:solidFill>
                <a:srgbClr val="F18B41"/>
              </a:solidFill>
            </a:ln>
          </c:spPr>
          <c:invertIfNegative val="1"/>
          <c:cat>
            <c:strRef>
              <c:f>Sheet1!$A$2:$A$8</c:f>
              <c:strCache>
                <c:ptCount val="7"/>
                <c:pt idx="0">
                  <c:v>Social Media</c:v>
                </c:pt>
                <c:pt idx="1">
                  <c:v>Email</c:v>
                </c:pt>
                <c:pt idx="2">
                  <c:v>Google</c:v>
                </c:pt>
                <c:pt idx="3">
                  <c:v>Netflix</c:v>
                </c:pt>
                <c:pt idx="4">
                  <c:v>YouTube</c:v>
                </c:pt>
                <c:pt idx="5">
                  <c:v>Other</c:v>
                </c:pt>
                <c:pt idx="6">
                  <c:v>Gaming</c:v>
                </c:pt>
              </c:strCache>
            </c:strRef>
          </c:cat>
          <c:val>
            <c:numRef>
              <c:f>Sheet1!$B$2:$B$8</c:f>
              <c:numCache>
                <c:formatCode>General</c:formatCode>
                <c:ptCount val="7"/>
                <c:pt idx="0">
                  <c:v>255.403604</c:v>
                </c:pt>
                <c:pt idx="1">
                  <c:v>315.59294699999998</c:v>
                </c:pt>
                <c:pt idx="2">
                  <c:v>1090.6664490000001</c:v>
                </c:pt>
                <c:pt idx="3">
                  <c:v>3161.179815</c:v>
                </c:pt>
                <c:pt idx="4">
                  <c:v>3163.2579820000001</c:v>
                </c:pt>
                <c:pt idx="5">
                  <c:v>59981.64559</c:v>
                </c:pt>
                <c:pt idx="6">
                  <c:v>60116.839694000002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18B41"/>
                    </a:solidFill>
                  </a:ln>
                </c14:spPr>
              </c14:invertSolidFillFmt>
            </c:ext>
            <c:ext xmlns:c16="http://schemas.microsoft.com/office/drawing/2014/chart" uri="{C3380CC4-5D6E-409C-BE32-E72D297353CC}">
              <c16:uniqueId val="{00000000-9649-4CFA-94FA-3B01ABF5C72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1E7E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spPr>
          <a:ln>
            <a:solidFill>
              <a:srgbClr val="E1E7EE"/>
            </a:solidFill>
          </a:ln>
        </c:spPr>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Customers by Engagement Level</a:t>
            </a:r>
          </a:p>
        </c:rich>
      </c:tx>
      <c:overlay val="0"/>
    </c:title>
    <c:autoTitleDeleted val="0"/>
    <c:plotArea>
      <c:layout/>
      <c:barChart>
        <c:barDir val="bar"/>
        <c:grouping val="clustered"/>
        <c:varyColors val="1"/>
        <c:ser>
          <c:idx val="0"/>
          <c:order val="0"/>
          <c:tx>
            <c:strRef>
              <c:f>Sheet1!$B$1</c:f>
              <c:strCache>
                <c:ptCount val="1"/>
                <c:pt idx="0">
                  <c:v>Value</c:v>
                </c:pt>
              </c:strCache>
            </c:strRef>
          </c:tx>
          <c:spPr>
            <a:solidFill>
              <a:srgbClr val="149191"/>
            </a:solidFill>
            <a:ln>
              <a:solidFill>
                <a:srgbClr val="149191"/>
              </a:solidFill>
            </a:ln>
          </c:spPr>
          <c:invertIfNegative val="1"/>
          <c:cat>
            <c:strRef>
              <c:f>Sheet1!$A$2:$A$4</c:f>
              <c:strCache>
                <c:ptCount val="3"/>
                <c:pt idx="0">
                  <c:v>Low Engagement</c:v>
                </c:pt>
                <c:pt idx="1">
                  <c:v>High Engagement</c:v>
                </c:pt>
                <c:pt idx="2">
                  <c:v>Medium Engagement</c:v>
                </c:pt>
              </c:strCache>
            </c:strRef>
          </c:cat>
          <c:val>
            <c:numRef>
              <c:f>Sheet1!$B$2:$B$4</c:f>
              <c:numCache>
                <c:formatCode>General</c:formatCode>
                <c:ptCount val="3"/>
                <c:pt idx="0">
                  <c:v>57825</c:v>
                </c:pt>
                <c:pt idx="1">
                  <c:v>24450</c:v>
                </c:pt>
                <c:pt idx="2">
                  <c:v>24582</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149191"/>
                    </a:solidFill>
                  </a:ln>
                </c14:spPr>
              </c14:invertSolidFillFmt>
            </c:ext>
            <c:ext xmlns:c16="http://schemas.microsoft.com/office/drawing/2014/chart" uri="{C3380CC4-5D6E-409C-BE32-E72D297353CC}">
              <c16:uniqueId val="{00000000-13BB-47A4-ACE0-7E9286CB8A6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1E7E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spPr>
          <a:ln>
            <a:solidFill>
              <a:srgbClr val="E1E7EE"/>
            </a:solidFill>
          </a:ln>
        </c:spPr>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Overall standardized engagement index</a:t>
            </a:r>
          </a:p>
        </c:rich>
      </c:tx>
      <c:overlay val="0"/>
    </c:title>
    <c:autoTitleDeleted val="0"/>
    <c:plotArea>
      <c:layout/>
      <c:barChart>
        <c:barDir val="col"/>
        <c:grouping val="clustered"/>
        <c:varyColors val="1"/>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1E7E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solidFill>
              <a:srgbClr val="E1E7EE"/>
            </a:solidFill>
          </a:ln>
        </c:spPr>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a:t>Top 3 Applications by Traffic</a:t>
            </a:r>
          </a:p>
        </c:rich>
      </c:tx>
      <c:overlay val="0"/>
    </c:title>
    <c:autoTitleDeleted val="0"/>
    <c:plotArea>
      <c:layout/>
      <c:barChart>
        <c:barDir val="bar"/>
        <c:grouping val="clustered"/>
        <c:varyColors val="1"/>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1E7E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spPr>
          <a:ln>
            <a:solidFill>
              <a:srgbClr val="E1E7EE"/>
            </a:solidFill>
          </a:ln>
        </c:spPr>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Top Throughput Handsets (kbps)</a:t>
            </a:r>
          </a:p>
        </c:rich>
      </c:tx>
      <c:overlay val="0"/>
    </c:title>
    <c:autoTitleDeleted val="0"/>
    <c:plotArea>
      <c:layout/>
      <c:barChart>
        <c:barDir val="bar"/>
        <c:grouping val="clustered"/>
        <c:varyColors val="1"/>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1E7E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spPr>
          <a:ln>
            <a:solidFill>
              <a:srgbClr val="E1E7EE"/>
            </a:solidFill>
          </a:ln>
        </c:spPr>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userShapes r:id="rId2"/>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Top TCP Retransmission Handsets (M bytes)</a:t>
            </a:r>
          </a:p>
        </c:rich>
      </c:tx>
      <c:overlay val="0"/>
    </c:title>
    <c:autoTitleDeleted val="0"/>
    <c:plotArea>
      <c:layout/>
      <c:barChart>
        <c:barDir val="bar"/>
        <c:grouping val="clustered"/>
        <c:varyColors val="1"/>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1E7E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spPr>
          <a:ln>
            <a:solidFill>
              <a:srgbClr val="E1E7EE"/>
            </a:solidFill>
          </a:ln>
        </c:spPr>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userShapes r:id="rId2"/>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Standardized Experience Index</a:t>
            </a:r>
          </a:p>
        </c:rich>
      </c:tx>
      <c:overlay val="0"/>
    </c:title>
    <c:autoTitleDeleted val="0"/>
    <c:plotArea>
      <c:layout/>
      <c:barChart>
        <c:barDir val="col"/>
        <c:grouping val="clustered"/>
        <c:varyColors val="1"/>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1E7E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spPr>
          <a:ln>
            <a:solidFill>
              <a:srgbClr val="E1E7EE"/>
            </a:solidFill>
          </a:ln>
        </c:spPr>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Feature Importance</a:t>
            </a:r>
          </a:p>
        </c:rich>
      </c:tx>
      <c:overlay val="0"/>
    </c:title>
    <c:autoTitleDeleted val="0"/>
    <c:plotArea>
      <c:layout/>
      <c:barChart>
        <c:barDir val="bar"/>
        <c:grouping val="clustered"/>
        <c:varyColors val="1"/>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E1E7E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spPr>
          <a:ln>
            <a:solidFill>
              <a:srgbClr val="E1E7EE"/>
            </a:solidFill>
          </a:ln>
        </c:spPr>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userShapes r:id="rId2"/>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t>Average Satisfaction by Cluster</a:t>
            </a:r>
          </a:p>
        </c:rich>
      </c:tx>
      <c:overlay val="0"/>
    </c:title>
    <c:autoTitleDeleted val="0"/>
    <c:plotArea>
      <c:layout/>
      <c:barChart>
        <c:barDir val="col"/>
        <c:grouping val="clustered"/>
        <c:varyColors val="1"/>
        <c:ser>
          <c:idx val="0"/>
          <c:order val="0"/>
          <c:tx>
            <c:strRef>
              <c:f>Sheet1!$B$1</c:f>
              <c:strCache>
                <c:ptCount val="1"/>
                <c:pt idx="0">
                  <c:v>Value</c:v>
                </c:pt>
              </c:strCache>
            </c:strRef>
          </c:tx>
          <c:spPr>
            <a:solidFill>
              <a:srgbClr val="F18B41"/>
            </a:solidFill>
            <a:ln>
              <a:solidFill>
                <a:srgbClr val="F18B41"/>
              </a:solidFill>
            </a:ln>
          </c:spPr>
          <c:invertIfNegative val="1"/>
          <c:cat>
            <c:strRef>
              <c:f>Sheet1!$A$2:$A$3</c:f>
              <c:strCache>
                <c:ptCount val="2"/>
                <c:pt idx="0">
                  <c:v>Lower</c:v>
                </c:pt>
                <c:pt idx="1">
                  <c:v>Higher</c:v>
                </c:pt>
              </c:strCache>
            </c:strRef>
          </c:cat>
          <c:val>
            <c:numRef>
              <c:f>Sheet1!$B$2:$B$3</c:f>
              <c:numCache>
                <c:formatCode>General</c:formatCode>
                <c:ptCount val="2"/>
                <c:pt idx="0">
                  <c:v>1.77769</c:v>
                </c:pt>
                <c:pt idx="1">
                  <c:v>1.787828</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F18B41"/>
                    </a:solidFill>
                  </a:ln>
                </c14:spPr>
              </c14:invertSolidFillFmt>
            </c:ext>
            <c:ext xmlns:c16="http://schemas.microsoft.com/office/drawing/2014/chart" uri="{C3380CC4-5D6E-409C-BE32-E72D297353CC}">
              <c16:uniqueId val="{00000000-98F2-4DFF-B2A3-2F87D629B98C}"/>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1E7EE"/>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spPr>
          <a:ln>
            <a:solidFill>
              <a:srgbClr val="E1E7EE"/>
            </a:solidFill>
          </a:ln>
        </c:spPr>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drawings/_rels/drawing1.xml.rels><?xml version="1.0" encoding="UTF-8" standalone="yes"?>
<Relationships xmlns="http://schemas.openxmlformats.org/package/2006/relationships"><Relationship Id="rId1" Type="http://schemas.openxmlformats.org/officeDocument/2006/relationships/image" Target="../media/image1.png"/></Relationships>
</file>

<file path=ppt/drawings/_rels/drawing2.xml.rels><?xml version="1.0" encoding="UTF-8" standalone="yes"?>
<Relationships xmlns="http://schemas.openxmlformats.org/package/2006/relationships"><Relationship Id="rId1" Type="http://schemas.openxmlformats.org/officeDocument/2006/relationships/image" Target="../media/image2.png"/></Relationships>
</file>

<file path=ppt/drawings/_rels/drawing3.xml.rels><?xml version="1.0" encoding="UTF-8" standalone="yes"?>
<Relationships xmlns="http://schemas.openxmlformats.org/package/2006/relationships"><Relationship Id="rId1" Type="http://schemas.openxmlformats.org/officeDocument/2006/relationships/image" Target="../media/image3.png"/></Relationships>
</file>

<file path=ppt/drawings/_rels/drawing4.xml.rels><?xml version="1.0" encoding="UTF-8" standalone="yes"?>
<Relationships xmlns="http://schemas.openxmlformats.org/package/2006/relationships"><Relationship Id="rId1" Type="http://schemas.openxmlformats.org/officeDocument/2006/relationships/image" Target="../media/image4.png"/></Relationships>
</file>

<file path=ppt/drawings/_rels/drawing5.xml.rels><?xml version="1.0" encoding="UTF-8" standalone="yes"?>
<Relationships xmlns="http://schemas.openxmlformats.org/package/2006/relationships"><Relationship Id="rId1" Type="http://schemas.openxmlformats.org/officeDocument/2006/relationships/image" Target="../media/image5.png"/></Relationships>
</file>

<file path=ppt/drawings/_rels/drawing6.xml.rels><?xml version="1.0" encoding="UTF-8" standalone="yes"?>
<Relationships xmlns="http://schemas.openxmlformats.org/package/2006/relationships"><Relationship Id="rId1" Type="http://schemas.openxmlformats.org/officeDocument/2006/relationships/image" Target="../media/image6.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483E53DB-F4E5-EEA4-5AF5-6F41B66C1F2F}"/>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10333615" cy="4922947"/>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4758BACD-E9FB-9F02-5508-514624F163BD}"/>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5029200" cy="3383280"/>
        </a:xfrm>
        <a:prstGeom xmlns:a="http://schemas.openxmlformats.org/drawingml/2006/main" prst="rect">
          <a:avLst/>
        </a:prstGeom>
      </cdr:spPr>
    </cdr:pic>
  </cdr:relSizeAnchor>
</c:userShapes>
</file>

<file path=ppt/drawings/drawing3.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8858746B-3F23-D600-4B4B-71E5F34DB5E6}"/>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10219306" cy="5006774"/>
        </a:xfrm>
        <a:prstGeom xmlns:a="http://schemas.openxmlformats.org/drawingml/2006/main" prst="rect">
          <a:avLst/>
        </a:prstGeom>
      </cdr:spPr>
    </cdr:pic>
  </cdr:relSizeAnchor>
</c:userShapes>
</file>

<file path=ppt/drawings/drawing4.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E8B2218D-E7E7-C9D6-2AE2-ADBC3CACDE8B}"/>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10341236" cy="5044877"/>
        </a:xfrm>
        <a:prstGeom xmlns:a="http://schemas.openxmlformats.org/drawingml/2006/main" prst="rect">
          <a:avLst/>
        </a:prstGeom>
      </cdr:spPr>
    </cdr:pic>
  </cdr:relSizeAnchor>
</c:userShapes>
</file>

<file path=ppt/drawings/drawing5.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322E6652-8A86-F376-1D70-CCA615E12601}"/>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10150720" cy="5029636"/>
        </a:xfrm>
        <a:prstGeom xmlns:a="http://schemas.openxmlformats.org/drawingml/2006/main" prst="rect">
          <a:avLst/>
        </a:prstGeom>
      </cdr:spPr>
    </cdr:pic>
  </cdr:relSizeAnchor>
</c:userShapes>
</file>

<file path=ppt/drawings/drawing6.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ADCAFC0B-2C4D-53A9-F07E-9FF47730D0D6}"/>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10097375" cy="5235394"/>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D9AE7F-8026-4C73-B2D2-FAFFFF515750}" type="datetimeFigureOut">
              <a:rPr lang="en-IN" smtClean="0"/>
              <a:t>01-10-2026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28F21-CA31-4102-8FDE-F97D726F26A9}" type="slidenum">
              <a:rPr lang="en-IN" smtClean="0"/>
              <a:t>‹#›</a:t>
            </a:fld>
            <a:endParaRPr lang="en-IN"/>
          </a:p>
        </p:txBody>
      </p:sp>
    </p:spTree>
    <p:extLst>
      <p:ext uri="{BB962C8B-B14F-4D97-AF65-F5344CB8AC3E}">
        <p14:creationId xmlns:p14="http://schemas.microsoft.com/office/powerpoint/2010/main" val="1309627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328F21-CA31-4102-8FDE-F97D726F26A9}" type="slidenum">
              <a:rPr lang="en-IN" smtClean="0"/>
              <a:t>20</a:t>
            </a:fld>
            <a:endParaRPr lang="en-IN"/>
          </a:p>
        </p:txBody>
      </p:sp>
    </p:spTree>
    <p:extLst>
      <p:ext uri="{BB962C8B-B14F-4D97-AF65-F5344CB8AC3E}">
        <p14:creationId xmlns:p14="http://schemas.microsoft.com/office/powerpoint/2010/main" val="782612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052560" y="0"/>
            <a:ext cx="3200400" cy="6858000"/>
          </a:xfrm>
          <a:prstGeom prst="rect">
            <a:avLst/>
          </a:prstGeom>
          <a:solidFill>
            <a:srgbClr val="14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15600" y="0"/>
            <a:ext cx="1737360" cy="6858000"/>
          </a:xfrm>
          <a:prstGeom prst="rect">
            <a:avLst/>
          </a:prstGeom>
          <a:solidFill>
            <a:srgbClr val="123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1825" y="5717285"/>
            <a:ext cx="3136392" cy="351423"/>
          </a:xfrm>
          <a:prstGeom prst="round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5717285"/>
            <a:ext cx="2940796" cy="369332"/>
          </a:xfrm>
          <a:prstGeom prst="rect">
            <a:avLst/>
          </a:prstGeom>
          <a:noFill/>
        </p:spPr>
        <p:txBody>
          <a:bodyPr wrap="square" anchor="t">
            <a:spAutoFit/>
          </a:bodyPr>
          <a:lstStyle/>
          <a:p>
            <a:pPr algn="ctr"/>
            <a:r>
              <a:rPr lang="en-US" b="1" dirty="0" err="1">
                <a:solidFill>
                  <a:srgbClr val="FFFFFF"/>
                </a:solidFill>
                <a:latin typeface="Aptos"/>
              </a:rPr>
              <a:t>Nexthikes</a:t>
            </a:r>
            <a:r>
              <a:rPr lang="en-US" b="1" dirty="0">
                <a:solidFill>
                  <a:srgbClr val="FFFFFF"/>
                </a:solidFill>
                <a:latin typeface="Aptos"/>
              </a:rPr>
              <a:t> IT Solutions</a:t>
            </a:r>
            <a:endParaRPr b="1" dirty="0">
              <a:solidFill>
                <a:srgbClr val="FFFFFF"/>
              </a:solidFill>
              <a:latin typeface="Aptos"/>
            </a:endParaRPr>
          </a:p>
        </p:txBody>
      </p:sp>
      <p:sp>
        <p:nvSpPr>
          <p:cNvPr id="7" name="TextBox 6"/>
          <p:cNvSpPr txBox="1"/>
          <p:nvPr/>
        </p:nvSpPr>
        <p:spPr>
          <a:xfrm>
            <a:off x="640080" y="1325880"/>
            <a:ext cx="7680960" cy="707886"/>
          </a:xfrm>
          <a:prstGeom prst="rect">
            <a:avLst/>
          </a:prstGeom>
          <a:noFill/>
        </p:spPr>
        <p:txBody>
          <a:bodyPr wrap="square" anchor="t">
            <a:spAutoFit/>
          </a:bodyPr>
          <a:lstStyle/>
          <a:p>
            <a:pPr algn="l"/>
            <a:r>
              <a:rPr sz="4000" b="1" dirty="0" err="1">
                <a:solidFill>
                  <a:srgbClr val="FFFFFF"/>
                </a:solidFill>
                <a:latin typeface="Aptos Display"/>
              </a:rPr>
              <a:t>TellCo</a:t>
            </a:r>
            <a:r>
              <a:rPr sz="4000" b="1" dirty="0">
                <a:solidFill>
                  <a:srgbClr val="FFFFFF"/>
                </a:solidFill>
                <a:latin typeface="Aptos Display"/>
              </a:rPr>
              <a:t> User Analytics</a:t>
            </a:r>
          </a:p>
        </p:txBody>
      </p:sp>
      <p:sp>
        <p:nvSpPr>
          <p:cNvPr id="8" name="TextBox 7"/>
          <p:cNvSpPr txBox="1"/>
          <p:nvPr/>
        </p:nvSpPr>
        <p:spPr>
          <a:xfrm>
            <a:off x="658368" y="2240280"/>
            <a:ext cx="7863840" cy="548640"/>
          </a:xfrm>
          <a:prstGeom prst="rect">
            <a:avLst/>
          </a:prstGeom>
          <a:noFill/>
        </p:spPr>
        <p:txBody>
          <a:bodyPr wrap="square" anchor="t">
            <a:spAutoFit/>
          </a:bodyPr>
          <a:lstStyle/>
          <a:p>
            <a:pPr algn="l"/>
            <a:r>
              <a:rPr sz="1700" b="0">
                <a:solidFill>
                  <a:srgbClr val="CBD8E7"/>
                </a:solidFill>
                <a:latin typeface="Aptos"/>
              </a:rPr>
              <a:t>Customer Overview • Engagement • Experience • Satisfaction</a:t>
            </a:r>
          </a:p>
        </p:txBody>
      </p:sp>
      <p:sp>
        <p:nvSpPr>
          <p:cNvPr id="9" name="TextBox 8"/>
          <p:cNvSpPr txBox="1"/>
          <p:nvPr/>
        </p:nvSpPr>
        <p:spPr>
          <a:xfrm>
            <a:off x="658368" y="2880360"/>
            <a:ext cx="7132320" cy="731520"/>
          </a:xfrm>
          <a:prstGeom prst="rect">
            <a:avLst/>
          </a:prstGeom>
          <a:noFill/>
        </p:spPr>
        <p:txBody>
          <a:bodyPr wrap="square" anchor="t">
            <a:spAutoFit/>
          </a:bodyPr>
          <a:lstStyle/>
          <a:p>
            <a:pPr algn="l"/>
            <a:r>
              <a:rPr sz="1300" b="0">
                <a:solidFill>
                  <a:srgbClr val="A5B8CC"/>
                </a:solidFill>
                <a:latin typeface="Aptos"/>
              </a:rPr>
              <a:t>Data-driven assessment of customer behavior, network experience and growth opportunities</a:t>
            </a:r>
          </a:p>
        </p:txBody>
      </p:sp>
      <p:sp>
        <p:nvSpPr>
          <p:cNvPr id="10" name="Rounded Rectangle 9"/>
          <p:cNvSpPr/>
          <p:nvPr/>
        </p:nvSpPr>
        <p:spPr>
          <a:xfrm>
            <a:off x="658368" y="4160520"/>
            <a:ext cx="210312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8368" y="4160520"/>
            <a:ext cx="64008" cy="123444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315968"/>
            <a:ext cx="1783079" cy="274320"/>
          </a:xfrm>
          <a:prstGeom prst="rect">
            <a:avLst/>
          </a:prstGeom>
          <a:noFill/>
        </p:spPr>
        <p:txBody>
          <a:bodyPr wrap="square" anchor="t">
            <a:spAutoFit/>
          </a:bodyPr>
          <a:lstStyle/>
          <a:p>
            <a:pPr algn="l"/>
            <a:r>
              <a:rPr sz="1050" b="1">
                <a:solidFill>
                  <a:srgbClr val="677486"/>
                </a:solidFill>
                <a:latin typeface="Aptos"/>
              </a:rPr>
              <a:t>CUSTOMERS</a:t>
            </a:r>
          </a:p>
        </p:txBody>
      </p:sp>
      <p:sp>
        <p:nvSpPr>
          <p:cNvPr id="13" name="TextBox 12"/>
          <p:cNvSpPr txBox="1"/>
          <p:nvPr/>
        </p:nvSpPr>
        <p:spPr>
          <a:xfrm>
            <a:off x="859536" y="4636008"/>
            <a:ext cx="1783079" cy="502920"/>
          </a:xfrm>
          <a:prstGeom prst="rect">
            <a:avLst/>
          </a:prstGeom>
          <a:noFill/>
        </p:spPr>
        <p:txBody>
          <a:bodyPr wrap="square" anchor="t">
            <a:spAutoFit/>
          </a:bodyPr>
          <a:lstStyle/>
          <a:p>
            <a:pPr algn="l"/>
            <a:r>
              <a:rPr sz="2300" b="1">
                <a:solidFill>
                  <a:srgbClr val="101C30"/>
                </a:solidFill>
                <a:latin typeface="Aptos Display"/>
              </a:rPr>
              <a:t>106,857</a:t>
            </a:r>
          </a:p>
        </p:txBody>
      </p:sp>
      <p:sp>
        <p:nvSpPr>
          <p:cNvPr id="14" name="TextBox 13"/>
          <p:cNvSpPr txBox="1"/>
          <p:nvPr/>
        </p:nvSpPr>
        <p:spPr>
          <a:xfrm>
            <a:off x="859536" y="5184648"/>
            <a:ext cx="1783079" cy="384048"/>
          </a:xfrm>
          <a:prstGeom prst="rect">
            <a:avLst/>
          </a:prstGeom>
          <a:noFill/>
        </p:spPr>
        <p:txBody>
          <a:bodyPr wrap="square" anchor="t">
            <a:spAutoFit/>
          </a:bodyPr>
          <a:lstStyle/>
          <a:p>
            <a:pPr algn="l"/>
            <a:r>
              <a:rPr sz="950" b="0">
                <a:solidFill>
                  <a:srgbClr val="677486"/>
                </a:solidFill>
                <a:latin typeface="Aptos"/>
              </a:rPr>
              <a:t>customer-level analysis</a:t>
            </a:r>
          </a:p>
        </p:txBody>
      </p:sp>
      <p:sp>
        <p:nvSpPr>
          <p:cNvPr id="15" name="Rounded Rectangle 14"/>
          <p:cNvSpPr/>
          <p:nvPr/>
        </p:nvSpPr>
        <p:spPr>
          <a:xfrm>
            <a:off x="2907792" y="4160520"/>
            <a:ext cx="210312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907792" y="4160520"/>
            <a:ext cx="64008" cy="123444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108960" y="4315968"/>
            <a:ext cx="1783079" cy="274320"/>
          </a:xfrm>
          <a:prstGeom prst="rect">
            <a:avLst/>
          </a:prstGeom>
          <a:noFill/>
        </p:spPr>
        <p:txBody>
          <a:bodyPr wrap="square" anchor="t">
            <a:spAutoFit/>
          </a:bodyPr>
          <a:lstStyle/>
          <a:p>
            <a:pPr algn="l"/>
            <a:r>
              <a:rPr sz="1050" b="1">
                <a:solidFill>
                  <a:srgbClr val="677486"/>
                </a:solidFill>
                <a:latin typeface="Aptos"/>
              </a:rPr>
              <a:t>xDR RECORDS</a:t>
            </a:r>
          </a:p>
        </p:txBody>
      </p:sp>
      <p:sp>
        <p:nvSpPr>
          <p:cNvPr id="18" name="TextBox 17"/>
          <p:cNvSpPr txBox="1"/>
          <p:nvPr/>
        </p:nvSpPr>
        <p:spPr>
          <a:xfrm>
            <a:off x="3108960" y="4636008"/>
            <a:ext cx="1783079" cy="502920"/>
          </a:xfrm>
          <a:prstGeom prst="rect">
            <a:avLst/>
          </a:prstGeom>
          <a:noFill/>
        </p:spPr>
        <p:txBody>
          <a:bodyPr wrap="square" anchor="t">
            <a:spAutoFit/>
          </a:bodyPr>
          <a:lstStyle/>
          <a:p>
            <a:pPr algn="l"/>
            <a:r>
              <a:rPr sz="2300" b="1">
                <a:solidFill>
                  <a:srgbClr val="101C30"/>
                </a:solidFill>
                <a:latin typeface="Aptos Display"/>
              </a:rPr>
              <a:t>150,001</a:t>
            </a:r>
          </a:p>
        </p:txBody>
      </p:sp>
      <p:sp>
        <p:nvSpPr>
          <p:cNvPr id="19" name="TextBox 18"/>
          <p:cNvSpPr txBox="1"/>
          <p:nvPr/>
        </p:nvSpPr>
        <p:spPr>
          <a:xfrm>
            <a:off x="3108960" y="5184648"/>
            <a:ext cx="1783079" cy="384048"/>
          </a:xfrm>
          <a:prstGeom prst="rect">
            <a:avLst/>
          </a:prstGeom>
          <a:noFill/>
        </p:spPr>
        <p:txBody>
          <a:bodyPr wrap="square" anchor="t">
            <a:spAutoFit/>
          </a:bodyPr>
          <a:lstStyle/>
          <a:p>
            <a:pPr algn="l"/>
            <a:r>
              <a:rPr sz="950" b="0">
                <a:solidFill>
                  <a:srgbClr val="677486"/>
                </a:solidFill>
                <a:latin typeface="Aptos"/>
              </a:rPr>
              <a:t>one-month snapshot</a:t>
            </a:r>
          </a:p>
        </p:txBody>
      </p:sp>
      <p:sp>
        <p:nvSpPr>
          <p:cNvPr id="20" name="Rounded Rectangle 19"/>
          <p:cNvSpPr/>
          <p:nvPr/>
        </p:nvSpPr>
        <p:spPr>
          <a:xfrm>
            <a:off x="5157216" y="4160520"/>
            <a:ext cx="210312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157216" y="4160520"/>
            <a:ext cx="64008" cy="1234440"/>
          </a:xfrm>
          <a:prstGeom prst="rect">
            <a:avLst/>
          </a:prstGeom>
          <a:solidFill>
            <a:srgbClr val="46B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58383" y="4315968"/>
            <a:ext cx="1783079" cy="274320"/>
          </a:xfrm>
          <a:prstGeom prst="rect">
            <a:avLst/>
          </a:prstGeom>
          <a:noFill/>
        </p:spPr>
        <p:txBody>
          <a:bodyPr wrap="square" anchor="t">
            <a:spAutoFit/>
          </a:bodyPr>
          <a:lstStyle/>
          <a:p>
            <a:pPr algn="l"/>
            <a:r>
              <a:rPr sz="1050" b="1">
                <a:solidFill>
                  <a:srgbClr val="677486"/>
                </a:solidFill>
                <a:latin typeface="Aptos"/>
              </a:rPr>
              <a:t>FEATURES</a:t>
            </a:r>
          </a:p>
        </p:txBody>
      </p:sp>
      <p:sp>
        <p:nvSpPr>
          <p:cNvPr id="23" name="TextBox 22"/>
          <p:cNvSpPr txBox="1"/>
          <p:nvPr/>
        </p:nvSpPr>
        <p:spPr>
          <a:xfrm>
            <a:off x="5358383" y="4636008"/>
            <a:ext cx="1783079" cy="502920"/>
          </a:xfrm>
          <a:prstGeom prst="rect">
            <a:avLst/>
          </a:prstGeom>
          <a:noFill/>
        </p:spPr>
        <p:txBody>
          <a:bodyPr wrap="square" anchor="t">
            <a:spAutoFit/>
          </a:bodyPr>
          <a:lstStyle/>
          <a:p>
            <a:pPr algn="l"/>
            <a:r>
              <a:rPr sz="2300" b="1">
                <a:solidFill>
                  <a:srgbClr val="101C30"/>
                </a:solidFill>
                <a:latin typeface="Aptos Display"/>
              </a:rPr>
              <a:t>55</a:t>
            </a:r>
          </a:p>
        </p:txBody>
      </p:sp>
      <p:sp>
        <p:nvSpPr>
          <p:cNvPr id="24" name="TextBox 23"/>
          <p:cNvSpPr txBox="1"/>
          <p:nvPr/>
        </p:nvSpPr>
        <p:spPr>
          <a:xfrm>
            <a:off x="5358383" y="5184648"/>
            <a:ext cx="1783079" cy="384048"/>
          </a:xfrm>
          <a:prstGeom prst="rect">
            <a:avLst/>
          </a:prstGeom>
          <a:noFill/>
        </p:spPr>
        <p:txBody>
          <a:bodyPr wrap="square" anchor="t">
            <a:spAutoFit/>
          </a:bodyPr>
          <a:lstStyle/>
          <a:p>
            <a:pPr algn="l"/>
            <a:r>
              <a:rPr sz="950" b="0">
                <a:solidFill>
                  <a:srgbClr val="677486"/>
                </a:solidFill>
                <a:latin typeface="Aptos"/>
              </a:rPr>
              <a:t>source dataset</a:t>
            </a:r>
          </a:p>
        </p:txBody>
      </p:sp>
      <p:sp>
        <p:nvSpPr>
          <p:cNvPr id="26" name="TextBox 25"/>
          <p:cNvSpPr txBox="1"/>
          <p:nvPr/>
        </p:nvSpPr>
        <p:spPr>
          <a:xfrm>
            <a:off x="-1601986" y="6085067"/>
            <a:ext cx="3789188" cy="369332"/>
          </a:xfrm>
          <a:prstGeom prst="rect">
            <a:avLst/>
          </a:prstGeom>
          <a:noFill/>
        </p:spPr>
        <p:txBody>
          <a:bodyPr wrap="square" anchor="t">
            <a:spAutoFit/>
          </a:bodyPr>
          <a:lstStyle/>
          <a:p>
            <a:pPr algn="r"/>
            <a:r>
              <a:rPr lang="en-US" b="0" dirty="0">
                <a:solidFill>
                  <a:srgbClr val="A5B8CC"/>
                </a:solidFill>
                <a:latin typeface="Aptos"/>
              </a:rPr>
              <a:t>Isha Bardia</a:t>
            </a:r>
            <a:endParaRPr b="0" dirty="0">
              <a:solidFill>
                <a:srgbClr val="A5B8CC"/>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916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4086696" cy="646331"/>
          </a:xfrm>
          <a:prstGeom prst="rect">
            <a:avLst/>
          </a:prstGeom>
          <a:noFill/>
        </p:spPr>
        <p:txBody>
          <a:bodyPr wrap="none">
            <a:spAutoFit/>
          </a:bodyPr>
          <a:lstStyle/>
          <a:p>
            <a:r>
              <a:rPr sz="3600" b="1" dirty="0">
                <a:solidFill>
                  <a:srgbClr val="101C30"/>
                </a:solidFill>
                <a:latin typeface="Aptos Display"/>
              </a:rPr>
              <a:t>Executive Summary</a:t>
            </a:r>
          </a:p>
        </p:txBody>
      </p:sp>
      <p:sp>
        <p:nvSpPr>
          <p:cNvPr id="4" name="TextBox 3"/>
          <p:cNvSpPr txBox="1"/>
          <p:nvPr/>
        </p:nvSpPr>
        <p:spPr>
          <a:xfrm>
            <a:off x="566928" y="850392"/>
            <a:ext cx="10881360" cy="347472"/>
          </a:xfrm>
          <a:prstGeom prst="rect">
            <a:avLst/>
          </a:prstGeom>
          <a:noFill/>
        </p:spPr>
        <p:txBody>
          <a:bodyPr wrap="none">
            <a:spAutoFit/>
          </a:bodyPr>
          <a:lstStyle/>
          <a:p>
            <a:r>
              <a:rPr sz="1050">
                <a:solidFill>
                  <a:srgbClr val="677486"/>
                </a:solidFill>
                <a:latin typeface="Aptos"/>
              </a:rPr>
              <a:t>What the four analyses say about TellCo's customer base</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508760"/>
            <a:ext cx="2560320" cy="14173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508760"/>
            <a:ext cx="64008" cy="141732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664207"/>
            <a:ext cx="2240279" cy="274320"/>
          </a:xfrm>
          <a:prstGeom prst="rect">
            <a:avLst/>
          </a:prstGeom>
          <a:noFill/>
        </p:spPr>
        <p:txBody>
          <a:bodyPr wrap="square" anchor="t">
            <a:spAutoFit/>
          </a:bodyPr>
          <a:lstStyle/>
          <a:p>
            <a:pPr algn="l"/>
            <a:r>
              <a:rPr sz="1050" b="1">
                <a:solidFill>
                  <a:srgbClr val="677486"/>
                </a:solidFill>
                <a:latin typeface="Aptos"/>
              </a:rPr>
              <a:t>CUSTOMER BASE</a:t>
            </a:r>
          </a:p>
        </p:txBody>
      </p:sp>
      <p:sp>
        <p:nvSpPr>
          <p:cNvPr id="9" name="TextBox 8"/>
          <p:cNvSpPr txBox="1"/>
          <p:nvPr/>
        </p:nvSpPr>
        <p:spPr>
          <a:xfrm>
            <a:off x="795528" y="1984248"/>
            <a:ext cx="2240279" cy="502920"/>
          </a:xfrm>
          <a:prstGeom prst="rect">
            <a:avLst/>
          </a:prstGeom>
          <a:noFill/>
        </p:spPr>
        <p:txBody>
          <a:bodyPr wrap="square" anchor="t">
            <a:spAutoFit/>
          </a:bodyPr>
          <a:lstStyle/>
          <a:p>
            <a:pPr algn="l"/>
            <a:r>
              <a:rPr sz="2300" b="1">
                <a:solidFill>
                  <a:srgbClr val="101C30"/>
                </a:solidFill>
                <a:latin typeface="Aptos Display"/>
              </a:rPr>
              <a:t>106,857</a:t>
            </a:r>
          </a:p>
        </p:txBody>
      </p:sp>
      <p:sp>
        <p:nvSpPr>
          <p:cNvPr id="10" name="TextBox 9"/>
          <p:cNvSpPr txBox="1"/>
          <p:nvPr/>
        </p:nvSpPr>
        <p:spPr>
          <a:xfrm>
            <a:off x="795528" y="2532888"/>
            <a:ext cx="2240279" cy="384048"/>
          </a:xfrm>
          <a:prstGeom prst="rect">
            <a:avLst/>
          </a:prstGeom>
          <a:noFill/>
        </p:spPr>
        <p:txBody>
          <a:bodyPr wrap="square" anchor="t">
            <a:spAutoFit/>
          </a:bodyPr>
          <a:lstStyle/>
          <a:p>
            <a:pPr algn="l"/>
            <a:r>
              <a:rPr sz="950" b="0">
                <a:solidFill>
                  <a:srgbClr val="677486"/>
                </a:solidFill>
                <a:latin typeface="Aptos"/>
              </a:rPr>
              <a:t>unique customer-level records</a:t>
            </a:r>
          </a:p>
        </p:txBody>
      </p:sp>
      <p:sp>
        <p:nvSpPr>
          <p:cNvPr id="11" name="Rounded Rectangle 10"/>
          <p:cNvSpPr/>
          <p:nvPr/>
        </p:nvSpPr>
        <p:spPr>
          <a:xfrm>
            <a:off x="3337560" y="1508760"/>
            <a:ext cx="2560320" cy="14173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37560" y="1508760"/>
            <a:ext cx="64008" cy="141732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38728" y="1664207"/>
            <a:ext cx="2240279" cy="274320"/>
          </a:xfrm>
          <a:prstGeom prst="rect">
            <a:avLst/>
          </a:prstGeom>
          <a:noFill/>
        </p:spPr>
        <p:txBody>
          <a:bodyPr wrap="square" anchor="t">
            <a:spAutoFit/>
          </a:bodyPr>
          <a:lstStyle/>
          <a:p>
            <a:pPr algn="l"/>
            <a:r>
              <a:rPr sz="1050" b="1">
                <a:solidFill>
                  <a:srgbClr val="677486"/>
                </a:solidFill>
                <a:latin typeface="Aptos"/>
              </a:rPr>
              <a:t>HIGH ENGAGEMENT</a:t>
            </a:r>
          </a:p>
        </p:txBody>
      </p:sp>
      <p:sp>
        <p:nvSpPr>
          <p:cNvPr id="14" name="TextBox 13"/>
          <p:cNvSpPr txBox="1"/>
          <p:nvPr/>
        </p:nvSpPr>
        <p:spPr>
          <a:xfrm>
            <a:off x="3538728" y="1984248"/>
            <a:ext cx="2240279" cy="502920"/>
          </a:xfrm>
          <a:prstGeom prst="rect">
            <a:avLst/>
          </a:prstGeom>
          <a:noFill/>
        </p:spPr>
        <p:txBody>
          <a:bodyPr wrap="square" anchor="t">
            <a:spAutoFit/>
          </a:bodyPr>
          <a:lstStyle/>
          <a:p>
            <a:pPr algn="l"/>
            <a:r>
              <a:rPr sz="2300" b="1">
                <a:solidFill>
                  <a:srgbClr val="101C30"/>
                </a:solidFill>
                <a:latin typeface="Aptos Display"/>
              </a:rPr>
              <a:t>24,450</a:t>
            </a:r>
          </a:p>
        </p:txBody>
      </p:sp>
      <p:sp>
        <p:nvSpPr>
          <p:cNvPr id="15" name="TextBox 14"/>
          <p:cNvSpPr txBox="1"/>
          <p:nvPr/>
        </p:nvSpPr>
        <p:spPr>
          <a:xfrm>
            <a:off x="3538728" y="2532888"/>
            <a:ext cx="2240279" cy="384048"/>
          </a:xfrm>
          <a:prstGeom prst="rect">
            <a:avLst/>
          </a:prstGeom>
          <a:noFill/>
        </p:spPr>
        <p:txBody>
          <a:bodyPr wrap="square" anchor="t">
            <a:spAutoFit/>
          </a:bodyPr>
          <a:lstStyle/>
          <a:p>
            <a:pPr algn="l"/>
            <a:r>
              <a:rPr sz="950" b="0">
                <a:solidFill>
                  <a:srgbClr val="677486"/>
                </a:solidFill>
                <a:latin typeface="Aptos"/>
              </a:rPr>
              <a:t>22.9% of customers</a:t>
            </a:r>
          </a:p>
        </p:txBody>
      </p:sp>
      <p:sp>
        <p:nvSpPr>
          <p:cNvPr id="16" name="Rounded Rectangle 15"/>
          <p:cNvSpPr/>
          <p:nvPr/>
        </p:nvSpPr>
        <p:spPr>
          <a:xfrm>
            <a:off x="6080760" y="1508760"/>
            <a:ext cx="2560320" cy="14173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80760" y="1508760"/>
            <a:ext cx="64008" cy="1417320"/>
          </a:xfrm>
          <a:prstGeom prst="rect">
            <a:avLst/>
          </a:prstGeom>
          <a:solidFill>
            <a:srgbClr val="36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81928" y="1664207"/>
            <a:ext cx="2240279" cy="274320"/>
          </a:xfrm>
          <a:prstGeom prst="rect">
            <a:avLst/>
          </a:prstGeom>
          <a:noFill/>
        </p:spPr>
        <p:txBody>
          <a:bodyPr wrap="square" anchor="t">
            <a:spAutoFit/>
          </a:bodyPr>
          <a:lstStyle/>
          <a:p>
            <a:pPr algn="l"/>
            <a:r>
              <a:rPr sz="1050" b="1">
                <a:solidFill>
                  <a:srgbClr val="677486"/>
                </a:solidFill>
                <a:latin typeface="Aptos"/>
              </a:rPr>
              <a:t>GOOD EXPERIENCE</a:t>
            </a:r>
          </a:p>
        </p:txBody>
      </p:sp>
      <p:sp>
        <p:nvSpPr>
          <p:cNvPr id="19" name="TextBox 18"/>
          <p:cNvSpPr txBox="1"/>
          <p:nvPr/>
        </p:nvSpPr>
        <p:spPr>
          <a:xfrm>
            <a:off x="6281928" y="1984248"/>
            <a:ext cx="2240279" cy="502920"/>
          </a:xfrm>
          <a:prstGeom prst="rect">
            <a:avLst/>
          </a:prstGeom>
          <a:noFill/>
        </p:spPr>
        <p:txBody>
          <a:bodyPr wrap="square" anchor="t">
            <a:spAutoFit/>
          </a:bodyPr>
          <a:lstStyle/>
          <a:p>
            <a:pPr algn="l"/>
            <a:r>
              <a:rPr sz="2300" b="1">
                <a:solidFill>
                  <a:srgbClr val="101C30"/>
                </a:solidFill>
                <a:latin typeface="Aptos Display"/>
              </a:rPr>
              <a:t>34,652</a:t>
            </a:r>
          </a:p>
        </p:txBody>
      </p:sp>
      <p:sp>
        <p:nvSpPr>
          <p:cNvPr id="20" name="TextBox 19"/>
          <p:cNvSpPr txBox="1"/>
          <p:nvPr/>
        </p:nvSpPr>
        <p:spPr>
          <a:xfrm>
            <a:off x="6281928" y="2532888"/>
            <a:ext cx="2240279" cy="384048"/>
          </a:xfrm>
          <a:prstGeom prst="rect">
            <a:avLst/>
          </a:prstGeom>
          <a:noFill/>
        </p:spPr>
        <p:txBody>
          <a:bodyPr wrap="square" anchor="t">
            <a:spAutoFit/>
          </a:bodyPr>
          <a:lstStyle/>
          <a:p>
            <a:pPr algn="l"/>
            <a:r>
              <a:rPr sz="950" b="0">
                <a:solidFill>
                  <a:srgbClr val="677486"/>
                </a:solidFill>
                <a:latin typeface="Aptos"/>
              </a:rPr>
              <a:t>32.4% of customers</a:t>
            </a:r>
          </a:p>
        </p:txBody>
      </p:sp>
      <p:sp>
        <p:nvSpPr>
          <p:cNvPr id="21" name="Rounded Rectangle 20"/>
          <p:cNvSpPr/>
          <p:nvPr/>
        </p:nvSpPr>
        <p:spPr>
          <a:xfrm>
            <a:off x="8823960" y="1508760"/>
            <a:ext cx="2560320" cy="14173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823960" y="1508760"/>
            <a:ext cx="64008" cy="1417320"/>
          </a:xfrm>
          <a:prstGeom prst="rect">
            <a:avLst/>
          </a:prstGeom>
          <a:solidFill>
            <a:srgbClr val="EBB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25128" y="1664207"/>
            <a:ext cx="2240279" cy="274320"/>
          </a:xfrm>
          <a:prstGeom prst="rect">
            <a:avLst/>
          </a:prstGeom>
          <a:noFill/>
        </p:spPr>
        <p:txBody>
          <a:bodyPr wrap="square" anchor="t">
            <a:spAutoFit/>
          </a:bodyPr>
          <a:lstStyle/>
          <a:p>
            <a:pPr algn="l"/>
            <a:r>
              <a:rPr sz="1050" b="1">
                <a:solidFill>
                  <a:srgbClr val="677486"/>
                </a:solidFill>
                <a:latin typeface="Aptos"/>
              </a:rPr>
              <a:t>AVG SATISFACTION</a:t>
            </a:r>
          </a:p>
        </p:txBody>
      </p:sp>
      <p:sp>
        <p:nvSpPr>
          <p:cNvPr id="24" name="TextBox 23"/>
          <p:cNvSpPr txBox="1"/>
          <p:nvPr/>
        </p:nvSpPr>
        <p:spPr>
          <a:xfrm>
            <a:off x="9025128" y="1984248"/>
            <a:ext cx="2240279" cy="502920"/>
          </a:xfrm>
          <a:prstGeom prst="rect">
            <a:avLst/>
          </a:prstGeom>
          <a:noFill/>
        </p:spPr>
        <p:txBody>
          <a:bodyPr wrap="square" anchor="t">
            <a:spAutoFit/>
          </a:bodyPr>
          <a:lstStyle/>
          <a:p>
            <a:pPr algn="l"/>
            <a:r>
              <a:rPr sz="2300" b="1">
                <a:solidFill>
                  <a:srgbClr val="101C30"/>
                </a:solidFill>
                <a:latin typeface="Aptos Display"/>
              </a:rPr>
              <a:t>1.78</a:t>
            </a:r>
          </a:p>
        </p:txBody>
      </p:sp>
      <p:sp>
        <p:nvSpPr>
          <p:cNvPr id="25" name="TextBox 24"/>
          <p:cNvSpPr txBox="1"/>
          <p:nvPr/>
        </p:nvSpPr>
        <p:spPr>
          <a:xfrm>
            <a:off x="9025128" y="2532888"/>
            <a:ext cx="2240279" cy="384048"/>
          </a:xfrm>
          <a:prstGeom prst="rect">
            <a:avLst/>
          </a:prstGeom>
          <a:noFill/>
        </p:spPr>
        <p:txBody>
          <a:bodyPr wrap="square" anchor="t">
            <a:spAutoFit/>
          </a:bodyPr>
          <a:lstStyle/>
          <a:p>
            <a:pPr algn="l"/>
            <a:r>
              <a:rPr sz="950" b="0">
                <a:solidFill>
                  <a:srgbClr val="677486"/>
                </a:solidFill>
                <a:latin typeface="Aptos"/>
              </a:rPr>
              <a:t>derived satisfaction score</a:t>
            </a:r>
          </a:p>
        </p:txBody>
      </p:sp>
      <p:sp>
        <p:nvSpPr>
          <p:cNvPr id="26" name="Rounded Rectangle 25"/>
          <p:cNvSpPr/>
          <p:nvPr/>
        </p:nvSpPr>
        <p:spPr>
          <a:xfrm>
            <a:off x="640080" y="3246120"/>
            <a:ext cx="5394960" cy="205740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 y="3246120"/>
            <a:ext cx="73152" cy="205740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59" y="3383279"/>
            <a:ext cx="5120640" cy="338554"/>
          </a:xfrm>
          <a:prstGeom prst="rect">
            <a:avLst/>
          </a:prstGeom>
          <a:noFill/>
        </p:spPr>
        <p:txBody>
          <a:bodyPr wrap="square" anchor="t">
            <a:spAutoFit/>
          </a:bodyPr>
          <a:lstStyle/>
          <a:p>
            <a:pPr algn="l"/>
            <a:r>
              <a:rPr sz="1600" b="1" dirty="0">
                <a:solidFill>
                  <a:srgbClr val="101C30"/>
                </a:solidFill>
                <a:latin typeface="Aptos"/>
              </a:rPr>
              <a:t>Growth signal</a:t>
            </a:r>
          </a:p>
        </p:txBody>
      </p:sp>
      <p:sp>
        <p:nvSpPr>
          <p:cNvPr id="29" name="TextBox 28"/>
          <p:cNvSpPr txBox="1"/>
          <p:nvPr/>
        </p:nvSpPr>
        <p:spPr>
          <a:xfrm>
            <a:off x="822959" y="3730752"/>
            <a:ext cx="5074920" cy="954107"/>
          </a:xfrm>
          <a:prstGeom prst="rect">
            <a:avLst/>
          </a:prstGeom>
          <a:noFill/>
        </p:spPr>
        <p:txBody>
          <a:bodyPr wrap="square" anchor="t">
            <a:spAutoFit/>
          </a:bodyPr>
          <a:lstStyle/>
          <a:p>
            <a:pPr algn="l"/>
            <a:r>
              <a:rPr sz="1400" b="0" dirty="0">
                <a:solidFill>
                  <a:srgbClr val="242E3C"/>
                </a:solidFill>
                <a:latin typeface="Aptos"/>
              </a:rPr>
              <a:t>The data reveals identifiable customer segments, strong application demand and meaningful network-experience differences. These create operational opportunities to improve engagement and service quality.</a:t>
            </a:r>
          </a:p>
        </p:txBody>
      </p:sp>
      <p:sp>
        <p:nvSpPr>
          <p:cNvPr id="30" name="Rounded Rectangle 29"/>
          <p:cNvSpPr/>
          <p:nvPr/>
        </p:nvSpPr>
        <p:spPr>
          <a:xfrm>
            <a:off x="6172200" y="3246120"/>
            <a:ext cx="5349240" cy="205740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72200" y="3246120"/>
            <a:ext cx="73152" cy="205740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3383279"/>
            <a:ext cx="5074920" cy="338554"/>
          </a:xfrm>
          <a:prstGeom prst="rect">
            <a:avLst/>
          </a:prstGeom>
          <a:noFill/>
        </p:spPr>
        <p:txBody>
          <a:bodyPr wrap="square" anchor="t">
            <a:spAutoFit/>
          </a:bodyPr>
          <a:lstStyle/>
          <a:p>
            <a:pPr algn="l"/>
            <a:r>
              <a:rPr sz="1600" b="1" dirty="0">
                <a:solidFill>
                  <a:srgbClr val="101C30"/>
                </a:solidFill>
                <a:latin typeface="Aptos"/>
              </a:rPr>
              <a:t>Investment caveat</a:t>
            </a:r>
          </a:p>
        </p:txBody>
      </p:sp>
      <p:sp>
        <p:nvSpPr>
          <p:cNvPr id="33" name="TextBox 32"/>
          <p:cNvSpPr txBox="1"/>
          <p:nvPr/>
        </p:nvSpPr>
        <p:spPr>
          <a:xfrm>
            <a:off x="6355080" y="3730752"/>
            <a:ext cx="5029200" cy="954107"/>
          </a:xfrm>
          <a:prstGeom prst="rect">
            <a:avLst/>
          </a:prstGeom>
          <a:noFill/>
        </p:spPr>
        <p:txBody>
          <a:bodyPr wrap="square" anchor="t">
            <a:spAutoFit/>
          </a:bodyPr>
          <a:lstStyle/>
          <a:p>
            <a:pPr algn="l"/>
            <a:r>
              <a:rPr sz="1400" b="0" dirty="0">
                <a:solidFill>
                  <a:srgbClr val="242E3C"/>
                </a:solidFill>
                <a:latin typeface="Aptos"/>
              </a:rPr>
              <a:t>The dataset is behavioral/network data for one month. It does not provide the financial evidence required to value </a:t>
            </a:r>
            <a:r>
              <a:rPr sz="1400" b="0" dirty="0" err="1">
                <a:solidFill>
                  <a:srgbClr val="242E3C"/>
                </a:solidFill>
                <a:latin typeface="Aptos"/>
              </a:rPr>
              <a:t>TellCo</a:t>
            </a:r>
            <a:r>
              <a:rPr sz="1400" b="0" dirty="0">
                <a:solidFill>
                  <a:srgbClr val="242E3C"/>
                </a:solidFill>
                <a:latin typeface="Aptos"/>
              </a:rPr>
              <a:t> independently, so the purchase recommendation should remain conditional on financial and commercial due diligence.</a:t>
            </a:r>
          </a:p>
        </p:txBody>
      </p:sp>
      <p:sp>
        <p:nvSpPr>
          <p:cNvPr id="34" name="TextBox 33"/>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35" name="TextBox 34"/>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p:cNvSpPr txBox="1"/>
          <p:nvPr/>
        </p:nvSpPr>
        <p:spPr>
          <a:xfrm>
            <a:off x="548640" y="320040"/>
            <a:ext cx="5551648" cy="646331"/>
          </a:xfrm>
          <a:prstGeom prst="rect">
            <a:avLst/>
          </a:prstGeom>
          <a:noFill/>
        </p:spPr>
        <p:txBody>
          <a:bodyPr wrap="none">
            <a:spAutoFit/>
          </a:bodyPr>
          <a:lstStyle/>
          <a:p>
            <a:r>
              <a:rPr sz="3600" b="1" dirty="0">
                <a:solidFill>
                  <a:srgbClr val="101C30"/>
                </a:solidFill>
                <a:latin typeface="Aptos Display"/>
              </a:rPr>
              <a:t>Data &amp; Analytical Approach</a:t>
            </a:r>
          </a:p>
        </p:txBody>
      </p:sp>
      <p:sp>
        <p:nvSpPr>
          <p:cNvPr id="4" name="TextBox 3"/>
          <p:cNvSpPr txBox="1"/>
          <p:nvPr/>
        </p:nvSpPr>
        <p:spPr>
          <a:xfrm>
            <a:off x="566928" y="860375"/>
            <a:ext cx="10881360" cy="347472"/>
          </a:xfrm>
          <a:prstGeom prst="rect">
            <a:avLst/>
          </a:prstGeom>
          <a:noFill/>
        </p:spPr>
        <p:txBody>
          <a:bodyPr wrap="none">
            <a:spAutoFit/>
          </a:bodyPr>
          <a:lstStyle/>
          <a:p>
            <a:r>
              <a:rPr sz="1050" dirty="0">
                <a:solidFill>
                  <a:srgbClr val="677486"/>
                </a:solidFill>
                <a:latin typeface="Aptos"/>
              </a:rPr>
              <a:t>From raw </a:t>
            </a:r>
            <a:r>
              <a:rPr sz="1050" dirty="0" err="1">
                <a:solidFill>
                  <a:srgbClr val="677486"/>
                </a:solidFill>
                <a:latin typeface="Aptos"/>
              </a:rPr>
              <a:t>xDR</a:t>
            </a:r>
            <a:r>
              <a:rPr sz="1050" dirty="0">
                <a:solidFill>
                  <a:srgbClr val="677486"/>
                </a:solidFill>
                <a:latin typeface="Aptos"/>
              </a:rPr>
              <a:t> sessions to customer-level decision insights</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417320"/>
            <a:ext cx="1188720" cy="310896"/>
          </a:xfrm>
          <a:prstGeom prst="round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449324"/>
            <a:ext cx="1188720" cy="219456"/>
          </a:xfrm>
          <a:prstGeom prst="rect">
            <a:avLst/>
          </a:prstGeom>
          <a:noFill/>
        </p:spPr>
        <p:txBody>
          <a:bodyPr wrap="square" anchor="t">
            <a:spAutoFit/>
          </a:bodyPr>
          <a:lstStyle/>
          <a:p>
            <a:pPr algn="ctr"/>
            <a:r>
              <a:rPr sz="850" b="1">
                <a:solidFill>
                  <a:srgbClr val="FFFFFF"/>
                </a:solidFill>
                <a:latin typeface="Aptos"/>
              </a:rPr>
              <a:t>SOURCE</a:t>
            </a:r>
          </a:p>
        </p:txBody>
      </p:sp>
      <p:sp>
        <p:nvSpPr>
          <p:cNvPr id="8" name="TextBox 7"/>
          <p:cNvSpPr txBox="1"/>
          <p:nvPr/>
        </p:nvSpPr>
        <p:spPr>
          <a:xfrm>
            <a:off x="640080" y="1828800"/>
            <a:ext cx="8277778" cy="400110"/>
          </a:xfrm>
          <a:prstGeom prst="rect">
            <a:avLst/>
          </a:prstGeom>
          <a:noFill/>
        </p:spPr>
        <p:txBody>
          <a:bodyPr wrap="square" anchor="t">
            <a:spAutoFit/>
          </a:bodyPr>
          <a:lstStyle/>
          <a:p>
            <a:pPr algn="l"/>
            <a:r>
              <a:rPr sz="2000" b="1" dirty="0">
                <a:solidFill>
                  <a:srgbClr val="101C30"/>
                </a:solidFill>
                <a:latin typeface="Aptos"/>
              </a:rPr>
              <a:t>150,001 </a:t>
            </a:r>
            <a:r>
              <a:rPr sz="2000" b="1" dirty="0" err="1">
                <a:solidFill>
                  <a:srgbClr val="101C30"/>
                </a:solidFill>
                <a:latin typeface="Aptos"/>
              </a:rPr>
              <a:t>xDR</a:t>
            </a:r>
            <a:r>
              <a:rPr sz="2000" b="1" dirty="0">
                <a:solidFill>
                  <a:srgbClr val="101C30"/>
                </a:solidFill>
                <a:latin typeface="Aptos"/>
              </a:rPr>
              <a:t> records • 55 source features • one-month snapshot</a:t>
            </a:r>
          </a:p>
        </p:txBody>
      </p:sp>
      <p:sp>
        <p:nvSpPr>
          <p:cNvPr id="9" name="TextBox 8"/>
          <p:cNvSpPr txBox="1"/>
          <p:nvPr/>
        </p:nvSpPr>
        <p:spPr>
          <a:xfrm>
            <a:off x="658367" y="2331720"/>
            <a:ext cx="7826871" cy="2387833"/>
          </a:xfrm>
          <a:prstGeom prst="rect">
            <a:avLst/>
          </a:prstGeom>
          <a:noFill/>
        </p:spPr>
        <p:txBody>
          <a:bodyPr wrap="square">
            <a:spAutoFit/>
          </a:bodyPr>
          <a:lstStyle/>
          <a:p>
            <a:pPr>
              <a:spcAft>
                <a:spcPts val="700"/>
              </a:spcAft>
              <a:defRPr sz="1250">
                <a:solidFill>
                  <a:srgbClr val="242E3C"/>
                </a:solidFill>
                <a:latin typeface="Aptos"/>
              </a:defRPr>
            </a:pPr>
            <a:r>
              <a:rPr sz="2000" dirty="0"/>
              <a:t>• Customer aggregation by MSISDN/Number</a:t>
            </a:r>
          </a:p>
          <a:p>
            <a:pPr>
              <a:spcAft>
                <a:spcPts val="700"/>
              </a:spcAft>
              <a:defRPr sz="1250">
                <a:solidFill>
                  <a:srgbClr val="242E3C"/>
                </a:solidFill>
                <a:latin typeface="Aptos"/>
              </a:defRPr>
            </a:pPr>
            <a:r>
              <a:rPr sz="2000" dirty="0"/>
              <a:t>• Missing-value handling and IQR-based outlier treatment</a:t>
            </a:r>
          </a:p>
          <a:p>
            <a:pPr>
              <a:spcAft>
                <a:spcPts val="700"/>
              </a:spcAft>
              <a:defRPr sz="1250">
                <a:solidFill>
                  <a:srgbClr val="242E3C"/>
                </a:solidFill>
                <a:latin typeface="Aptos"/>
              </a:defRPr>
            </a:pPr>
            <a:r>
              <a:rPr sz="2000" dirty="0"/>
              <a:t>• Task 1: overview + application behavior + PCA</a:t>
            </a:r>
          </a:p>
          <a:p>
            <a:pPr>
              <a:spcAft>
                <a:spcPts val="700"/>
              </a:spcAft>
              <a:defRPr sz="1250">
                <a:solidFill>
                  <a:srgbClr val="242E3C"/>
                </a:solidFill>
                <a:latin typeface="Aptos"/>
              </a:defRPr>
            </a:pPr>
            <a:r>
              <a:rPr sz="2000" dirty="0"/>
              <a:t>• Task 2: engagement metrics + K-Means segmentation</a:t>
            </a:r>
          </a:p>
          <a:p>
            <a:pPr>
              <a:spcAft>
                <a:spcPts val="700"/>
              </a:spcAft>
              <a:defRPr sz="1250">
                <a:solidFill>
                  <a:srgbClr val="242E3C"/>
                </a:solidFill>
                <a:latin typeface="Aptos"/>
              </a:defRPr>
            </a:pPr>
            <a:r>
              <a:rPr sz="2000" dirty="0"/>
              <a:t>• Task 3: TCP retransmission + RTT + throughput + K-Means</a:t>
            </a:r>
          </a:p>
          <a:p>
            <a:pPr>
              <a:spcAft>
                <a:spcPts val="700"/>
              </a:spcAft>
              <a:defRPr sz="1250">
                <a:solidFill>
                  <a:srgbClr val="242E3C"/>
                </a:solidFill>
                <a:latin typeface="Aptos"/>
              </a:defRPr>
            </a:pPr>
            <a:r>
              <a:rPr sz="2000" dirty="0"/>
              <a:t>• Task 4: derived scores + satisfaction regression + K-Means + MySQL</a:t>
            </a:r>
          </a:p>
        </p:txBody>
      </p:sp>
      <p:sp>
        <p:nvSpPr>
          <p:cNvPr id="35" name="TextBox 34"/>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36" name="TextBox 35"/>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80060" y="247495"/>
            <a:ext cx="6812280" cy="646331"/>
          </a:xfrm>
          <a:prstGeom prst="rect">
            <a:avLst/>
          </a:prstGeom>
          <a:noFill/>
        </p:spPr>
        <p:txBody>
          <a:bodyPr wrap="square">
            <a:spAutoFit/>
          </a:bodyPr>
          <a:lstStyle/>
          <a:p>
            <a:r>
              <a:rPr sz="3600" b="1" dirty="0">
                <a:solidFill>
                  <a:srgbClr val="101C30"/>
                </a:solidFill>
                <a:latin typeface="Aptos Display"/>
              </a:rPr>
              <a:t>Customer &amp; Device Overview</a:t>
            </a:r>
          </a:p>
        </p:txBody>
      </p:sp>
      <p:sp>
        <p:nvSpPr>
          <p:cNvPr id="4" name="TextBox 3"/>
          <p:cNvSpPr txBox="1"/>
          <p:nvPr/>
        </p:nvSpPr>
        <p:spPr>
          <a:xfrm>
            <a:off x="480060" y="865787"/>
            <a:ext cx="10881360" cy="347472"/>
          </a:xfrm>
          <a:prstGeom prst="rect">
            <a:avLst/>
          </a:prstGeom>
          <a:noFill/>
        </p:spPr>
        <p:txBody>
          <a:bodyPr wrap="none">
            <a:spAutoFit/>
          </a:bodyPr>
          <a:lstStyle/>
          <a:p>
            <a:r>
              <a:rPr sz="1050" dirty="0">
                <a:solidFill>
                  <a:srgbClr val="677486"/>
                </a:solidFill>
                <a:latin typeface="Aptos"/>
              </a:rPr>
              <a:t>Handset concentration creates clear marketing and compatibility priorities</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594360" y="1417320"/>
          <a:ext cx="6537960" cy="4389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noGrp="1"/>
          </p:cNvGraphicFramePr>
          <p:nvPr/>
        </p:nvGraphicFramePr>
        <p:xfrm>
          <a:off x="7360920" y="1417320"/>
          <a:ext cx="425196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7360920" y="4069080"/>
            <a:ext cx="4251960" cy="16916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60920" y="4069080"/>
            <a:ext cx="73152" cy="169164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43800" y="4206240"/>
            <a:ext cx="3977640" cy="338554"/>
          </a:xfrm>
          <a:prstGeom prst="rect">
            <a:avLst/>
          </a:prstGeom>
          <a:noFill/>
        </p:spPr>
        <p:txBody>
          <a:bodyPr wrap="square" anchor="t">
            <a:spAutoFit/>
          </a:bodyPr>
          <a:lstStyle/>
          <a:p>
            <a:pPr algn="l"/>
            <a:r>
              <a:rPr sz="1600" b="1" dirty="0">
                <a:solidFill>
                  <a:srgbClr val="101C30"/>
                </a:solidFill>
                <a:latin typeface="Aptos"/>
              </a:rPr>
              <a:t>What stands out</a:t>
            </a:r>
          </a:p>
        </p:txBody>
      </p:sp>
      <p:sp>
        <p:nvSpPr>
          <p:cNvPr id="11" name="TextBox 10"/>
          <p:cNvSpPr txBox="1"/>
          <p:nvPr/>
        </p:nvSpPr>
        <p:spPr>
          <a:xfrm>
            <a:off x="7543800" y="4553712"/>
            <a:ext cx="3931920" cy="1169551"/>
          </a:xfrm>
          <a:prstGeom prst="rect">
            <a:avLst/>
          </a:prstGeom>
          <a:noFill/>
        </p:spPr>
        <p:txBody>
          <a:bodyPr wrap="square" anchor="t">
            <a:spAutoFit/>
          </a:bodyPr>
          <a:lstStyle/>
          <a:p>
            <a:pPr algn="l"/>
            <a:r>
              <a:rPr sz="1400" b="0" dirty="0">
                <a:solidFill>
                  <a:srgbClr val="242E3C"/>
                </a:solidFill>
                <a:latin typeface="Aptos"/>
              </a:rPr>
              <a:t>Huawei B528S-23A is the most observed handset (19,752 records). Apple leads the top-three manufacturer group with 59,565 observations, followed by Samsung (40,839) and Huawei (34,423).</a:t>
            </a:r>
          </a:p>
        </p:txBody>
      </p:sp>
      <p:sp>
        <p:nvSpPr>
          <p:cNvPr id="12" name="TextBox 11"/>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13" name="TextBox 12"/>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80060" y="221510"/>
            <a:ext cx="4829605" cy="646331"/>
          </a:xfrm>
          <a:prstGeom prst="rect">
            <a:avLst/>
          </a:prstGeom>
          <a:noFill/>
        </p:spPr>
        <p:txBody>
          <a:bodyPr wrap="square">
            <a:spAutoFit/>
          </a:bodyPr>
          <a:lstStyle/>
          <a:p>
            <a:r>
              <a:rPr sz="3600" b="1" dirty="0">
                <a:solidFill>
                  <a:srgbClr val="101C30"/>
                </a:solidFill>
                <a:latin typeface="Aptos Display"/>
              </a:rPr>
              <a:t>Application Usage</a:t>
            </a:r>
          </a:p>
        </p:txBody>
      </p:sp>
      <p:sp>
        <p:nvSpPr>
          <p:cNvPr id="4" name="TextBox 3"/>
          <p:cNvSpPr txBox="1"/>
          <p:nvPr/>
        </p:nvSpPr>
        <p:spPr>
          <a:xfrm>
            <a:off x="480060" y="858697"/>
            <a:ext cx="10881360" cy="347472"/>
          </a:xfrm>
          <a:prstGeom prst="rect">
            <a:avLst/>
          </a:prstGeom>
          <a:noFill/>
        </p:spPr>
        <p:txBody>
          <a:bodyPr wrap="none">
            <a:spAutoFit/>
          </a:bodyPr>
          <a:lstStyle/>
          <a:p>
            <a:r>
              <a:rPr sz="1050" dirty="0">
                <a:solidFill>
                  <a:srgbClr val="677486"/>
                </a:solidFill>
                <a:latin typeface="Aptos"/>
              </a:rPr>
              <a:t>Gaming and 'Other' dominate customer-level application traffic</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594360" y="1417320"/>
          <a:ext cx="6400800" cy="4434840"/>
        </p:xfrm>
        <a:graphic>
          <a:graphicData uri="http://schemas.openxmlformats.org/drawingml/2006/chart">
            <c:chart xmlns:c="http://schemas.openxmlformats.org/drawingml/2006/chart" xmlns:r="http://schemas.openxmlformats.org/officeDocument/2006/relationships" r:id="rId2"/>
          </a:graphicData>
        </a:graphic>
      </p:graphicFrame>
      <p:sp>
        <p:nvSpPr>
          <p:cNvPr id="7" name="Rounded Rectangle 6"/>
          <p:cNvSpPr/>
          <p:nvPr/>
        </p:nvSpPr>
        <p:spPr>
          <a:xfrm>
            <a:off x="7315200" y="1508760"/>
            <a:ext cx="196596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0" y="1508760"/>
            <a:ext cx="64008" cy="123444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16368" y="1664207"/>
            <a:ext cx="1645919" cy="274320"/>
          </a:xfrm>
          <a:prstGeom prst="rect">
            <a:avLst/>
          </a:prstGeom>
          <a:noFill/>
        </p:spPr>
        <p:txBody>
          <a:bodyPr wrap="square" anchor="t">
            <a:spAutoFit/>
          </a:bodyPr>
          <a:lstStyle/>
          <a:p>
            <a:pPr algn="l"/>
            <a:r>
              <a:rPr sz="1050" b="1">
                <a:solidFill>
                  <a:srgbClr val="677486"/>
                </a:solidFill>
                <a:latin typeface="Aptos"/>
              </a:rPr>
              <a:t>GAMING</a:t>
            </a:r>
          </a:p>
        </p:txBody>
      </p:sp>
      <p:sp>
        <p:nvSpPr>
          <p:cNvPr id="10" name="TextBox 9"/>
          <p:cNvSpPr txBox="1"/>
          <p:nvPr/>
        </p:nvSpPr>
        <p:spPr>
          <a:xfrm>
            <a:off x="7516368" y="1984248"/>
            <a:ext cx="1645919" cy="369332"/>
          </a:xfrm>
          <a:prstGeom prst="rect">
            <a:avLst/>
          </a:prstGeom>
          <a:noFill/>
        </p:spPr>
        <p:txBody>
          <a:bodyPr wrap="square" anchor="t">
            <a:spAutoFit/>
          </a:bodyPr>
          <a:lstStyle/>
          <a:p>
            <a:pPr algn="l"/>
            <a:r>
              <a:rPr b="1" dirty="0">
                <a:solidFill>
                  <a:srgbClr val="101C30"/>
                </a:solidFill>
                <a:latin typeface="Aptos Display"/>
              </a:rPr>
              <a:t>60,116.84 GB</a:t>
            </a:r>
          </a:p>
        </p:txBody>
      </p:sp>
      <p:sp>
        <p:nvSpPr>
          <p:cNvPr id="11" name="TextBox 10"/>
          <p:cNvSpPr txBox="1"/>
          <p:nvPr/>
        </p:nvSpPr>
        <p:spPr>
          <a:xfrm>
            <a:off x="7516368" y="2325488"/>
            <a:ext cx="1645919" cy="461665"/>
          </a:xfrm>
          <a:prstGeom prst="rect">
            <a:avLst/>
          </a:prstGeom>
          <a:noFill/>
        </p:spPr>
        <p:txBody>
          <a:bodyPr wrap="square" anchor="t">
            <a:spAutoFit/>
          </a:bodyPr>
          <a:lstStyle/>
          <a:p>
            <a:pPr algn="l"/>
            <a:r>
              <a:rPr sz="1200" b="0" dirty="0">
                <a:solidFill>
                  <a:srgbClr val="677486"/>
                </a:solidFill>
                <a:latin typeface="Aptos"/>
              </a:rPr>
              <a:t>largest application category</a:t>
            </a:r>
          </a:p>
        </p:txBody>
      </p:sp>
      <p:sp>
        <p:nvSpPr>
          <p:cNvPr id="12" name="Rounded Rectangle 11"/>
          <p:cNvSpPr/>
          <p:nvPr/>
        </p:nvSpPr>
        <p:spPr>
          <a:xfrm>
            <a:off x="9464040" y="1508760"/>
            <a:ext cx="196596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464040" y="1508760"/>
            <a:ext cx="64008" cy="123444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65208" y="1664207"/>
            <a:ext cx="1645919" cy="274320"/>
          </a:xfrm>
          <a:prstGeom prst="rect">
            <a:avLst/>
          </a:prstGeom>
          <a:noFill/>
        </p:spPr>
        <p:txBody>
          <a:bodyPr wrap="square" anchor="t">
            <a:spAutoFit/>
          </a:bodyPr>
          <a:lstStyle/>
          <a:p>
            <a:pPr algn="l"/>
            <a:r>
              <a:rPr sz="1050" b="1">
                <a:solidFill>
                  <a:srgbClr val="677486"/>
                </a:solidFill>
                <a:latin typeface="Aptos"/>
              </a:rPr>
              <a:t>OTHER</a:t>
            </a:r>
          </a:p>
        </p:txBody>
      </p:sp>
      <p:sp>
        <p:nvSpPr>
          <p:cNvPr id="15" name="TextBox 14"/>
          <p:cNvSpPr txBox="1"/>
          <p:nvPr/>
        </p:nvSpPr>
        <p:spPr>
          <a:xfrm>
            <a:off x="9665208" y="1984248"/>
            <a:ext cx="1645919" cy="369332"/>
          </a:xfrm>
          <a:prstGeom prst="rect">
            <a:avLst/>
          </a:prstGeom>
          <a:noFill/>
        </p:spPr>
        <p:txBody>
          <a:bodyPr wrap="square" anchor="t">
            <a:spAutoFit/>
          </a:bodyPr>
          <a:lstStyle/>
          <a:p>
            <a:pPr algn="l"/>
            <a:r>
              <a:rPr b="1" dirty="0">
                <a:solidFill>
                  <a:srgbClr val="101C30"/>
                </a:solidFill>
                <a:latin typeface="Aptos Display"/>
              </a:rPr>
              <a:t>59,981.65 GB</a:t>
            </a:r>
          </a:p>
        </p:txBody>
      </p:sp>
      <p:sp>
        <p:nvSpPr>
          <p:cNvPr id="16" name="TextBox 15"/>
          <p:cNvSpPr txBox="1"/>
          <p:nvPr/>
        </p:nvSpPr>
        <p:spPr>
          <a:xfrm>
            <a:off x="9683495" y="2281535"/>
            <a:ext cx="1645919" cy="461665"/>
          </a:xfrm>
          <a:prstGeom prst="rect">
            <a:avLst/>
          </a:prstGeom>
          <a:noFill/>
        </p:spPr>
        <p:txBody>
          <a:bodyPr wrap="square" anchor="t">
            <a:spAutoFit/>
          </a:bodyPr>
          <a:lstStyle/>
          <a:p>
            <a:pPr algn="l"/>
            <a:r>
              <a:rPr sz="1200" b="0" dirty="0">
                <a:solidFill>
                  <a:srgbClr val="677486"/>
                </a:solidFill>
                <a:latin typeface="Aptos"/>
              </a:rPr>
              <a:t>second-largest category</a:t>
            </a:r>
          </a:p>
        </p:txBody>
      </p:sp>
      <p:sp>
        <p:nvSpPr>
          <p:cNvPr id="17" name="Rounded Rectangle 16"/>
          <p:cNvSpPr/>
          <p:nvPr/>
        </p:nvSpPr>
        <p:spPr>
          <a:xfrm>
            <a:off x="7315200" y="2971800"/>
            <a:ext cx="196596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0" y="2971800"/>
            <a:ext cx="64008" cy="1234440"/>
          </a:xfrm>
          <a:prstGeom prst="rect">
            <a:avLst/>
          </a:prstGeom>
          <a:solidFill>
            <a:srgbClr val="46B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16368" y="3127248"/>
            <a:ext cx="1645919" cy="274320"/>
          </a:xfrm>
          <a:prstGeom prst="rect">
            <a:avLst/>
          </a:prstGeom>
          <a:noFill/>
        </p:spPr>
        <p:txBody>
          <a:bodyPr wrap="square" anchor="t">
            <a:spAutoFit/>
          </a:bodyPr>
          <a:lstStyle/>
          <a:p>
            <a:pPr algn="l"/>
            <a:r>
              <a:rPr sz="1050" b="1">
                <a:solidFill>
                  <a:srgbClr val="677486"/>
                </a:solidFill>
                <a:latin typeface="Aptos"/>
              </a:rPr>
              <a:t>YOUTUBE</a:t>
            </a:r>
          </a:p>
        </p:txBody>
      </p:sp>
      <p:sp>
        <p:nvSpPr>
          <p:cNvPr id="20" name="TextBox 19"/>
          <p:cNvSpPr txBox="1"/>
          <p:nvPr/>
        </p:nvSpPr>
        <p:spPr>
          <a:xfrm>
            <a:off x="7516368" y="3345573"/>
            <a:ext cx="1645919" cy="400110"/>
          </a:xfrm>
          <a:prstGeom prst="rect">
            <a:avLst/>
          </a:prstGeom>
          <a:noFill/>
        </p:spPr>
        <p:txBody>
          <a:bodyPr wrap="square" anchor="t">
            <a:spAutoFit/>
          </a:bodyPr>
          <a:lstStyle/>
          <a:p>
            <a:pPr algn="l"/>
            <a:r>
              <a:rPr sz="2000" b="1" dirty="0">
                <a:solidFill>
                  <a:srgbClr val="101C30"/>
                </a:solidFill>
                <a:latin typeface="Aptos Display"/>
              </a:rPr>
              <a:t>3,163.26 GB</a:t>
            </a:r>
          </a:p>
        </p:txBody>
      </p:sp>
      <p:sp>
        <p:nvSpPr>
          <p:cNvPr id="21" name="TextBox 20"/>
          <p:cNvSpPr txBox="1"/>
          <p:nvPr/>
        </p:nvSpPr>
        <p:spPr>
          <a:xfrm>
            <a:off x="7475220" y="3802759"/>
            <a:ext cx="1645919" cy="276999"/>
          </a:xfrm>
          <a:prstGeom prst="rect">
            <a:avLst/>
          </a:prstGeom>
          <a:noFill/>
        </p:spPr>
        <p:txBody>
          <a:bodyPr wrap="square" anchor="t">
            <a:spAutoFit/>
          </a:bodyPr>
          <a:lstStyle/>
          <a:p>
            <a:pPr algn="l"/>
            <a:r>
              <a:rPr sz="1200" b="0" dirty="0">
                <a:solidFill>
                  <a:srgbClr val="677486"/>
                </a:solidFill>
                <a:latin typeface="Aptos"/>
              </a:rPr>
              <a:t>third-largest category</a:t>
            </a:r>
          </a:p>
        </p:txBody>
      </p:sp>
      <p:sp>
        <p:nvSpPr>
          <p:cNvPr id="22" name="Rounded Rectangle 21"/>
          <p:cNvSpPr/>
          <p:nvPr/>
        </p:nvSpPr>
        <p:spPr>
          <a:xfrm>
            <a:off x="9464040" y="2971799"/>
            <a:ext cx="1965960" cy="2221993"/>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64039" y="2971800"/>
            <a:ext cx="82295" cy="2221992"/>
          </a:xfrm>
          <a:prstGeom prst="rect">
            <a:avLst/>
          </a:prstGeom>
          <a:solidFill>
            <a:srgbClr val="EBB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37775" y="2982107"/>
            <a:ext cx="1691639" cy="274320"/>
          </a:xfrm>
          <a:prstGeom prst="rect">
            <a:avLst/>
          </a:prstGeom>
          <a:noFill/>
        </p:spPr>
        <p:txBody>
          <a:bodyPr wrap="square" anchor="t">
            <a:spAutoFit/>
          </a:bodyPr>
          <a:lstStyle/>
          <a:p>
            <a:pPr algn="l"/>
            <a:r>
              <a:rPr sz="1200" b="1" dirty="0">
                <a:solidFill>
                  <a:srgbClr val="101C30"/>
                </a:solidFill>
                <a:latin typeface="Aptos"/>
              </a:rPr>
              <a:t>Analytical signal</a:t>
            </a:r>
          </a:p>
        </p:txBody>
      </p:sp>
      <p:sp>
        <p:nvSpPr>
          <p:cNvPr id="25" name="TextBox 24"/>
          <p:cNvSpPr txBox="1"/>
          <p:nvPr/>
        </p:nvSpPr>
        <p:spPr>
          <a:xfrm>
            <a:off x="9665208" y="3143724"/>
            <a:ext cx="1645919" cy="1371600"/>
          </a:xfrm>
          <a:prstGeom prst="rect">
            <a:avLst/>
          </a:prstGeom>
          <a:noFill/>
        </p:spPr>
        <p:txBody>
          <a:bodyPr wrap="square" anchor="t">
            <a:spAutoFit/>
          </a:bodyPr>
          <a:lstStyle/>
          <a:p>
            <a:pPr algn="l"/>
            <a:r>
              <a:rPr sz="1050" b="0" dirty="0">
                <a:solidFill>
                  <a:srgbClr val="242E3C"/>
                </a:solidFill>
                <a:latin typeface="Aptos"/>
              </a:rPr>
              <a:t>Application traffic is highly correlated with total traffic (approximately 0.966–1.000 across the seven application variables). PCA also shows PC1 explaining about 97.5% of application-usage variance, indicating a strong common usage factor.</a:t>
            </a:r>
          </a:p>
        </p:txBody>
      </p:sp>
      <p:sp>
        <p:nvSpPr>
          <p:cNvPr id="26" name="TextBox 25"/>
          <p:cNvSpPr txBox="1"/>
          <p:nvPr/>
        </p:nvSpPr>
        <p:spPr>
          <a:xfrm>
            <a:off x="7104887" y="5897880"/>
            <a:ext cx="4114800" cy="960120"/>
          </a:xfrm>
          <a:prstGeom prst="rect">
            <a:avLst/>
          </a:prstGeom>
          <a:noFill/>
        </p:spPr>
        <p:txBody>
          <a:bodyPr wrap="square" anchor="t">
            <a:spAutoFit/>
          </a:bodyPr>
          <a:lstStyle/>
          <a:p>
            <a:pPr algn="l"/>
            <a:r>
              <a:rPr sz="1400" b="1" dirty="0">
                <a:solidFill>
                  <a:srgbClr val="242E3C"/>
                </a:solidFill>
                <a:latin typeface="Aptos"/>
              </a:rPr>
              <a:t>Interpretation: </a:t>
            </a:r>
            <a:r>
              <a:rPr lang="en-US" sz="1400" dirty="0">
                <a:solidFill>
                  <a:srgbClr val="242E3C"/>
                </a:solidFill>
                <a:latin typeface="Aptos"/>
              </a:rPr>
              <a:t>R</a:t>
            </a:r>
            <a:r>
              <a:rPr sz="1400" b="0" dirty="0">
                <a:solidFill>
                  <a:srgbClr val="242E3C"/>
                </a:solidFill>
                <a:latin typeface="Aptos"/>
              </a:rPr>
              <a:t>esource planning should focus on the services that generate the largest share of data demand, while monitoring whether 'Other' traffic contains additional high-value use cases</a:t>
            </a:r>
            <a:r>
              <a:rPr sz="1050" b="0" dirty="0">
                <a:solidFill>
                  <a:srgbClr val="242E3C"/>
                </a:solidFill>
                <a:latin typeface="Aptos"/>
              </a:rPr>
              <a:t>.</a:t>
            </a:r>
          </a:p>
        </p:txBody>
      </p:sp>
      <p:sp>
        <p:nvSpPr>
          <p:cNvPr id="27" name="TextBox 26"/>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28" name="TextBox 27"/>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80060" y="176629"/>
            <a:ext cx="6982870" cy="646331"/>
          </a:xfrm>
          <a:prstGeom prst="rect">
            <a:avLst/>
          </a:prstGeom>
          <a:noFill/>
        </p:spPr>
        <p:txBody>
          <a:bodyPr wrap="square">
            <a:spAutoFit/>
          </a:bodyPr>
          <a:lstStyle/>
          <a:p>
            <a:r>
              <a:rPr sz="3600" b="1" dirty="0">
                <a:solidFill>
                  <a:srgbClr val="101C30"/>
                </a:solidFill>
                <a:latin typeface="Aptos Display"/>
              </a:rPr>
              <a:t>EDA &amp; Behavioral Patterns</a:t>
            </a:r>
          </a:p>
        </p:txBody>
      </p:sp>
      <p:sp>
        <p:nvSpPr>
          <p:cNvPr id="4" name="TextBox 3"/>
          <p:cNvSpPr txBox="1"/>
          <p:nvPr/>
        </p:nvSpPr>
        <p:spPr>
          <a:xfrm>
            <a:off x="480060" y="850392"/>
            <a:ext cx="10881360" cy="347472"/>
          </a:xfrm>
          <a:prstGeom prst="rect">
            <a:avLst/>
          </a:prstGeom>
          <a:noFill/>
        </p:spPr>
        <p:txBody>
          <a:bodyPr wrap="none">
            <a:spAutoFit/>
          </a:bodyPr>
          <a:lstStyle/>
          <a:p>
            <a:r>
              <a:rPr sz="1050">
                <a:solidFill>
                  <a:srgbClr val="677486"/>
                </a:solidFill>
                <a:latin typeface="Aptos"/>
              </a:rPr>
              <a:t>Usage distributions are highly skewed and become more traffic-intensive at longer durations</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417320"/>
            <a:ext cx="2468880" cy="114300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417320"/>
            <a:ext cx="64008" cy="114300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572768"/>
            <a:ext cx="2148840" cy="274320"/>
          </a:xfrm>
          <a:prstGeom prst="rect">
            <a:avLst/>
          </a:prstGeom>
          <a:noFill/>
        </p:spPr>
        <p:txBody>
          <a:bodyPr wrap="square" anchor="t">
            <a:spAutoFit/>
          </a:bodyPr>
          <a:lstStyle/>
          <a:p>
            <a:pPr algn="l"/>
            <a:r>
              <a:rPr sz="1050" b="1">
                <a:solidFill>
                  <a:srgbClr val="677486"/>
                </a:solidFill>
                <a:latin typeface="Aptos"/>
              </a:rPr>
              <a:t>AVG SESSIONS / CUSTOMER</a:t>
            </a:r>
          </a:p>
        </p:txBody>
      </p:sp>
      <p:sp>
        <p:nvSpPr>
          <p:cNvPr id="9" name="TextBox 8"/>
          <p:cNvSpPr txBox="1"/>
          <p:nvPr/>
        </p:nvSpPr>
        <p:spPr>
          <a:xfrm>
            <a:off x="841247" y="1892808"/>
            <a:ext cx="2148840" cy="502920"/>
          </a:xfrm>
          <a:prstGeom prst="rect">
            <a:avLst/>
          </a:prstGeom>
          <a:noFill/>
        </p:spPr>
        <p:txBody>
          <a:bodyPr wrap="square" anchor="t">
            <a:spAutoFit/>
          </a:bodyPr>
          <a:lstStyle/>
          <a:p>
            <a:pPr algn="l"/>
            <a:r>
              <a:rPr sz="2300" b="1">
                <a:solidFill>
                  <a:srgbClr val="101C30"/>
                </a:solidFill>
                <a:latin typeface="Aptos Display"/>
              </a:rPr>
              <a:t>1.40</a:t>
            </a:r>
          </a:p>
        </p:txBody>
      </p:sp>
      <p:sp>
        <p:nvSpPr>
          <p:cNvPr id="10" name="TextBox 9"/>
          <p:cNvSpPr txBox="1"/>
          <p:nvPr/>
        </p:nvSpPr>
        <p:spPr>
          <a:xfrm>
            <a:off x="886968" y="2249423"/>
            <a:ext cx="2148840" cy="384048"/>
          </a:xfrm>
          <a:prstGeom prst="rect">
            <a:avLst/>
          </a:prstGeom>
          <a:noFill/>
        </p:spPr>
        <p:txBody>
          <a:bodyPr wrap="square" anchor="t">
            <a:spAutoFit/>
          </a:bodyPr>
          <a:lstStyle/>
          <a:p>
            <a:pPr algn="l"/>
            <a:r>
              <a:rPr sz="950" b="0" dirty="0">
                <a:solidFill>
                  <a:srgbClr val="677486"/>
                </a:solidFill>
                <a:latin typeface="Aptos"/>
              </a:rPr>
              <a:t>median = 1</a:t>
            </a:r>
          </a:p>
        </p:txBody>
      </p:sp>
      <p:sp>
        <p:nvSpPr>
          <p:cNvPr id="11" name="Rounded Rectangle 10"/>
          <p:cNvSpPr/>
          <p:nvPr/>
        </p:nvSpPr>
        <p:spPr>
          <a:xfrm>
            <a:off x="3291840" y="1417320"/>
            <a:ext cx="2468880" cy="114300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91840" y="1417320"/>
            <a:ext cx="64008" cy="114300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93008" y="1572768"/>
            <a:ext cx="2148840" cy="274320"/>
          </a:xfrm>
          <a:prstGeom prst="rect">
            <a:avLst/>
          </a:prstGeom>
          <a:noFill/>
        </p:spPr>
        <p:txBody>
          <a:bodyPr wrap="square" anchor="t">
            <a:spAutoFit/>
          </a:bodyPr>
          <a:lstStyle/>
          <a:p>
            <a:pPr algn="l"/>
            <a:r>
              <a:rPr sz="1050" b="1">
                <a:solidFill>
                  <a:srgbClr val="677486"/>
                </a:solidFill>
                <a:latin typeface="Aptos"/>
              </a:rPr>
              <a:t>AVG TRAFFIC / CUSTOMER</a:t>
            </a:r>
          </a:p>
        </p:txBody>
      </p:sp>
      <p:sp>
        <p:nvSpPr>
          <p:cNvPr id="14" name="TextBox 13"/>
          <p:cNvSpPr txBox="1"/>
          <p:nvPr/>
        </p:nvSpPr>
        <p:spPr>
          <a:xfrm>
            <a:off x="3493008" y="1892808"/>
            <a:ext cx="2148840" cy="502920"/>
          </a:xfrm>
          <a:prstGeom prst="rect">
            <a:avLst/>
          </a:prstGeom>
          <a:noFill/>
        </p:spPr>
        <p:txBody>
          <a:bodyPr wrap="square" anchor="t">
            <a:spAutoFit/>
          </a:bodyPr>
          <a:lstStyle/>
          <a:p>
            <a:pPr algn="l"/>
            <a:r>
              <a:rPr sz="2300" b="1">
                <a:solidFill>
                  <a:srgbClr val="101C30"/>
                </a:solidFill>
                <a:latin typeface="Aptos Display"/>
              </a:rPr>
              <a:t>0.648 GB</a:t>
            </a:r>
          </a:p>
        </p:txBody>
      </p:sp>
      <p:sp>
        <p:nvSpPr>
          <p:cNvPr id="15" name="TextBox 14"/>
          <p:cNvSpPr txBox="1"/>
          <p:nvPr/>
        </p:nvSpPr>
        <p:spPr>
          <a:xfrm>
            <a:off x="3493008" y="2263877"/>
            <a:ext cx="2148840" cy="384048"/>
          </a:xfrm>
          <a:prstGeom prst="rect">
            <a:avLst/>
          </a:prstGeom>
          <a:noFill/>
        </p:spPr>
        <p:txBody>
          <a:bodyPr wrap="square" anchor="t">
            <a:spAutoFit/>
          </a:bodyPr>
          <a:lstStyle/>
          <a:p>
            <a:pPr algn="l"/>
            <a:r>
              <a:rPr sz="950" b="0" dirty="0">
                <a:solidFill>
                  <a:srgbClr val="677486"/>
                </a:solidFill>
                <a:latin typeface="Aptos"/>
              </a:rPr>
              <a:t>median = 0.575 GB</a:t>
            </a:r>
          </a:p>
        </p:txBody>
      </p:sp>
      <p:sp>
        <p:nvSpPr>
          <p:cNvPr id="16" name="Rounded Rectangle 15"/>
          <p:cNvSpPr/>
          <p:nvPr/>
        </p:nvSpPr>
        <p:spPr>
          <a:xfrm>
            <a:off x="5943600" y="1417320"/>
            <a:ext cx="2468880" cy="114300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0" y="1417320"/>
            <a:ext cx="64008" cy="1143000"/>
          </a:xfrm>
          <a:prstGeom prst="rect">
            <a:avLst/>
          </a:prstGeom>
          <a:solidFill>
            <a:srgbClr val="46B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44768" y="1572768"/>
            <a:ext cx="2148840" cy="274320"/>
          </a:xfrm>
          <a:prstGeom prst="rect">
            <a:avLst/>
          </a:prstGeom>
          <a:noFill/>
        </p:spPr>
        <p:txBody>
          <a:bodyPr wrap="square" anchor="t">
            <a:spAutoFit/>
          </a:bodyPr>
          <a:lstStyle/>
          <a:p>
            <a:pPr algn="l"/>
            <a:r>
              <a:rPr sz="1050" b="1">
                <a:solidFill>
                  <a:srgbClr val="677486"/>
                </a:solidFill>
                <a:latin typeface="Aptos"/>
              </a:rPr>
              <a:t>AVG SESSION DURATION</a:t>
            </a:r>
          </a:p>
        </p:txBody>
      </p:sp>
      <p:sp>
        <p:nvSpPr>
          <p:cNvPr id="19" name="TextBox 18"/>
          <p:cNvSpPr txBox="1"/>
          <p:nvPr/>
        </p:nvSpPr>
        <p:spPr>
          <a:xfrm>
            <a:off x="6144768" y="1892808"/>
            <a:ext cx="2148840" cy="502920"/>
          </a:xfrm>
          <a:prstGeom prst="rect">
            <a:avLst/>
          </a:prstGeom>
          <a:noFill/>
        </p:spPr>
        <p:txBody>
          <a:bodyPr wrap="square" anchor="t">
            <a:spAutoFit/>
          </a:bodyPr>
          <a:lstStyle/>
          <a:p>
            <a:pPr algn="l"/>
            <a:r>
              <a:rPr sz="2300" b="1">
                <a:solidFill>
                  <a:srgbClr val="101C30"/>
                </a:solidFill>
                <a:latin typeface="Aptos Display"/>
              </a:rPr>
              <a:t>0.0408 hr</a:t>
            </a:r>
          </a:p>
        </p:txBody>
      </p:sp>
      <p:sp>
        <p:nvSpPr>
          <p:cNvPr id="20" name="TextBox 19"/>
          <p:cNvSpPr txBox="1"/>
          <p:nvPr/>
        </p:nvSpPr>
        <p:spPr>
          <a:xfrm>
            <a:off x="6184394" y="2258568"/>
            <a:ext cx="2148840" cy="384048"/>
          </a:xfrm>
          <a:prstGeom prst="rect">
            <a:avLst/>
          </a:prstGeom>
          <a:noFill/>
        </p:spPr>
        <p:txBody>
          <a:bodyPr wrap="square" anchor="t">
            <a:spAutoFit/>
          </a:bodyPr>
          <a:lstStyle/>
          <a:p>
            <a:pPr algn="l"/>
            <a:r>
              <a:rPr sz="950" b="0" dirty="0">
                <a:solidFill>
                  <a:srgbClr val="677486"/>
                </a:solidFill>
                <a:latin typeface="Aptos"/>
              </a:rPr>
              <a:t>≈ 2.45 minutes</a:t>
            </a:r>
          </a:p>
        </p:txBody>
      </p:sp>
      <p:sp>
        <p:nvSpPr>
          <p:cNvPr id="21" name="Rounded Rectangle 20"/>
          <p:cNvSpPr/>
          <p:nvPr/>
        </p:nvSpPr>
        <p:spPr>
          <a:xfrm>
            <a:off x="8595360" y="1417320"/>
            <a:ext cx="2468880" cy="114300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595360" y="1417320"/>
            <a:ext cx="64008" cy="1143000"/>
          </a:xfrm>
          <a:prstGeom prst="rect">
            <a:avLst/>
          </a:prstGeom>
          <a:solidFill>
            <a:srgbClr val="EBB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796528" y="1572768"/>
            <a:ext cx="2148840" cy="274320"/>
          </a:xfrm>
          <a:prstGeom prst="rect">
            <a:avLst/>
          </a:prstGeom>
          <a:noFill/>
        </p:spPr>
        <p:txBody>
          <a:bodyPr wrap="square" anchor="t">
            <a:spAutoFit/>
          </a:bodyPr>
          <a:lstStyle/>
          <a:p>
            <a:pPr algn="l"/>
            <a:r>
              <a:rPr sz="1050" b="1">
                <a:solidFill>
                  <a:srgbClr val="677486"/>
                </a:solidFill>
                <a:latin typeface="Aptos"/>
              </a:rPr>
              <a:t>PC1 VARIANCE</a:t>
            </a:r>
          </a:p>
        </p:txBody>
      </p:sp>
      <p:sp>
        <p:nvSpPr>
          <p:cNvPr id="24" name="TextBox 23"/>
          <p:cNvSpPr txBox="1"/>
          <p:nvPr/>
        </p:nvSpPr>
        <p:spPr>
          <a:xfrm>
            <a:off x="8796528" y="1892808"/>
            <a:ext cx="2148840" cy="502920"/>
          </a:xfrm>
          <a:prstGeom prst="rect">
            <a:avLst/>
          </a:prstGeom>
          <a:noFill/>
        </p:spPr>
        <p:txBody>
          <a:bodyPr wrap="square" anchor="t">
            <a:spAutoFit/>
          </a:bodyPr>
          <a:lstStyle/>
          <a:p>
            <a:pPr algn="l"/>
            <a:r>
              <a:rPr sz="2300" b="1">
                <a:solidFill>
                  <a:srgbClr val="101C30"/>
                </a:solidFill>
                <a:latin typeface="Aptos Display"/>
              </a:rPr>
              <a:t>≈97.5%</a:t>
            </a:r>
          </a:p>
        </p:txBody>
      </p:sp>
      <p:sp>
        <p:nvSpPr>
          <p:cNvPr id="25" name="TextBox 24"/>
          <p:cNvSpPr txBox="1"/>
          <p:nvPr/>
        </p:nvSpPr>
        <p:spPr>
          <a:xfrm>
            <a:off x="8787384" y="2283984"/>
            <a:ext cx="2148840" cy="384048"/>
          </a:xfrm>
          <a:prstGeom prst="rect">
            <a:avLst/>
          </a:prstGeom>
          <a:noFill/>
        </p:spPr>
        <p:txBody>
          <a:bodyPr wrap="square" anchor="t">
            <a:spAutoFit/>
          </a:bodyPr>
          <a:lstStyle/>
          <a:p>
            <a:pPr algn="l"/>
            <a:r>
              <a:rPr sz="950" b="0" dirty="0">
                <a:solidFill>
                  <a:srgbClr val="677486"/>
                </a:solidFill>
                <a:latin typeface="Aptos"/>
              </a:rPr>
              <a:t>application usage</a:t>
            </a:r>
          </a:p>
        </p:txBody>
      </p:sp>
      <p:sp>
        <p:nvSpPr>
          <p:cNvPr id="26" name="Rounded Rectangle 25"/>
          <p:cNvSpPr/>
          <p:nvPr/>
        </p:nvSpPr>
        <p:spPr>
          <a:xfrm>
            <a:off x="640080" y="2880360"/>
            <a:ext cx="5303520" cy="137160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 y="2880360"/>
            <a:ext cx="73152" cy="137160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59" y="3017520"/>
            <a:ext cx="5029200" cy="338554"/>
          </a:xfrm>
          <a:prstGeom prst="rect">
            <a:avLst/>
          </a:prstGeom>
          <a:noFill/>
        </p:spPr>
        <p:txBody>
          <a:bodyPr wrap="square" anchor="t">
            <a:spAutoFit/>
          </a:bodyPr>
          <a:lstStyle/>
          <a:p>
            <a:pPr algn="l"/>
            <a:r>
              <a:rPr sz="1600" b="1" dirty="0">
                <a:solidFill>
                  <a:srgbClr val="101C30"/>
                </a:solidFill>
                <a:latin typeface="Aptos"/>
              </a:rPr>
              <a:t>Distribution</a:t>
            </a:r>
          </a:p>
        </p:txBody>
      </p:sp>
      <p:sp>
        <p:nvSpPr>
          <p:cNvPr id="29" name="TextBox 28"/>
          <p:cNvSpPr txBox="1"/>
          <p:nvPr/>
        </p:nvSpPr>
        <p:spPr>
          <a:xfrm>
            <a:off x="822959" y="3364991"/>
            <a:ext cx="4983480" cy="646331"/>
          </a:xfrm>
          <a:prstGeom prst="rect">
            <a:avLst/>
          </a:prstGeom>
          <a:noFill/>
        </p:spPr>
        <p:txBody>
          <a:bodyPr wrap="square" anchor="t">
            <a:spAutoFit/>
          </a:bodyPr>
          <a:lstStyle/>
          <a:p>
            <a:pPr algn="l"/>
            <a:r>
              <a:rPr sz="1200" b="0" dirty="0">
                <a:solidFill>
                  <a:srgbClr val="242E3C"/>
                </a:solidFill>
                <a:latin typeface="Aptos"/>
              </a:rPr>
              <a:t>Mean values are generally above medians, indicating right-skewed customer usage. Total traffic, download volume, Gaming and Other show especially large dispersion</a:t>
            </a:r>
            <a:r>
              <a:rPr sz="1050" b="0" dirty="0">
                <a:solidFill>
                  <a:srgbClr val="242E3C"/>
                </a:solidFill>
                <a:latin typeface="Aptos"/>
              </a:rPr>
              <a:t>.</a:t>
            </a:r>
          </a:p>
        </p:txBody>
      </p:sp>
      <p:sp>
        <p:nvSpPr>
          <p:cNvPr id="30" name="Rounded Rectangle 29"/>
          <p:cNvSpPr/>
          <p:nvPr/>
        </p:nvSpPr>
        <p:spPr>
          <a:xfrm>
            <a:off x="6172200" y="2880360"/>
            <a:ext cx="5303520" cy="137160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72200" y="2880360"/>
            <a:ext cx="73152" cy="137160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3017520"/>
            <a:ext cx="5029200" cy="338554"/>
          </a:xfrm>
          <a:prstGeom prst="rect">
            <a:avLst/>
          </a:prstGeom>
          <a:noFill/>
        </p:spPr>
        <p:txBody>
          <a:bodyPr wrap="square" anchor="t">
            <a:spAutoFit/>
          </a:bodyPr>
          <a:lstStyle/>
          <a:p>
            <a:pPr algn="l"/>
            <a:r>
              <a:rPr sz="1600" b="1" dirty="0">
                <a:solidFill>
                  <a:srgbClr val="101C30"/>
                </a:solidFill>
                <a:latin typeface="Aptos"/>
              </a:rPr>
              <a:t>Duration deciles</a:t>
            </a:r>
          </a:p>
        </p:txBody>
      </p:sp>
      <p:sp>
        <p:nvSpPr>
          <p:cNvPr id="33" name="TextBox 32"/>
          <p:cNvSpPr txBox="1"/>
          <p:nvPr/>
        </p:nvSpPr>
        <p:spPr>
          <a:xfrm>
            <a:off x="6355080" y="3364991"/>
            <a:ext cx="4983480" cy="646331"/>
          </a:xfrm>
          <a:prstGeom prst="rect">
            <a:avLst/>
          </a:prstGeom>
          <a:noFill/>
        </p:spPr>
        <p:txBody>
          <a:bodyPr wrap="square" anchor="t">
            <a:spAutoFit/>
          </a:bodyPr>
          <a:lstStyle/>
          <a:p>
            <a:pPr algn="l"/>
            <a:r>
              <a:rPr sz="1200" b="0" dirty="0">
                <a:solidFill>
                  <a:srgbClr val="242E3C"/>
                </a:solidFill>
                <a:latin typeface="Aptos"/>
              </a:rPr>
              <a:t>Traffic rises materially in the highest duration deciles. Decile 10 accounts for about 14,337 GB of total traffic versus about 5,984 GB in decile 6, showing a strong link between longer usage and traffic demand.</a:t>
            </a:r>
          </a:p>
        </p:txBody>
      </p:sp>
      <p:sp>
        <p:nvSpPr>
          <p:cNvPr id="34" name="Rounded Rectangle 33"/>
          <p:cNvSpPr/>
          <p:nvPr/>
        </p:nvSpPr>
        <p:spPr>
          <a:xfrm>
            <a:off x="640080" y="4526280"/>
            <a:ext cx="10835640" cy="114300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40080" y="4526280"/>
            <a:ext cx="73152" cy="1143000"/>
          </a:xfrm>
          <a:prstGeom prst="rect">
            <a:avLst/>
          </a:prstGeom>
          <a:solidFill>
            <a:srgbClr val="36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59" y="4663440"/>
            <a:ext cx="10561319" cy="338554"/>
          </a:xfrm>
          <a:prstGeom prst="rect">
            <a:avLst/>
          </a:prstGeom>
          <a:noFill/>
        </p:spPr>
        <p:txBody>
          <a:bodyPr wrap="square" anchor="t">
            <a:spAutoFit/>
          </a:bodyPr>
          <a:lstStyle/>
          <a:p>
            <a:pPr algn="l"/>
            <a:r>
              <a:rPr sz="1600" b="1" dirty="0">
                <a:solidFill>
                  <a:srgbClr val="101C30"/>
                </a:solidFill>
                <a:latin typeface="Aptos"/>
              </a:rPr>
              <a:t>Implication</a:t>
            </a:r>
          </a:p>
        </p:txBody>
      </p:sp>
      <p:sp>
        <p:nvSpPr>
          <p:cNvPr id="37" name="TextBox 36"/>
          <p:cNvSpPr txBox="1"/>
          <p:nvPr/>
        </p:nvSpPr>
        <p:spPr>
          <a:xfrm>
            <a:off x="822959" y="5010912"/>
            <a:ext cx="10515600" cy="461665"/>
          </a:xfrm>
          <a:prstGeom prst="rect">
            <a:avLst/>
          </a:prstGeom>
          <a:noFill/>
        </p:spPr>
        <p:txBody>
          <a:bodyPr wrap="square" anchor="t">
            <a:spAutoFit/>
          </a:bodyPr>
          <a:lstStyle/>
          <a:p>
            <a:pPr algn="l"/>
            <a:r>
              <a:rPr sz="1200" b="0" dirty="0">
                <a:solidFill>
                  <a:srgbClr val="242E3C"/>
                </a:solidFill>
                <a:latin typeface="Aptos"/>
              </a:rPr>
              <a:t>The customer base is heterogeneous: a small set of heavy users can drive a disproportionate amount of network demand. Capacity and retention strategies should therefore be segment-aware</a:t>
            </a:r>
            <a:r>
              <a:rPr sz="1050" b="0" dirty="0">
                <a:solidFill>
                  <a:srgbClr val="242E3C"/>
                </a:solidFill>
                <a:latin typeface="Aptos"/>
              </a:rPr>
              <a:t>.</a:t>
            </a:r>
          </a:p>
        </p:txBody>
      </p:sp>
      <p:sp>
        <p:nvSpPr>
          <p:cNvPr id="38" name="TextBox 37"/>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39" name="TextBox 38"/>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0280" y="249781"/>
            <a:ext cx="7553141" cy="646331"/>
          </a:xfrm>
          <a:prstGeom prst="rect">
            <a:avLst/>
          </a:prstGeom>
          <a:noFill/>
        </p:spPr>
        <p:txBody>
          <a:bodyPr wrap="square">
            <a:spAutoFit/>
          </a:bodyPr>
          <a:lstStyle/>
          <a:p>
            <a:r>
              <a:rPr sz="3600" b="1" dirty="0">
                <a:solidFill>
                  <a:srgbClr val="101C30"/>
                </a:solidFill>
                <a:latin typeface="Aptos Display"/>
              </a:rPr>
              <a:t>User Engagement Segmentation</a:t>
            </a:r>
          </a:p>
        </p:txBody>
      </p:sp>
      <p:sp>
        <p:nvSpPr>
          <p:cNvPr id="4" name="TextBox 3"/>
          <p:cNvSpPr txBox="1"/>
          <p:nvPr/>
        </p:nvSpPr>
        <p:spPr>
          <a:xfrm>
            <a:off x="548640" y="809244"/>
            <a:ext cx="10881360" cy="347472"/>
          </a:xfrm>
          <a:prstGeom prst="rect">
            <a:avLst/>
          </a:prstGeom>
          <a:noFill/>
        </p:spPr>
        <p:txBody>
          <a:bodyPr wrap="none">
            <a:spAutoFit/>
          </a:bodyPr>
          <a:lstStyle/>
          <a:p>
            <a:r>
              <a:rPr sz="1050" dirty="0">
                <a:solidFill>
                  <a:srgbClr val="677486"/>
                </a:solidFill>
                <a:latin typeface="Aptos"/>
              </a:rPr>
              <a:t>K-Means groups customers into three distinct behavioral profiles</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640080" y="1417320"/>
          <a:ext cx="5394960" cy="3474720"/>
        </p:xfrm>
        <a:graphic>
          <a:graphicData uri="http://schemas.openxmlformats.org/drawingml/2006/chart">
            <c:chart xmlns:c="http://schemas.openxmlformats.org/drawingml/2006/chart" xmlns:r="http://schemas.openxmlformats.org/officeDocument/2006/relationships" r:id="rId2"/>
          </a:graphicData>
        </a:graphic>
      </p:graphicFrame>
      <p:sp>
        <p:nvSpPr>
          <p:cNvPr id="7" name="Rounded Rectangle 6"/>
          <p:cNvSpPr/>
          <p:nvPr/>
        </p:nvSpPr>
        <p:spPr>
          <a:xfrm>
            <a:off x="6400800" y="1417320"/>
            <a:ext cx="233172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0" y="1417320"/>
            <a:ext cx="64008" cy="123444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01968" y="1572768"/>
            <a:ext cx="2011679" cy="274320"/>
          </a:xfrm>
          <a:prstGeom prst="rect">
            <a:avLst/>
          </a:prstGeom>
          <a:noFill/>
        </p:spPr>
        <p:txBody>
          <a:bodyPr wrap="square" anchor="t">
            <a:spAutoFit/>
          </a:bodyPr>
          <a:lstStyle/>
          <a:p>
            <a:pPr algn="l"/>
            <a:r>
              <a:rPr sz="1050" b="1">
                <a:solidFill>
                  <a:srgbClr val="677486"/>
                </a:solidFill>
                <a:latin typeface="Aptos"/>
              </a:rPr>
              <a:t>LOW ENGAGEMENT</a:t>
            </a:r>
          </a:p>
        </p:txBody>
      </p:sp>
      <p:sp>
        <p:nvSpPr>
          <p:cNvPr id="10" name="TextBox 9"/>
          <p:cNvSpPr txBox="1"/>
          <p:nvPr/>
        </p:nvSpPr>
        <p:spPr>
          <a:xfrm>
            <a:off x="6601968" y="1892808"/>
            <a:ext cx="2011679" cy="502920"/>
          </a:xfrm>
          <a:prstGeom prst="rect">
            <a:avLst/>
          </a:prstGeom>
          <a:noFill/>
        </p:spPr>
        <p:txBody>
          <a:bodyPr wrap="square" anchor="t">
            <a:spAutoFit/>
          </a:bodyPr>
          <a:lstStyle/>
          <a:p>
            <a:pPr algn="l"/>
            <a:r>
              <a:rPr sz="2300" b="1">
                <a:solidFill>
                  <a:srgbClr val="101C30"/>
                </a:solidFill>
                <a:latin typeface="Aptos Display"/>
              </a:rPr>
              <a:t>57,825</a:t>
            </a:r>
          </a:p>
        </p:txBody>
      </p:sp>
      <p:sp>
        <p:nvSpPr>
          <p:cNvPr id="11" name="TextBox 10"/>
          <p:cNvSpPr txBox="1"/>
          <p:nvPr/>
        </p:nvSpPr>
        <p:spPr>
          <a:xfrm>
            <a:off x="6601968" y="2441448"/>
            <a:ext cx="2011679" cy="384048"/>
          </a:xfrm>
          <a:prstGeom prst="rect">
            <a:avLst/>
          </a:prstGeom>
          <a:noFill/>
        </p:spPr>
        <p:txBody>
          <a:bodyPr wrap="square" anchor="t">
            <a:spAutoFit/>
          </a:bodyPr>
          <a:lstStyle/>
          <a:p>
            <a:pPr algn="l"/>
            <a:r>
              <a:rPr sz="950" b="0">
                <a:solidFill>
                  <a:srgbClr val="677486"/>
                </a:solidFill>
                <a:latin typeface="Aptos"/>
              </a:rPr>
              <a:t>54.1%</a:t>
            </a:r>
          </a:p>
        </p:txBody>
      </p:sp>
      <p:sp>
        <p:nvSpPr>
          <p:cNvPr id="12" name="Rounded Rectangle 11"/>
          <p:cNvSpPr/>
          <p:nvPr/>
        </p:nvSpPr>
        <p:spPr>
          <a:xfrm>
            <a:off x="8961120" y="1417320"/>
            <a:ext cx="233172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961120" y="1417320"/>
            <a:ext cx="64008" cy="1234440"/>
          </a:xfrm>
          <a:prstGeom prst="rect">
            <a:avLst/>
          </a:prstGeom>
          <a:solidFill>
            <a:srgbClr val="46B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62288" y="1572768"/>
            <a:ext cx="2011679" cy="274320"/>
          </a:xfrm>
          <a:prstGeom prst="rect">
            <a:avLst/>
          </a:prstGeom>
          <a:noFill/>
        </p:spPr>
        <p:txBody>
          <a:bodyPr wrap="square" anchor="t">
            <a:spAutoFit/>
          </a:bodyPr>
          <a:lstStyle/>
          <a:p>
            <a:pPr algn="l"/>
            <a:r>
              <a:rPr sz="1050" b="1">
                <a:solidFill>
                  <a:srgbClr val="677486"/>
                </a:solidFill>
                <a:latin typeface="Aptos"/>
              </a:rPr>
              <a:t>MEDIUM</a:t>
            </a:r>
          </a:p>
        </p:txBody>
      </p:sp>
      <p:sp>
        <p:nvSpPr>
          <p:cNvPr id="15" name="TextBox 14"/>
          <p:cNvSpPr txBox="1"/>
          <p:nvPr/>
        </p:nvSpPr>
        <p:spPr>
          <a:xfrm>
            <a:off x="9162288" y="1892808"/>
            <a:ext cx="2011679" cy="502920"/>
          </a:xfrm>
          <a:prstGeom prst="rect">
            <a:avLst/>
          </a:prstGeom>
          <a:noFill/>
        </p:spPr>
        <p:txBody>
          <a:bodyPr wrap="square" anchor="t">
            <a:spAutoFit/>
          </a:bodyPr>
          <a:lstStyle/>
          <a:p>
            <a:pPr algn="l"/>
            <a:r>
              <a:rPr sz="2300" b="1">
                <a:solidFill>
                  <a:srgbClr val="101C30"/>
                </a:solidFill>
                <a:latin typeface="Aptos Display"/>
              </a:rPr>
              <a:t>24,582</a:t>
            </a:r>
          </a:p>
        </p:txBody>
      </p:sp>
      <p:sp>
        <p:nvSpPr>
          <p:cNvPr id="16" name="TextBox 15"/>
          <p:cNvSpPr txBox="1"/>
          <p:nvPr/>
        </p:nvSpPr>
        <p:spPr>
          <a:xfrm>
            <a:off x="9162288" y="2441448"/>
            <a:ext cx="2011679" cy="384048"/>
          </a:xfrm>
          <a:prstGeom prst="rect">
            <a:avLst/>
          </a:prstGeom>
          <a:noFill/>
        </p:spPr>
        <p:txBody>
          <a:bodyPr wrap="square" anchor="t">
            <a:spAutoFit/>
          </a:bodyPr>
          <a:lstStyle/>
          <a:p>
            <a:pPr algn="l"/>
            <a:r>
              <a:rPr sz="950" b="0">
                <a:solidFill>
                  <a:srgbClr val="677486"/>
                </a:solidFill>
                <a:latin typeface="Aptos"/>
              </a:rPr>
              <a:t>23.0%</a:t>
            </a:r>
          </a:p>
        </p:txBody>
      </p:sp>
      <p:sp>
        <p:nvSpPr>
          <p:cNvPr id="17" name="Rounded Rectangle 16"/>
          <p:cNvSpPr/>
          <p:nvPr/>
        </p:nvSpPr>
        <p:spPr>
          <a:xfrm>
            <a:off x="6400800" y="2880360"/>
            <a:ext cx="233172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0" y="2880360"/>
            <a:ext cx="64008" cy="123444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01968" y="3035808"/>
            <a:ext cx="2011679" cy="274320"/>
          </a:xfrm>
          <a:prstGeom prst="rect">
            <a:avLst/>
          </a:prstGeom>
          <a:noFill/>
        </p:spPr>
        <p:txBody>
          <a:bodyPr wrap="square" anchor="t">
            <a:spAutoFit/>
          </a:bodyPr>
          <a:lstStyle/>
          <a:p>
            <a:pPr algn="l"/>
            <a:r>
              <a:rPr sz="1050" b="1">
                <a:solidFill>
                  <a:srgbClr val="677486"/>
                </a:solidFill>
                <a:latin typeface="Aptos"/>
              </a:rPr>
              <a:t>HIGH ENGAGEMENT</a:t>
            </a:r>
          </a:p>
        </p:txBody>
      </p:sp>
      <p:sp>
        <p:nvSpPr>
          <p:cNvPr id="20" name="TextBox 19"/>
          <p:cNvSpPr txBox="1"/>
          <p:nvPr/>
        </p:nvSpPr>
        <p:spPr>
          <a:xfrm>
            <a:off x="6601968" y="3355848"/>
            <a:ext cx="2011679" cy="502920"/>
          </a:xfrm>
          <a:prstGeom prst="rect">
            <a:avLst/>
          </a:prstGeom>
          <a:noFill/>
        </p:spPr>
        <p:txBody>
          <a:bodyPr wrap="square" anchor="t">
            <a:spAutoFit/>
          </a:bodyPr>
          <a:lstStyle/>
          <a:p>
            <a:pPr algn="l"/>
            <a:r>
              <a:rPr sz="2300" b="1">
                <a:solidFill>
                  <a:srgbClr val="101C30"/>
                </a:solidFill>
                <a:latin typeface="Aptos Display"/>
              </a:rPr>
              <a:t>24,450</a:t>
            </a:r>
          </a:p>
        </p:txBody>
      </p:sp>
      <p:sp>
        <p:nvSpPr>
          <p:cNvPr id="21" name="TextBox 20"/>
          <p:cNvSpPr txBox="1"/>
          <p:nvPr/>
        </p:nvSpPr>
        <p:spPr>
          <a:xfrm>
            <a:off x="6601968" y="3904487"/>
            <a:ext cx="2011679" cy="384048"/>
          </a:xfrm>
          <a:prstGeom prst="rect">
            <a:avLst/>
          </a:prstGeom>
          <a:noFill/>
        </p:spPr>
        <p:txBody>
          <a:bodyPr wrap="square" anchor="t">
            <a:spAutoFit/>
          </a:bodyPr>
          <a:lstStyle/>
          <a:p>
            <a:pPr algn="l"/>
            <a:r>
              <a:rPr sz="950" b="0">
                <a:solidFill>
                  <a:srgbClr val="677486"/>
                </a:solidFill>
                <a:latin typeface="Aptos"/>
              </a:rPr>
              <a:t>22.9%</a:t>
            </a:r>
          </a:p>
        </p:txBody>
      </p:sp>
      <p:sp>
        <p:nvSpPr>
          <p:cNvPr id="22" name="Rounded Rectangle 21"/>
          <p:cNvSpPr/>
          <p:nvPr/>
        </p:nvSpPr>
        <p:spPr>
          <a:xfrm>
            <a:off x="8961120" y="2880359"/>
            <a:ext cx="2331720" cy="2173421"/>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961120" y="2880360"/>
            <a:ext cx="73152" cy="1965960"/>
          </a:xfrm>
          <a:prstGeom prst="rect">
            <a:avLst/>
          </a:prstGeom>
          <a:solidFill>
            <a:srgbClr val="EBB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16567" y="2971800"/>
            <a:ext cx="2057400" cy="274320"/>
          </a:xfrm>
          <a:prstGeom prst="rect">
            <a:avLst/>
          </a:prstGeom>
          <a:noFill/>
        </p:spPr>
        <p:txBody>
          <a:bodyPr wrap="square" anchor="t">
            <a:spAutoFit/>
          </a:bodyPr>
          <a:lstStyle/>
          <a:p>
            <a:pPr algn="l"/>
            <a:r>
              <a:rPr sz="1200" b="1" dirty="0">
                <a:solidFill>
                  <a:srgbClr val="101C30"/>
                </a:solidFill>
                <a:latin typeface="Aptos"/>
              </a:rPr>
              <a:t>Cluster profiles</a:t>
            </a:r>
          </a:p>
        </p:txBody>
      </p:sp>
      <p:sp>
        <p:nvSpPr>
          <p:cNvPr id="25" name="TextBox 24"/>
          <p:cNvSpPr txBox="1"/>
          <p:nvPr/>
        </p:nvSpPr>
        <p:spPr>
          <a:xfrm>
            <a:off x="9144000" y="3230493"/>
            <a:ext cx="2011679" cy="1615827"/>
          </a:xfrm>
          <a:prstGeom prst="rect">
            <a:avLst/>
          </a:prstGeom>
          <a:noFill/>
        </p:spPr>
        <p:txBody>
          <a:bodyPr wrap="square" anchor="t">
            <a:spAutoFit/>
          </a:bodyPr>
          <a:lstStyle/>
          <a:p>
            <a:pPr algn="l"/>
            <a:r>
              <a:rPr sz="1100" b="0" dirty="0">
                <a:solidFill>
                  <a:srgbClr val="242E3C"/>
                </a:solidFill>
                <a:latin typeface="Aptos"/>
              </a:rPr>
              <a:t>High Engagement customers are above average across frequency, duration and traffic. Low Engagement customers are below average across all three. Medium Engagement customers have longer durations but lower frequency and traffic.</a:t>
            </a:r>
          </a:p>
        </p:txBody>
      </p:sp>
      <p:sp>
        <p:nvSpPr>
          <p:cNvPr id="26" name="TextBox 25"/>
          <p:cNvSpPr txBox="1"/>
          <p:nvPr/>
        </p:nvSpPr>
        <p:spPr>
          <a:xfrm>
            <a:off x="658368" y="5166360"/>
            <a:ext cx="10698480" cy="523220"/>
          </a:xfrm>
          <a:prstGeom prst="rect">
            <a:avLst/>
          </a:prstGeom>
          <a:noFill/>
        </p:spPr>
        <p:txBody>
          <a:bodyPr wrap="square" anchor="t">
            <a:spAutoFit/>
          </a:bodyPr>
          <a:lstStyle/>
          <a:p>
            <a:pPr algn="l"/>
            <a:r>
              <a:rPr sz="1400" b="1" dirty="0">
                <a:solidFill>
                  <a:srgbClr val="242E3C"/>
                </a:solidFill>
                <a:latin typeface="Aptos"/>
              </a:rPr>
              <a:t>The notebook also applies the elbow method and identifies k = 5 as a reasonable candidate for a more granular segmentation, although the elbow is not sharply defined.</a:t>
            </a:r>
          </a:p>
        </p:txBody>
      </p:sp>
      <p:sp>
        <p:nvSpPr>
          <p:cNvPr id="27" name="TextBox 26"/>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28" name="TextBox 27"/>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69982" y="236065"/>
            <a:ext cx="6914044" cy="646331"/>
          </a:xfrm>
          <a:prstGeom prst="rect">
            <a:avLst/>
          </a:prstGeom>
          <a:noFill/>
        </p:spPr>
        <p:txBody>
          <a:bodyPr wrap="square">
            <a:spAutoFit/>
          </a:bodyPr>
          <a:lstStyle/>
          <a:p>
            <a:r>
              <a:rPr sz="3600" b="1" dirty="0">
                <a:solidFill>
                  <a:srgbClr val="101C30"/>
                </a:solidFill>
                <a:latin typeface="Aptos Display"/>
              </a:rPr>
              <a:t>Engagement Cluster Profiles</a:t>
            </a:r>
          </a:p>
        </p:txBody>
      </p:sp>
      <p:sp>
        <p:nvSpPr>
          <p:cNvPr id="4" name="TextBox 3"/>
          <p:cNvSpPr txBox="1"/>
          <p:nvPr/>
        </p:nvSpPr>
        <p:spPr>
          <a:xfrm>
            <a:off x="502920" y="800100"/>
            <a:ext cx="10881360" cy="347472"/>
          </a:xfrm>
          <a:prstGeom prst="rect">
            <a:avLst/>
          </a:prstGeom>
          <a:noFill/>
        </p:spPr>
        <p:txBody>
          <a:bodyPr wrap="none">
            <a:spAutoFit/>
          </a:bodyPr>
          <a:lstStyle/>
          <a:p>
            <a:r>
              <a:rPr sz="1050" dirty="0">
                <a:solidFill>
                  <a:srgbClr val="677486"/>
                </a:solidFill>
                <a:latin typeface="Aptos"/>
              </a:rPr>
              <a:t>Normalized K-Means centers show how the three groups differ</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40080" y="1508760"/>
          <a:ext cx="9052560" cy="192024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480060">
                <a:tc>
                  <a:txBody>
                    <a:bodyPr/>
                    <a:lstStyle/>
                    <a:p>
                      <a:pPr>
                        <a:defRPr sz="1000" b="1">
                          <a:solidFill>
                            <a:srgbClr val="FFFFFF"/>
                          </a:solidFill>
                          <a:latin typeface="Aptos"/>
                        </a:defRPr>
                      </a:pPr>
                      <a:r>
                        <a:t>Segment</a:t>
                      </a:r>
                    </a:p>
                  </a:txBody>
                  <a:tcPr marL="54864" marR="54864" marT="27432" marB="27432">
                    <a:solidFill>
                      <a:srgbClr val="101C30"/>
                    </a:solidFill>
                  </a:tcPr>
                </a:tc>
                <a:tc>
                  <a:txBody>
                    <a:bodyPr/>
                    <a:lstStyle/>
                    <a:p>
                      <a:pPr>
                        <a:defRPr sz="1000" b="1">
                          <a:solidFill>
                            <a:srgbClr val="FFFFFF"/>
                          </a:solidFill>
                          <a:latin typeface="Aptos"/>
                        </a:defRPr>
                      </a:pPr>
                      <a:r>
                        <a:t>Customers</a:t>
                      </a:r>
                    </a:p>
                  </a:txBody>
                  <a:tcPr marL="54864" marR="54864" marT="27432" marB="27432">
                    <a:solidFill>
                      <a:srgbClr val="101C30"/>
                    </a:solidFill>
                  </a:tcPr>
                </a:tc>
                <a:tc>
                  <a:txBody>
                    <a:bodyPr/>
                    <a:lstStyle/>
                    <a:p>
                      <a:pPr>
                        <a:defRPr sz="1000" b="1">
                          <a:solidFill>
                            <a:srgbClr val="FFFFFF"/>
                          </a:solidFill>
                          <a:latin typeface="Aptos"/>
                        </a:defRPr>
                      </a:pPr>
                      <a:r>
                        <a:t>Session Freq. Avg</a:t>
                      </a:r>
                    </a:p>
                  </a:txBody>
                  <a:tcPr marL="54864" marR="54864" marT="27432" marB="27432">
                    <a:solidFill>
                      <a:srgbClr val="101C30"/>
                    </a:solidFill>
                  </a:tcPr>
                </a:tc>
                <a:tc>
                  <a:txBody>
                    <a:bodyPr/>
                    <a:lstStyle/>
                    <a:p>
                      <a:pPr>
                        <a:defRPr sz="1000" b="1">
                          <a:solidFill>
                            <a:srgbClr val="FFFFFF"/>
                          </a:solidFill>
                          <a:latin typeface="Aptos"/>
                        </a:defRPr>
                      </a:pPr>
                      <a:r>
                        <a:t>Duration Avg (hr)</a:t>
                      </a:r>
                    </a:p>
                  </a:txBody>
                  <a:tcPr marL="54864" marR="54864" marT="27432" marB="27432">
                    <a:solidFill>
                      <a:srgbClr val="101C30"/>
                    </a:solidFill>
                  </a:tcPr>
                </a:tc>
                <a:tc>
                  <a:txBody>
                    <a:bodyPr/>
                    <a:lstStyle/>
                    <a:p>
                      <a:pPr>
                        <a:defRPr sz="1000" b="1">
                          <a:solidFill>
                            <a:srgbClr val="FFFFFF"/>
                          </a:solidFill>
                          <a:latin typeface="Aptos"/>
                        </a:defRPr>
                      </a:pPr>
                      <a:r>
                        <a:t>Traffic Avg (GB)</a:t>
                      </a:r>
                    </a:p>
                  </a:txBody>
                  <a:tcPr marL="54864" marR="54864" marT="27432" marB="27432">
                    <a:solidFill>
                      <a:srgbClr val="101C30"/>
                    </a:solidFill>
                  </a:tcPr>
                </a:tc>
                <a:extLst>
                  <a:ext uri="{0D108BD9-81ED-4DB2-BD59-A6C34878D82A}">
                    <a16:rowId xmlns:a16="http://schemas.microsoft.com/office/drawing/2014/main" val="10000"/>
                  </a:ext>
                </a:extLst>
              </a:tr>
              <a:tr h="480060">
                <a:tc>
                  <a:txBody>
                    <a:bodyPr/>
                    <a:lstStyle/>
                    <a:p>
                      <a:pPr>
                        <a:defRPr sz="1000" b="0">
                          <a:solidFill>
                            <a:srgbClr val="242E3C"/>
                          </a:solidFill>
                          <a:latin typeface="Aptos"/>
                        </a:defRPr>
                      </a:pPr>
                      <a:r>
                        <a:t>Low Engagement</a:t>
                      </a:r>
                    </a:p>
                  </a:txBody>
                  <a:tcPr marL="54864" marR="54864" marT="27432" marB="27432">
                    <a:solidFill>
                      <a:srgbClr val="FFFFFF"/>
                    </a:solidFill>
                  </a:tcPr>
                </a:tc>
                <a:tc>
                  <a:txBody>
                    <a:bodyPr/>
                    <a:lstStyle/>
                    <a:p>
                      <a:pPr>
                        <a:defRPr sz="1000" b="0">
                          <a:solidFill>
                            <a:srgbClr val="242E3C"/>
                          </a:solidFill>
                          <a:latin typeface="Aptos"/>
                        </a:defRPr>
                      </a:pPr>
                      <a:r>
                        <a:t>57,825</a:t>
                      </a:r>
                    </a:p>
                  </a:txBody>
                  <a:tcPr marL="54864" marR="54864" marT="27432" marB="27432">
                    <a:solidFill>
                      <a:srgbClr val="FFFFFF"/>
                    </a:solidFill>
                  </a:tcPr>
                </a:tc>
                <a:tc>
                  <a:txBody>
                    <a:bodyPr/>
                    <a:lstStyle/>
                    <a:p>
                      <a:pPr>
                        <a:defRPr sz="1000" b="0">
                          <a:solidFill>
                            <a:srgbClr val="242E3C"/>
                          </a:solidFill>
                          <a:latin typeface="Aptos"/>
                        </a:defRPr>
                      </a:pPr>
                      <a:r>
                        <a:t>1.03</a:t>
                      </a:r>
                    </a:p>
                  </a:txBody>
                  <a:tcPr marL="54864" marR="54864" marT="27432" marB="27432">
                    <a:solidFill>
                      <a:srgbClr val="FFFFFF"/>
                    </a:solidFill>
                  </a:tcPr>
                </a:tc>
                <a:tc>
                  <a:txBody>
                    <a:bodyPr/>
                    <a:lstStyle/>
                    <a:p>
                      <a:pPr>
                        <a:defRPr sz="1000" b="0">
                          <a:solidFill>
                            <a:srgbClr val="242E3C"/>
                          </a:solidFill>
                          <a:latin typeface="Aptos"/>
                        </a:defRPr>
                      </a:pPr>
                      <a:r>
                        <a:t>0.0193</a:t>
                      </a:r>
                    </a:p>
                  </a:txBody>
                  <a:tcPr marL="54864" marR="54864" marT="27432" marB="27432">
                    <a:solidFill>
                      <a:srgbClr val="FFFFFF"/>
                    </a:solidFill>
                  </a:tcPr>
                </a:tc>
                <a:tc>
                  <a:txBody>
                    <a:bodyPr/>
                    <a:lstStyle/>
                    <a:p>
                      <a:pPr>
                        <a:defRPr sz="1000" b="0">
                          <a:solidFill>
                            <a:srgbClr val="242E3C"/>
                          </a:solidFill>
                          <a:latin typeface="Aptos"/>
                        </a:defRPr>
                      </a:pPr>
                      <a:r>
                        <a:t>0.468</a:t>
                      </a:r>
                    </a:p>
                  </a:txBody>
                  <a:tcPr marL="54864" marR="54864" marT="27432" marB="27432">
                    <a:solidFill>
                      <a:srgbClr val="FFFFFF"/>
                    </a:solidFill>
                  </a:tcPr>
                </a:tc>
                <a:extLst>
                  <a:ext uri="{0D108BD9-81ED-4DB2-BD59-A6C34878D82A}">
                    <a16:rowId xmlns:a16="http://schemas.microsoft.com/office/drawing/2014/main" val="10001"/>
                  </a:ext>
                </a:extLst>
              </a:tr>
              <a:tr h="480060">
                <a:tc>
                  <a:txBody>
                    <a:bodyPr/>
                    <a:lstStyle/>
                    <a:p>
                      <a:pPr>
                        <a:defRPr sz="1000" b="0">
                          <a:solidFill>
                            <a:srgbClr val="242E3C"/>
                          </a:solidFill>
                          <a:latin typeface="Aptos"/>
                        </a:defRPr>
                      </a:pPr>
                      <a:r>
                        <a:t>High Engagement</a:t>
                      </a:r>
                    </a:p>
                  </a:txBody>
                  <a:tcPr marL="54864" marR="54864" marT="27432" marB="27432">
                    <a:solidFill>
                      <a:srgbClr val="F2F5F8"/>
                    </a:solidFill>
                  </a:tcPr>
                </a:tc>
                <a:tc>
                  <a:txBody>
                    <a:bodyPr/>
                    <a:lstStyle/>
                    <a:p>
                      <a:pPr>
                        <a:defRPr sz="1000" b="0">
                          <a:solidFill>
                            <a:srgbClr val="242E3C"/>
                          </a:solidFill>
                          <a:latin typeface="Aptos"/>
                        </a:defRPr>
                      </a:pPr>
                      <a:r>
                        <a:t>24,450</a:t>
                      </a:r>
                    </a:p>
                  </a:txBody>
                  <a:tcPr marL="54864" marR="54864" marT="27432" marB="27432">
                    <a:solidFill>
                      <a:srgbClr val="F2F5F8"/>
                    </a:solidFill>
                  </a:tcPr>
                </a:tc>
                <a:tc>
                  <a:txBody>
                    <a:bodyPr/>
                    <a:lstStyle/>
                    <a:p>
                      <a:pPr>
                        <a:defRPr sz="1000" b="0">
                          <a:solidFill>
                            <a:srgbClr val="242E3C"/>
                          </a:solidFill>
                          <a:latin typeface="Aptos"/>
                        </a:defRPr>
                      </a:pPr>
                      <a:r>
                        <a:t>2.17</a:t>
                      </a:r>
                    </a:p>
                  </a:txBody>
                  <a:tcPr marL="54864" marR="54864" marT="27432" marB="27432">
                    <a:solidFill>
                      <a:srgbClr val="F2F5F8"/>
                    </a:solidFill>
                  </a:tcPr>
                </a:tc>
                <a:tc>
                  <a:txBody>
                    <a:bodyPr/>
                    <a:lstStyle/>
                    <a:p>
                      <a:pPr>
                        <a:defRPr sz="1000" b="0">
                          <a:solidFill>
                            <a:srgbClr val="242E3C"/>
                          </a:solidFill>
                          <a:latin typeface="Aptos"/>
                        </a:defRPr>
                      </a:pPr>
                      <a:r>
                        <a:t>0.0450</a:t>
                      </a:r>
                    </a:p>
                  </a:txBody>
                  <a:tcPr marL="54864" marR="54864" marT="27432" marB="27432">
                    <a:solidFill>
                      <a:srgbClr val="F2F5F8"/>
                    </a:solidFill>
                  </a:tcPr>
                </a:tc>
                <a:tc>
                  <a:txBody>
                    <a:bodyPr/>
                    <a:lstStyle/>
                    <a:p>
                      <a:pPr>
                        <a:defRPr sz="1000" b="0">
                          <a:solidFill>
                            <a:srgbClr val="242E3C"/>
                          </a:solidFill>
                          <a:latin typeface="Aptos"/>
                        </a:defRPr>
                      </a:pPr>
                      <a:r>
                        <a:t>0.933</a:t>
                      </a:r>
                    </a:p>
                  </a:txBody>
                  <a:tcPr marL="54864" marR="54864" marT="27432" marB="27432">
                    <a:solidFill>
                      <a:srgbClr val="F2F5F8"/>
                    </a:solidFill>
                  </a:tcPr>
                </a:tc>
                <a:extLst>
                  <a:ext uri="{0D108BD9-81ED-4DB2-BD59-A6C34878D82A}">
                    <a16:rowId xmlns:a16="http://schemas.microsoft.com/office/drawing/2014/main" val="10002"/>
                  </a:ext>
                </a:extLst>
              </a:tr>
              <a:tr h="480060">
                <a:tc>
                  <a:txBody>
                    <a:bodyPr/>
                    <a:lstStyle/>
                    <a:p>
                      <a:pPr>
                        <a:defRPr sz="1000" b="0">
                          <a:solidFill>
                            <a:srgbClr val="242E3C"/>
                          </a:solidFill>
                          <a:latin typeface="Aptos"/>
                        </a:defRPr>
                      </a:pPr>
                      <a:r>
                        <a:t>Medium Engagement</a:t>
                      </a:r>
                    </a:p>
                  </a:txBody>
                  <a:tcPr marL="54864" marR="54864" marT="27432" marB="27432">
                    <a:solidFill>
                      <a:srgbClr val="FFFFFF"/>
                    </a:solidFill>
                  </a:tcPr>
                </a:tc>
                <a:tc>
                  <a:txBody>
                    <a:bodyPr/>
                    <a:lstStyle/>
                    <a:p>
                      <a:pPr>
                        <a:defRPr sz="1000" b="0">
                          <a:solidFill>
                            <a:srgbClr val="242E3C"/>
                          </a:solidFill>
                          <a:latin typeface="Aptos"/>
                        </a:defRPr>
                      </a:pPr>
                      <a:r>
                        <a:t>24,582</a:t>
                      </a:r>
                    </a:p>
                  </a:txBody>
                  <a:tcPr marL="54864" marR="54864" marT="27432" marB="27432">
                    <a:solidFill>
                      <a:srgbClr val="FFFFFF"/>
                    </a:solidFill>
                  </a:tcPr>
                </a:tc>
                <a:tc>
                  <a:txBody>
                    <a:bodyPr/>
                    <a:lstStyle/>
                    <a:p>
                      <a:pPr>
                        <a:defRPr sz="1000" b="0">
                          <a:solidFill>
                            <a:srgbClr val="242E3C"/>
                          </a:solidFill>
                          <a:latin typeface="Aptos"/>
                        </a:defRPr>
                      </a:pPr>
                      <a:r>
                        <a:t>1.03</a:t>
                      </a:r>
                    </a:p>
                  </a:txBody>
                  <a:tcPr marL="54864" marR="54864" marT="27432" marB="27432">
                    <a:solidFill>
                      <a:srgbClr val="FFFFFF"/>
                    </a:solidFill>
                  </a:tcPr>
                </a:tc>
                <a:tc>
                  <a:txBody>
                    <a:bodyPr/>
                    <a:lstStyle/>
                    <a:p>
                      <a:pPr>
                        <a:defRPr sz="1000" b="0">
                          <a:solidFill>
                            <a:srgbClr val="242E3C"/>
                          </a:solidFill>
                          <a:latin typeface="Aptos"/>
                        </a:defRPr>
                      </a:pPr>
                      <a:r>
                        <a:t>0.0480</a:t>
                      </a:r>
                    </a:p>
                  </a:txBody>
                  <a:tcPr marL="54864" marR="54864" marT="27432" marB="27432">
                    <a:solidFill>
                      <a:srgbClr val="FFFFFF"/>
                    </a:solidFill>
                  </a:tcPr>
                </a:tc>
                <a:tc>
                  <a:txBody>
                    <a:bodyPr/>
                    <a:lstStyle/>
                    <a:p>
                      <a:pPr>
                        <a:defRPr sz="1000" b="0">
                          <a:solidFill>
                            <a:srgbClr val="242E3C"/>
                          </a:solidFill>
                          <a:latin typeface="Aptos"/>
                        </a:defRPr>
                      </a:pPr>
                      <a:r>
                        <a:t>0.458</a:t>
                      </a:r>
                    </a:p>
                  </a:txBody>
                  <a:tcPr marL="54864" marR="54864" marT="27432" marB="27432">
                    <a:solidFill>
                      <a:srgbClr val="FFFFFF"/>
                    </a:solidFill>
                  </a:tcPr>
                </a:tc>
                <a:extLst>
                  <a:ext uri="{0D108BD9-81ED-4DB2-BD59-A6C34878D82A}">
                    <a16:rowId xmlns:a16="http://schemas.microsoft.com/office/drawing/2014/main" val="10003"/>
                  </a:ext>
                </a:extLst>
              </a:tr>
            </a:tbl>
          </a:graphicData>
        </a:graphic>
      </p:graphicFrame>
      <p:graphicFrame>
        <p:nvGraphicFramePr>
          <p:cNvPr id="7" name="Chart 6"/>
          <p:cNvGraphicFramePr>
            <a:graphicFrameLocks noGrp="1"/>
          </p:cNvGraphicFramePr>
          <p:nvPr>
            <p:extLst>
              <p:ext uri="{D42A27DB-BD31-4B8C-83A1-F6EECF244321}">
                <p14:modId xmlns:p14="http://schemas.microsoft.com/office/powerpoint/2010/main" val="1511451121"/>
              </p:ext>
            </p:extLst>
          </p:nvPr>
        </p:nvGraphicFramePr>
        <p:xfrm>
          <a:off x="731520" y="3529781"/>
          <a:ext cx="5212080" cy="2399071"/>
        </p:xfrm>
        <a:graphic>
          <a:graphicData uri="http://schemas.openxmlformats.org/drawingml/2006/chart">
            <c:chart xmlns:c="http://schemas.openxmlformats.org/drawingml/2006/chart" xmlns:r="http://schemas.openxmlformats.org/officeDocument/2006/relationships" r:id="rId2"/>
          </a:graphicData>
        </a:graphic>
      </p:graphicFrame>
      <p:sp>
        <p:nvSpPr>
          <p:cNvPr id="8" name="Rounded Rectangle 7"/>
          <p:cNvSpPr/>
          <p:nvPr/>
        </p:nvSpPr>
        <p:spPr>
          <a:xfrm>
            <a:off x="6217920" y="3794760"/>
            <a:ext cx="5257800" cy="205740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17920" y="3794760"/>
            <a:ext cx="73152" cy="205740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3931920"/>
            <a:ext cx="4983480" cy="338554"/>
          </a:xfrm>
          <a:prstGeom prst="rect">
            <a:avLst/>
          </a:prstGeom>
          <a:noFill/>
        </p:spPr>
        <p:txBody>
          <a:bodyPr wrap="square" anchor="t">
            <a:spAutoFit/>
          </a:bodyPr>
          <a:lstStyle/>
          <a:p>
            <a:pPr algn="l"/>
            <a:r>
              <a:rPr sz="1600" b="1" dirty="0">
                <a:solidFill>
                  <a:srgbClr val="101C30"/>
                </a:solidFill>
                <a:latin typeface="Aptos"/>
              </a:rPr>
              <a:t>Business interpretation</a:t>
            </a:r>
          </a:p>
        </p:txBody>
      </p:sp>
      <p:sp>
        <p:nvSpPr>
          <p:cNvPr id="11" name="TextBox 10"/>
          <p:cNvSpPr txBox="1"/>
          <p:nvPr/>
        </p:nvSpPr>
        <p:spPr>
          <a:xfrm>
            <a:off x="6400800" y="4279392"/>
            <a:ext cx="4937760" cy="954107"/>
          </a:xfrm>
          <a:prstGeom prst="rect">
            <a:avLst/>
          </a:prstGeom>
          <a:noFill/>
        </p:spPr>
        <p:txBody>
          <a:bodyPr wrap="square" anchor="t">
            <a:spAutoFit/>
          </a:bodyPr>
          <a:lstStyle/>
          <a:p>
            <a:pPr algn="l"/>
            <a:r>
              <a:rPr sz="1400" b="0" dirty="0">
                <a:solidFill>
                  <a:srgbClr val="242E3C"/>
                </a:solidFill>
                <a:latin typeface="Aptos"/>
              </a:rPr>
              <a:t>High-engagement users represent a smaller but materially more active segment. Their higher traffic and frequency make them important for network capacity, targeted offers and retention analysis.</a:t>
            </a:r>
          </a:p>
        </p:txBody>
      </p:sp>
      <p:sp>
        <p:nvSpPr>
          <p:cNvPr id="12" name="TextBox 11"/>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13" name="TextBox 12"/>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9033" y="290388"/>
            <a:ext cx="9492791" cy="646331"/>
          </a:xfrm>
          <a:prstGeom prst="rect">
            <a:avLst/>
          </a:prstGeom>
          <a:noFill/>
        </p:spPr>
        <p:txBody>
          <a:bodyPr wrap="none">
            <a:spAutoFit/>
          </a:bodyPr>
          <a:lstStyle/>
          <a:p>
            <a:r>
              <a:rPr sz="3600" b="1" dirty="0">
                <a:solidFill>
                  <a:srgbClr val="101C30"/>
                </a:solidFill>
                <a:latin typeface="Aptos Display"/>
              </a:rPr>
              <a:t>Application Engagement &amp; Cluster Optimization</a:t>
            </a:r>
          </a:p>
        </p:txBody>
      </p:sp>
      <p:sp>
        <p:nvSpPr>
          <p:cNvPr id="4" name="TextBox 3"/>
          <p:cNvSpPr txBox="1"/>
          <p:nvPr/>
        </p:nvSpPr>
        <p:spPr>
          <a:xfrm>
            <a:off x="566928" y="850392"/>
            <a:ext cx="10881360" cy="347472"/>
          </a:xfrm>
          <a:prstGeom prst="rect">
            <a:avLst/>
          </a:prstGeom>
          <a:noFill/>
        </p:spPr>
        <p:txBody>
          <a:bodyPr wrap="none">
            <a:spAutoFit/>
          </a:bodyPr>
          <a:lstStyle/>
          <a:p>
            <a:r>
              <a:rPr sz="1050">
                <a:solidFill>
                  <a:srgbClr val="677486"/>
                </a:solidFill>
                <a:latin typeface="Aptos"/>
              </a:rPr>
              <a:t>Where customers spend data and how many engagement segments may be useful</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extLst>
              <p:ext uri="{D42A27DB-BD31-4B8C-83A1-F6EECF244321}">
                <p14:modId xmlns:p14="http://schemas.microsoft.com/office/powerpoint/2010/main" val="1976399805"/>
              </p:ext>
            </p:extLst>
          </p:nvPr>
        </p:nvGraphicFramePr>
        <p:xfrm>
          <a:off x="640080" y="1463040"/>
          <a:ext cx="5029200" cy="338328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6126480" y="1417320"/>
            <a:ext cx="1828800" cy="274320"/>
          </a:xfrm>
          <a:prstGeom prst="rect">
            <a:avLst/>
          </a:prstGeom>
          <a:noFill/>
        </p:spPr>
        <p:txBody>
          <a:bodyPr wrap="square" anchor="t">
            <a:spAutoFit/>
          </a:bodyPr>
          <a:lstStyle/>
          <a:p>
            <a:pPr algn="l"/>
            <a:r>
              <a:rPr sz="1200" b="1" dirty="0">
                <a:solidFill>
                  <a:srgbClr val="101C30"/>
                </a:solidFill>
                <a:latin typeface="Aptos"/>
              </a:rPr>
              <a:t>Elbow method</a:t>
            </a:r>
          </a:p>
        </p:txBody>
      </p:sp>
      <p:cxnSp>
        <p:nvCxnSpPr>
          <p:cNvPr id="8" name="Connector 7"/>
          <p:cNvCxnSpPr/>
          <p:nvPr/>
        </p:nvCxnSpPr>
        <p:spPr>
          <a:xfrm>
            <a:off x="6263640" y="4663440"/>
            <a:ext cx="4937760" cy="0"/>
          </a:xfrm>
          <a:prstGeom prst="line">
            <a:avLst/>
          </a:prstGeom>
          <a:ln>
            <a:solidFill>
              <a:srgbClr val="6774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6263640" y="2103120"/>
            <a:ext cx="0" cy="2560320"/>
          </a:xfrm>
          <a:prstGeom prst="line">
            <a:avLst/>
          </a:prstGeom>
          <a:ln>
            <a:solidFill>
              <a:srgbClr val="67748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63640" y="2103120"/>
            <a:ext cx="617219" cy="819302"/>
          </a:xfrm>
          <a:prstGeom prst="line">
            <a:avLst/>
          </a:prstGeom>
          <a:ln w="31750">
            <a:solidFill>
              <a:srgbClr val="14919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80859" y="2922422"/>
            <a:ext cx="617220" cy="486461"/>
          </a:xfrm>
          <a:prstGeom prst="line">
            <a:avLst/>
          </a:prstGeom>
          <a:ln w="31750">
            <a:solidFill>
              <a:srgbClr val="14919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498079" y="3408883"/>
            <a:ext cx="617221" cy="281635"/>
          </a:xfrm>
          <a:prstGeom prst="line">
            <a:avLst/>
          </a:prstGeom>
          <a:ln w="31750">
            <a:solidFill>
              <a:srgbClr val="14919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115300" y="3690518"/>
            <a:ext cx="617220" cy="153619"/>
          </a:xfrm>
          <a:prstGeom prst="line">
            <a:avLst/>
          </a:prstGeom>
          <a:ln w="31750">
            <a:solidFill>
              <a:srgbClr val="14919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a:cxnSpLocks/>
          </p:cNvCxnSpPr>
          <p:nvPr/>
        </p:nvCxnSpPr>
        <p:spPr>
          <a:xfrm>
            <a:off x="8732520" y="3844137"/>
            <a:ext cx="617220" cy="102413"/>
          </a:xfrm>
          <a:prstGeom prst="line">
            <a:avLst/>
          </a:prstGeom>
          <a:ln w="31750">
            <a:solidFill>
              <a:srgbClr val="14919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349740" y="3946550"/>
            <a:ext cx="617220" cy="76809"/>
          </a:xfrm>
          <a:prstGeom prst="line">
            <a:avLst/>
          </a:prstGeom>
          <a:ln w="31750">
            <a:solidFill>
              <a:srgbClr val="14919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66960" y="4023359"/>
            <a:ext cx="617220" cy="51207"/>
          </a:xfrm>
          <a:prstGeom prst="line">
            <a:avLst/>
          </a:prstGeom>
          <a:ln w="31750">
            <a:solidFill>
              <a:srgbClr val="14919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84180" y="4074566"/>
            <a:ext cx="617220" cy="51206"/>
          </a:xfrm>
          <a:prstGeom prst="line">
            <a:avLst/>
          </a:prstGeom>
          <a:ln w="31750">
            <a:solidFill>
              <a:srgbClr val="149191"/>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208776" y="2048255"/>
            <a:ext cx="109728" cy="109728"/>
          </a:xfrm>
          <a:prstGeom prst="ellipse">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90488" y="4736592"/>
            <a:ext cx="274320" cy="182880"/>
          </a:xfrm>
          <a:prstGeom prst="rect">
            <a:avLst/>
          </a:prstGeom>
          <a:noFill/>
        </p:spPr>
        <p:txBody>
          <a:bodyPr wrap="square" anchor="t">
            <a:spAutoFit/>
          </a:bodyPr>
          <a:lstStyle/>
          <a:p>
            <a:pPr algn="ctr"/>
            <a:r>
              <a:rPr sz="800" b="1" dirty="0">
                <a:solidFill>
                  <a:srgbClr val="677486"/>
                </a:solidFill>
                <a:latin typeface="Aptos"/>
              </a:rPr>
              <a:t>2</a:t>
            </a:r>
          </a:p>
        </p:txBody>
      </p:sp>
      <p:sp>
        <p:nvSpPr>
          <p:cNvPr id="20" name="Oval 19"/>
          <p:cNvSpPr/>
          <p:nvPr/>
        </p:nvSpPr>
        <p:spPr>
          <a:xfrm>
            <a:off x="6825996" y="2867558"/>
            <a:ext cx="109728" cy="109728"/>
          </a:xfrm>
          <a:prstGeom prst="ellipse">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07707" y="4736592"/>
            <a:ext cx="274320" cy="182880"/>
          </a:xfrm>
          <a:prstGeom prst="rect">
            <a:avLst/>
          </a:prstGeom>
          <a:noFill/>
        </p:spPr>
        <p:txBody>
          <a:bodyPr wrap="square" anchor="t">
            <a:spAutoFit/>
          </a:bodyPr>
          <a:lstStyle/>
          <a:p>
            <a:pPr algn="ctr"/>
            <a:r>
              <a:rPr sz="800" b="1">
                <a:solidFill>
                  <a:srgbClr val="677486"/>
                </a:solidFill>
                <a:latin typeface="Aptos"/>
              </a:rPr>
              <a:t>3</a:t>
            </a:r>
          </a:p>
        </p:txBody>
      </p:sp>
      <p:sp>
        <p:nvSpPr>
          <p:cNvPr id="22" name="Oval 21"/>
          <p:cNvSpPr/>
          <p:nvPr/>
        </p:nvSpPr>
        <p:spPr>
          <a:xfrm>
            <a:off x="7443215" y="3354019"/>
            <a:ext cx="109728" cy="109728"/>
          </a:xfrm>
          <a:prstGeom prst="ellipse">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24927" y="4736592"/>
            <a:ext cx="274320" cy="182880"/>
          </a:xfrm>
          <a:prstGeom prst="rect">
            <a:avLst/>
          </a:prstGeom>
          <a:noFill/>
        </p:spPr>
        <p:txBody>
          <a:bodyPr wrap="square" anchor="t">
            <a:spAutoFit/>
          </a:bodyPr>
          <a:lstStyle/>
          <a:p>
            <a:pPr algn="ctr"/>
            <a:r>
              <a:rPr sz="800" b="1">
                <a:solidFill>
                  <a:srgbClr val="677486"/>
                </a:solidFill>
                <a:latin typeface="Aptos"/>
              </a:rPr>
              <a:t>4</a:t>
            </a:r>
          </a:p>
        </p:txBody>
      </p:sp>
      <p:sp>
        <p:nvSpPr>
          <p:cNvPr id="24" name="Oval 23"/>
          <p:cNvSpPr/>
          <p:nvPr/>
        </p:nvSpPr>
        <p:spPr>
          <a:xfrm>
            <a:off x="8060436" y="3635654"/>
            <a:ext cx="109728" cy="109728"/>
          </a:xfrm>
          <a:prstGeom prst="ellipse">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2148" y="4736592"/>
            <a:ext cx="274320" cy="182880"/>
          </a:xfrm>
          <a:prstGeom prst="rect">
            <a:avLst/>
          </a:prstGeom>
          <a:noFill/>
        </p:spPr>
        <p:txBody>
          <a:bodyPr wrap="square" anchor="t">
            <a:spAutoFit/>
          </a:bodyPr>
          <a:lstStyle/>
          <a:p>
            <a:pPr algn="ctr"/>
            <a:r>
              <a:rPr sz="800" b="1">
                <a:solidFill>
                  <a:srgbClr val="677486"/>
                </a:solidFill>
                <a:latin typeface="Aptos"/>
              </a:rPr>
              <a:t>5</a:t>
            </a:r>
          </a:p>
        </p:txBody>
      </p:sp>
      <p:sp>
        <p:nvSpPr>
          <p:cNvPr id="26" name="Oval 25"/>
          <p:cNvSpPr/>
          <p:nvPr/>
        </p:nvSpPr>
        <p:spPr>
          <a:xfrm>
            <a:off x="8677656" y="3789273"/>
            <a:ext cx="109728" cy="109728"/>
          </a:xfrm>
          <a:prstGeom prst="ellipse">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59368" y="4736592"/>
            <a:ext cx="274320" cy="182880"/>
          </a:xfrm>
          <a:prstGeom prst="rect">
            <a:avLst/>
          </a:prstGeom>
          <a:noFill/>
        </p:spPr>
        <p:txBody>
          <a:bodyPr wrap="square" anchor="t">
            <a:spAutoFit/>
          </a:bodyPr>
          <a:lstStyle/>
          <a:p>
            <a:pPr algn="ctr"/>
            <a:r>
              <a:rPr sz="800" b="1">
                <a:solidFill>
                  <a:srgbClr val="677486"/>
                </a:solidFill>
                <a:latin typeface="Aptos"/>
              </a:rPr>
              <a:t>6</a:t>
            </a:r>
          </a:p>
        </p:txBody>
      </p:sp>
      <p:sp>
        <p:nvSpPr>
          <p:cNvPr id="28" name="Oval 27"/>
          <p:cNvSpPr/>
          <p:nvPr/>
        </p:nvSpPr>
        <p:spPr>
          <a:xfrm>
            <a:off x="9294876" y="3891686"/>
            <a:ext cx="109728" cy="109728"/>
          </a:xfrm>
          <a:prstGeom prst="ellipse">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76588" y="4736592"/>
            <a:ext cx="274320" cy="182880"/>
          </a:xfrm>
          <a:prstGeom prst="rect">
            <a:avLst/>
          </a:prstGeom>
          <a:noFill/>
        </p:spPr>
        <p:txBody>
          <a:bodyPr wrap="square" anchor="t">
            <a:spAutoFit/>
          </a:bodyPr>
          <a:lstStyle/>
          <a:p>
            <a:pPr algn="ctr"/>
            <a:r>
              <a:rPr sz="800" b="1">
                <a:solidFill>
                  <a:srgbClr val="677486"/>
                </a:solidFill>
                <a:latin typeface="Aptos"/>
              </a:rPr>
              <a:t>7</a:t>
            </a:r>
          </a:p>
        </p:txBody>
      </p:sp>
      <p:sp>
        <p:nvSpPr>
          <p:cNvPr id="30" name="Oval 29"/>
          <p:cNvSpPr/>
          <p:nvPr/>
        </p:nvSpPr>
        <p:spPr>
          <a:xfrm>
            <a:off x="9912096" y="3968496"/>
            <a:ext cx="109728" cy="109728"/>
          </a:xfrm>
          <a:prstGeom prst="ellipse">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93808" y="4736592"/>
            <a:ext cx="274320" cy="182880"/>
          </a:xfrm>
          <a:prstGeom prst="rect">
            <a:avLst/>
          </a:prstGeom>
          <a:noFill/>
        </p:spPr>
        <p:txBody>
          <a:bodyPr wrap="square" anchor="t">
            <a:spAutoFit/>
          </a:bodyPr>
          <a:lstStyle/>
          <a:p>
            <a:pPr algn="ctr"/>
            <a:r>
              <a:rPr sz="800" b="1">
                <a:solidFill>
                  <a:srgbClr val="677486"/>
                </a:solidFill>
                <a:latin typeface="Aptos"/>
              </a:rPr>
              <a:t>8</a:t>
            </a:r>
          </a:p>
        </p:txBody>
      </p:sp>
      <p:sp>
        <p:nvSpPr>
          <p:cNvPr id="32" name="Oval 31"/>
          <p:cNvSpPr/>
          <p:nvPr/>
        </p:nvSpPr>
        <p:spPr>
          <a:xfrm>
            <a:off x="10529315" y="4019702"/>
            <a:ext cx="109728" cy="109728"/>
          </a:xfrm>
          <a:prstGeom prst="ellipse">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511028" y="4736592"/>
            <a:ext cx="274320" cy="182880"/>
          </a:xfrm>
          <a:prstGeom prst="rect">
            <a:avLst/>
          </a:prstGeom>
          <a:noFill/>
        </p:spPr>
        <p:txBody>
          <a:bodyPr wrap="square" anchor="t">
            <a:spAutoFit/>
          </a:bodyPr>
          <a:lstStyle/>
          <a:p>
            <a:pPr algn="ctr"/>
            <a:r>
              <a:rPr sz="800" b="1">
                <a:solidFill>
                  <a:srgbClr val="677486"/>
                </a:solidFill>
                <a:latin typeface="Aptos"/>
              </a:rPr>
              <a:t>9</a:t>
            </a:r>
          </a:p>
        </p:txBody>
      </p:sp>
      <p:sp>
        <p:nvSpPr>
          <p:cNvPr id="34" name="Oval 33"/>
          <p:cNvSpPr/>
          <p:nvPr/>
        </p:nvSpPr>
        <p:spPr>
          <a:xfrm>
            <a:off x="11146536" y="4070908"/>
            <a:ext cx="109728" cy="109728"/>
          </a:xfrm>
          <a:prstGeom prst="ellipse">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128248" y="4736592"/>
            <a:ext cx="274320" cy="182880"/>
          </a:xfrm>
          <a:prstGeom prst="rect">
            <a:avLst/>
          </a:prstGeom>
          <a:noFill/>
        </p:spPr>
        <p:txBody>
          <a:bodyPr wrap="square" anchor="t">
            <a:spAutoFit/>
          </a:bodyPr>
          <a:lstStyle/>
          <a:p>
            <a:pPr algn="ctr"/>
            <a:r>
              <a:rPr sz="800" b="1">
                <a:solidFill>
                  <a:srgbClr val="677486"/>
                </a:solidFill>
                <a:latin typeface="Aptos"/>
              </a:rPr>
              <a:t>10</a:t>
            </a:r>
          </a:p>
        </p:txBody>
      </p:sp>
      <p:sp>
        <p:nvSpPr>
          <p:cNvPr id="37" name="Rounded Rectangle 36"/>
          <p:cNvSpPr/>
          <p:nvPr/>
        </p:nvSpPr>
        <p:spPr>
          <a:xfrm>
            <a:off x="3911345" y="5035168"/>
            <a:ext cx="5321808" cy="1347826"/>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8" name="Rectangle 37"/>
          <p:cNvSpPr/>
          <p:nvPr/>
        </p:nvSpPr>
        <p:spPr>
          <a:xfrm>
            <a:off x="3866609" y="5035168"/>
            <a:ext cx="45719" cy="1347826"/>
          </a:xfrm>
          <a:prstGeom prst="rect">
            <a:avLst/>
          </a:prstGeom>
          <a:solidFill>
            <a:srgbClr val="EBB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95928" y="5074920"/>
            <a:ext cx="4937760" cy="338554"/>
          </a:xfrm>
          <a:prstGeom prst="rect">
            <a:avLst/>
          </a:prstGeom>
          <a:noFill/>
        </p:spPr>
        <p:txBody>
          <a:bodyPr wrap="square" anchor="t">
            <a:spAutoFit/>
          </a:bodyPr>
          <a:lstStyle/>
          <a:p>
            <a:pPr algn="l"/>
            <a:r>
              <a:rPr sz="1600" b="1" dirty="0">
                <a:solidFill>
                  <a:srgbClr val="101C30"/>
                </a:solidFill>
                <a:latin typeface="Aptos"/>
              </a:rPr>
              <a:t>Finding</a:t>
            </a:r>
          </a:p>
        </p:txBody>
      </p:sp>
      <p:sp>
        <p:nvSpPr>
          <p:cNvPr id="40" name="TextBox 39"/>
          <p:cNvSpPr txBox="1"/>
          <p:nvPr/>
        </p:nvSpPr>
        <p:spPr>
          <a:xfrm>
            <a:off x="4041648" y="5413474"/>
            <a:ext cx="4892040" cy="954107"/>
          </a:xfrm>
          <a:prstGeom prst="rect">
            <a:avLst/>
          </a:prstGeom>
          <a:noFill/>
        </p:spPr>
        <p:txBody>
          <a:bodyPr wrap="square" anchor="t">
            <a:spAutoFit/>
          </a:bodyPr>
          <a:lstStyle/>
          <a:p>
            <a:pPr algn="l"/>
            <a:r>
              <a:rPr sz="1400" b="0" dirty="0">
                <a:solidFill>
                  <a:srgbClr val="242E3C"/>
                </a:solidFill>
                <a:latin typeface="Aptos"/>
              </a:rPr>
              <a:t>Gaming is the dominant application category, followed closely by Other. The elbow curve flattens around k = 5; the notebook treats k = 5 as a reasonable candidate rather than a definitive optimum.</a:t>
            </a:r>
          </a:p>
        </p:txBody>
      </p:sp>
      <p:sp>
        <p:nvSpPr>
          <p:cNvPr id="41" name="TextBox 40"/>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42" name="TextBox 41"/>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5780" y="198042"/>
            <a:ext cx="7150608" cy="646331"/>
          </a:xfrm>
          <a:prstGeom prst="rect">
            <a:avLst/>
          </a:prstGeom>
          <a:noFill/>
        </p:spPr>
        <p:txBody>
          <a:bodyPr wrap="square">
            <a:spAutoFit/>
          </a:bodyPr>
          <a:lstStyle/>
          <a:p>
            <a:r>
              <a:rPr sz="3600" b="1" dirty="0">
                <a:solidFill>
                  <a:srgbClr val="101C30"/>
                </a:solidFill>
                <a:latin typeface="Aptos Display"/>
              </a:rPr>
              <a:t>User Experience Analytics</a:t>
            </a:r>
          </a:p>
        </p:txBody>
      </p:sp>
      <p:sp>
        <p:nvSpPr>
          <p:cNvPr id="4" name="TextBox 3"/>
          <p:cNvSpPr txBox="1"/>
          <p:nvPr/>
        </p:nvSpPr>
        <p:spPr>
          <a:xfrm>
            <a:off x="566928" y="850392"/>
            <a:ext cx="10881360" cy="347472"/>
          </a:xfrm>
          <a:prstGeom prst="rect">
            <a:avLst/>
          </a:prstGeom>
          <a:noFill/>
        </p:spPr>
        <p:txBody>
          <a:bodyPr wrap="none">
            <a:spAutoFit/>
          </a:bodyPr>
          <a:lstStyle/>
          <a:p>
            <a:r>
              <a:rPr sz="1050">
                <a:solidFill>
                  <a:srgbClr val="677486"/>
                </a:solidFill>
                <a:latin typeface="Aptos"/>
              </a:rPr>
              <a:t>Network experience is assessed using TCP retransmission, RTT and throughput</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417320"/>
            <a:ext cx="324612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417320"/>
            <a:ext cx="64008" cy="123444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572768"/>
            <a:ext cx="2926079" cy="274320"/>
          </a:xfrm>
          <a:prstGeom prst="rect">
            <a:avLst/>
          </a:prstGeom>
          <a:noFill/>
        </p:spPr>
        <p:txBody>
          <a:bodyPr wrap="square" anchor="t">
            <a:spAutoFit/>
          </a:bodyPr>
          <a:lstStyle/>
          <a:p>
            <a:pPr algn="l"/>
            <a:r>
              <a:rPr sz="1050" b="1">
                <a:solidFill>
                  <a:srgbClr val="677486"/>
                </a:solidFill>
                <a:latin typeface="Aptos"/>
              </a:rPr>
              <a:t>AVG TCP RETRANSMISSION</a:t>
            </a:r>
          </a:p>
        </p:txBody>
      </p:sp>
      <p:sp>
        <p:nvSpPr>
          <p:cNvPr id="9" name="TextBox 8"/>
          <p:cNvSpPr txBox="1"/>
          <p:nvPr/>
        </p:nvSpPr>
        <p:spPr>
          <a:xfrm>
            <a:off x="841247" y="1892808"/>
            <a:ext cx="2926079" cy="502920"/>
          </a:xfrm>
          <a:prstGeom prst="rect">
            <a:avLst/>
          </a:prstGeom>
          <a:noFill/>
        </p:spPr>
        <p:txBody>
          <a:bodyPr wrap="square" anchor="t">
            <a:spAutoFit/>
          </a:bodyPr>
          <a:lstStyle/>
          <a:p>
            <a:pPr algn="l"/>
            <a:r>
              <a:rPr sz="2300" b="1">
                <a:solidFill>
                  <a:srgbClr val="101C30"/>
                </a:solidFill>
                <a:latin typeface="Aptos Display"/>
              </a:rPr>
              <a:t>7.37M bytes</a:t>
            </a:r>
          </a:p>
        </p:txBody>
      </p:sp>
      <p:sp>
        <p:nvSpPr>
          <p:cNvPr id="10" name="TextBox 9"/>
          <p:cNvSpPr txBox="1"/>
          <p:nvPr/>
        </p:nvSpPr>
        <p:spPr>
          <a:xfrm>
            <a:off x="841247" y="2359152"/>
            <a:ext cx="2926079" cy="384048"/>
          </a:xfrm>
          <a:prstGeom prst="rect">
            <a:avLst/>
          </a:prstGeom>
          <a:noFill/>
        </p:spPr>
        <p:txBody>
          <a:bodyPr wrap="square" anchor="t">
            <a:spAutoFit/>
          </a:bodyPr>
          <a:lstStyle/>
          <a:p>
            <a:pPr algn="l"/>
            <a:r>
              <a:rPr sz="950" b="0" dirty="0">
                <a:solidFill>
                  <a:srgbClr val="677486"/>
                </a:solidFill>
                <a:latin typeface="Aptos"/>
              </a:rPr>
              <a:t>after outlier treatment</a:t>
            </a:r>
          </a:p>
        </p:txBody>
      </p:sp>
      <p:sp>
        <p:nvSpPr>
          <p:cNvPr id="11" name="Rounded Rectangle 10"/>
          <p:cNvSpPr/>
          <p:nvPr/>
        </p:nvSpPr>
        <p:spPr>
          <a:xfrm>
            <a:off x="4069080" y="1417320"/>
            <a:ext cx="324612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69080" y="1417320"/>
            <a:ext cx="64008" cy="123444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70248" y="1572768"/>
            <a:ext cx="2926079" cy="274320"/>
          </a:xfrm>
          <a:prstGeom prst="rect">
            <a:avLst/>
          </a:prstGeom>
          <a:noFill/>
        </p:spPr>
        <p:txBody>
          <a:bodyPr wrap="square" anchor="t">
            <a:spAutoFit/>
          </a:bodyPr>
          <a:lstStyle/>
          <a:p>
            <a:pPr algn="l"/>
            <a:r>
              <a:rPr sz="1050" b="1">
                <a:solidFill>
                  <a:srgbClr val="677486"/>
                </a:solidFill>
                <a:latin typeface="Aptos"/>
              </a:rPr>
              <a:t>AVG RTT</a:t>
            </a:r>
          </a:p>
        </p:txBody>
      </p:sp>
      <p:sp>
        <p:nvSpPr>
          <p:cNvPr id="14" name="TextBox 13"/>
          <p:cNvSpPr txBox="1"/>
          <p:nvPr/>
        </p:nvSpPr>
        <p:spPr>
          <a:xfrm>
            <a:off x="4270248" y="1892808"/>
            <a:ext cx="2926079" cy="502920"/>
          </a:xfrm>
          <a:prstGeom prst="rect">
            <a:avLst/>
          </a:prstGeom>
          <a:noFill/>
        </p:spPr>
        <p:txBody>
          <a:bodyPr wrap="square" anchor="t">
            <a:spAutoFit/>
          </a:bodyPr>
          <a:lstStyle/>
          <a:p>
            <a:pPr algn="l"/>
            <a:r>
              <a:rPr sz="2300" b="1">
                <a:solidFill>
                  <a:srgbClr val="101C30"/>
                </a:solidFill>
                <a:latin typeface="Aptos Display"/>
              </a:rPr>
              <a:t>≈42 ms</a:t>
            </a:r>
          </a:p>
        </p:txBody>
      </p:sp>
      <p:sp>
        <p:nvSpPr>
          <p:cNvPr id="15" name="TextBox 14"/>
          <p:cNvSpPr txBox="1"/>
          <p:nvPr/>
        </p:nvSpPr>
        <p:spPr>
          <a:xfrm>
            <a:off x="4270248" y="2390517"/>
            <a:ext cx="2926079" cy="384048"/>
          </a:xfrm>
          <a:prstGeom prst="rect">
            <a:avLst/>
          </a:prstGeom>
          <a:noFill/>
        </p:spPr>
        <p:txBody>
          <a:bodyPr wrap="square" anchor="t">
            <a:spAutoFit/>
          </a:bodyPr>
          <a:lstStyle/>
          <a:p>
            <a:pPr algn="l"/>
            <a:r>
              <a:rPr sz="950" b="0" dirty="0">
                <a:solidFill>
                  <a:srgbClr val="677486"/>
                </a:solidFill>
                <a:latin typeface="Aptos"/>
              </a:rPr>
              <a:t>customer-level result</a:t>
            </a:r>
          </a:p>
        </p:txBody>
      </p:sp>
      <p:sp>
        <p:nvSpPr>
          <p:cNvPr id="16" name="Rounded Rectangle 15"/>
          <p:cNvSpPr/>
          <p:nvPr/>
        </p:nvSpPr>
        <p:spPr>
          <a:xfrm>
            <a:off x="7498079" y="1417320"/>
            <a:ext cx="324612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498079" y="1417320"/>
            <a:ext cx="64008" cy="1234440"/>
          </a:xfrm>
          <a:prstGeom prst="rect">
            <a:avLst/>
          </a:prstGeom>
          <a:solidFill>
            <a:srgbClr val="46B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99248" y="1572768"/>
            <a:ext cx="2926079" cy="274320"/>
          </a:xfrm>
          <a:prstGeom prst="rect">
            <a:avLst/>
          </a:prstGeom>
          <a:noFill/>
        </p:spPr>
        <p:txBody>
          <a:bodyPr wrap="square" anchor="t">
            <a:spAutoFit/>
          </a:bodyPr>
          <a:lstStyle/>
          <a:p>
            <a:pPr algn="l"/>
            <a:r>
              <a:rPr sz="1050" b="1">
                <a:solidFill>
                  <a:srgbClr val="677486"/>
                </a:solidFill>
                <a:latin typeface="Aptos"/>
              </a:rPr>
              <a:t>AVG THROUGHPUT</a:t>
            </a:r>
          </a:p>
        </p:txBody>
      </p:sp>
      <p:sp>
        <p:nvSpPr>
          <p:cNvPr id="19" name="TextBox 18"/>
          <p:cNvSpPr txBox="1"/>
          <p:nvPr/>
        </p:nvSpPr>
        <p:spPr>
          <a:xfrm>
            <a:off x="7699248" y="1892808"/>
            <a:ext cx="2926079" cy="502920"/>
          </a:xfrm>
          <a:prstGeom prst="rect">
            <a:avLst/>
          </a:prstGeom>
          <a:noFill/>
        </p:spPr>
        <p:txBody>
          <a:bodyPr wrap="square" anchor="t">
            <a:spAutoFit/>
          </a:bodyPr>
          <a:lstStyle/>
          <a:p>
            <a:pPr algn="l"/>
            <a:r>
              <a:rPr sz="2300" b="1">
                <a:solidFill>
                  <a:srgbClr val="101C30"/>
                </a:solidFill>
                <a:latin typeface="Aptos Display"/>
              </a:rPr>
              <a:t>≈4.23 Mbps</a:t>
            </a:r>
          </a:p>
        </p:txBody>
      </p:sp>
      <p:sp>
        <p:nvSpPr>
          <p:cNvPr id="20" name="TextBox 19"/>
          <p:cNvSpPr txBox="1"/>
          <p:nvPr/>
        </p:nvSpPr>
        <p:spPr>
          <a:xfrm>
            <a:off x="7676388" y="2359152"/>
            <a:ext cx="2926079" cy="384048"/>
          </a:xfrm>
          <a:prstGeom prst="rect">
            <a:avLst/>
          </a:prstGeom>
          <a:noFill/>
        </p:spPr>
        <p:txBody>
          <a:bodyPr wrap="square" anchor="t">
            <a:spAutoFit/>
          </a:bodyPr>
          <a:lstStyle/>
          <a:p>
            <a:pPr algn="l"/>
            <a:r>
              <a:rPr sz="950" b="0" dirty="0">
                <a:solidFill>
                  <a:srgbClr val="677486"/>
                </a:solidFill>
                <a:latin typeface="Aptos"/>
              </a:rPr>
              <a:t>record-level outlier treatment</a:t>
            </a:r>
          </a:p>
        </p:txBody>
      </p:sp>
      <p:graphicFrame>
        <p:nvGraphicFramePr>
          <p:cNvPr id="21" name="Table 20"/>
          <p:cNvGraphicFramePr>
            <a:graphicFrameLocks noGrp="1"/>
          </p:cNvGraphicFramePr>
          <p:nvPr/>
        </p:nvGraphicFramePr>
        <p:xfrm>
          <a:off x="640080" y="3063240"/>
          <a:ext cx="6035040" cy="18288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57200">
                <a:tc>
                  <a:txBody>
                    <a:bodyPr/>
                    <a:lstStyle/>
                    <a:p>
                      <a:pPr>
                        <a:defRPr sz="950" b="1">
                          <a:solidFill>
                            <a:srgbClr val="FFFFFF"/>
                          </a:solidFill>
                          <a:latin typeface="Aptos"/>
                        </a:defRPr>
                      </a:pPr>
                      <a:r>
                        <a:t>Metric</a:t>
                      </a:r>
                    </a:p>
                  </a:txBody>
                  <a:tcPr marL="54864" marR="54864" marT="27432" marB="27432">
                    <a:solidFill>
                      <a:srgbClr val="101C30"/>
                    </a:solidFill>
                  </a:tcPr>
                </a:tc>
                <a:tc>
                  <a:txBody>
                    <a:bodyPr/>
                    <a:lstStyle/>
                    <a:p>
                      <a:pPr>
                        <a:defRPr sz="950" b="1">
                          <a:solidFill>
                            <a:srgbClr val="FFFFFF"/>
                          </a:solidFill>
                          <a:latin typeface="Aptos"/>
                        </a:defRPr>
                      </a:pPr>
                      <a:r>
                        <a:t>Outliers</a:t>
                      </a:r>
                    </a:p>
                  </a:txBody>
                  <a:tcPr marL="54864" marR="54864" marT="27432" marB="27432">
                    <a:solidFill>
                      <a:srgbClr val="101C30"/>
                    </a:solidFill>
                  </a:tcPr>
                </a:tc>
                <a:tc>
                  <a:txBody>
                    <a:bodyPr/>
                    <a:lstStyle/>
                    <a:p>
                      <a:pPr>
                        <a:defRPr sz="950" b="1">
                          <a:solidFill>
                            <a:srgbClr val="FFFFFF"/>
                          </a:solidFill>
                          <a:latin typeface="Aptos"/>
                        </a:defRPr>
                      </a:pPr>
                      <a:r>
                        <a:t>Share</a:t>
                      </a:r>
                    </a:p>
                  </a:txBody>
                  <a:tcPr marL="54864" marR="54864" marT="27432" marB="27432">
                    <a:solidFill>
                      <a:srgbClr val="101C30"/>
                    </a:solidFill>
                  </a:tcPr>
                </a:tc>
                <a:tc>
                  <a:txBody>
                    <a:bodyPr/>
                    <a:lstStyle/>
                    <a:p>
                      <a:pPr>
                        <a:defRPr sz="950" b="1">
                          <a:solidFill>
                            <a:srgbClr val="FFFFFF"/>
                          </a:solidFill>
                          <a:latin typeface="Aptos"/>
                        </a:defRPr>
                      </a:pPr>
                      <a:r>
                        <a:t>Replacement mean</a:t>
                      </a:r>
                    </a:p>
                  </a:txBody>
                  <a:tcPr marL="54864" marR="54864" marT="27432" marB="27432">
                    <a:solidFill>
                      <a:srgbClr val="101C30"/>
                    </a:solidFill>
                  </a:tcPr>
                </a:tc>
                <a:extLst>
                  <a:ext uri="{0D108BD9-81ED-4DB2-BD59-A6C34878D82A}">
                    <a16:rowId xmlns:a16="http://schemas.microsoft.com/office/drawing/2014/main" val="10000"/>
                  </a:ext>
                </a:extLst>
              </a:tr>
              <a:tr h="457200">
                <a:tc>
                  <a:txBody>
                    <a:bodyPr/>
                    <a:lstStyle/>
                    <a:p>
                      <a:pPr>
                        <a:defRPr sz="950" b="0">
                          <a:solidFill>
                            <a:srgbClr val="242E3C"/>
                          </a:solidFill>
                          <a:latin typeface="Aptos"/>
                        </a:defRPr>
                      </a:pPr>
                      <a:r>
                        <a:t>TCP retransmission</a:t>
                      </a:r>
                    </a:p>
                  </a:txBody>
                  <a:tcPr marL="54864" marR="54864" marT="27432" marB="27432">
                    <a:solidFill>
                      <a:srgbClr val="FFFFFF"/>
                    </a:solidFill>
                  </a:tcPr>
                </a:tc>
                <a:tc>
                  <a:txBody>
                    <a:bodyPr/>
                    <a:lstStyle/>
                    <a:p>
                      <a:pPr>
                        <a:defRPr sz="950" b="0">
                          <a:solidFill>
                            <a:srgbClr val="242E3C"/>
                          </a:solidFill>
                          <a:latin typeface="Aptos"/>
                        </a:defRPr>
                      </a:pPr>
                      <a:r>
                        <a:t>2,581</a:t>
                      </a:r>
                    </a:p>
                  </a:txBody>
                  <a:tcPr marL="54864" marR="54864" marT="27432" marB="27432">
                    <a:solidFill>
                      <a:srgbClr val="FFFFFF"/>
                    </a:solidFill>
                  </a:tcPr>
                </a:tc>
                <a:tc>
                  <a:txBody>
                    <a:bodyPr/>
                    <a:lstStyle/>
                    <a:p>
                      <a:pPr>
                        <a:defRPr sz="950" b="0">
                          <a:solidFill>
                            <a:srgbClr val="242E3C"/>
                          </a:solidFill>
                          <a:latin typeface="Aptos"/>
                        </a:defRPr>
                      </a:pPr>
                      <a:r>
                        <a:t>1.72%</a:t>
                      </a:r>
                    </a:p>
                  </a:txBody>
                  <a:tcPr marL="54864" marR="54864" marT="27432" marB="27432">
                    <a:solidFill>
                      <a:srgbClr val="FFFFFF"/>
                    </a:solidFill>
                  </a:tcPr>
                </a:tc>
                <a:tc>
                  <a:txBody>
                    <a:bodyPr/>
                    <a:lstStyle/>
                    <a:p>
                      <a:pPr>
                        <a:defRPr sz="950" b="0">
                          <a:solidFill>
                            <a:srgbClr val="242E3C"/>
                          </a:solidFill>
                          <a:latin typeface="Aptos"/>
                        </a:defRPr>
                      </a:pPr>
                      <a:r>
                        <a:t>7.20M</a:t>
                      </a:r>
                    </a:p>
                  </a:txBody>
                  <a:tcPr marL="54864" marR="54864" marT="27432" marB="27432">
                    <a:solidFill>
                      <a:srgbClr val="FFFFFF"/>
                    </a:solidFill>
                  </a:tcPr>
                </a:tc>
                <a:extLst>
                  <a:ext uri="{0D108BD9-81ED-4DB2-BD59-A6C34878D82A}">
                    <a16:rowId xmlns:a16="http://schemas.microsoft.com/office/drawing/2014/main" val="10001"/>
                  </a:ext>
                </a:extLst>
              </a:tr>
              <a:tr h="457200">
                <a:tc>
                  <a:txBody>
                    <a:bodyPr/>
                    <a:lstStyle/>
                    <a:p>
                      <a:pPr>
                        <a:defRPr sz="950" b="0">
                          <a:solidFill>
                            <a:srgbClr val="242E3C"/>
                          </a:solidFill>
                          <a:latin typeface="Aptos"/>
                        </a:defRPr>
                      </a:pPr>
                      <a:r>
                        <a:t>RTT</a:t>
                      </a:r>
                    </a:p>
                  </a:txBody>
                  <a:tcPr marL="54864" marR="54864" marT="27432" marB="27432">
                    <a:solidFill>
                      <a:srgbClr val="F2F5F8"/>
                    </a:solidFill>
                  </a:tcPr>
                </a:tc>
                <a:tc>
                  <a:txBody>
                    <a:bodyPr/>
                    <a:lstStyle/>
                    <a:p>
                      <a:pPr>
                        <a:defRPr sz="950" b="0">
                          <a:solidFill>
                            <a:srgbClr val="242E3C"/>
                          </a:solidFill>
                          <a:latin typeface="Aptos"/>
                        </a:defRPr>
                      </a:pPr>
                      <a:r>
                        <a:t>8,012</a:t>
                      </a:r>
                    </a:p>
                  </a:txBody>
                  <a:tcPr marL="54864" marR="54864" marT="27432" marB="27432">
                    <a:solidFill>
                      <a:srgbClr val="F2F5F8"/>
                    </a:solidFill>
                  </a:tcPr>
                </a:tc>
                <a:tc>
                  <a:txBody>
                    <a:bodyPr/>
                    <a:lstStyle/>
                    <a:p>
                      <a:pPr>
                        <a:defRPr sz="950" b="0">
                          <a:solidFill>
                            <a:srgbClr val="242E3C"/>
                          </a:solidFill>
                          <a:latin typeface="Aptos"/>
                        </a:defRPr>
                      </a:pPr>
                      <a:r>
                        <a:t>5.34%</a:t>
                      </a:r>
                    </a:p>
                  </a:txBody>
                  <a:tcPr marL="54864" marR="54864" marT="27432" marB="27432">
                    <a:solidFill>
                      <a:srgbClr val="F2F5F8"/>
                    </a:solidFill>
                  </a:tcPr>
                </a:tc>
                <a:tc>
                  <a:txBody>
                    <a:bodyPr/>
                    <a:lstStyle/>
                    <a:p>
                      <a:pPr>
                        <a:defRPr sz="950" b="0">
                          <a:solidFill>
                            <a:srgbClr val="242E3C"/>
                          </a:solidFill>
                          <a:latin typeface="Aptos"/>
                        </a:defRPr>
                      </a:pPr>
                      <a:r>
                        <a:t>39.33 ms</a:t>
                      </a:r>
                    </a:p>
                  </a:txBody>
                  <a:tcPr marL="54864" marR="54864" marT="27432" marB="27432">
                    <a:solidFill>
                      <a:srgbClr val="F2F5F8"/>
                    </a:solidFill>
                  </a:tcPr>
                </a:tc>
                <a:extLst>
                  <a:ext uri="{0D108BD9-81ED-4DB2-BD59-A6C34878D82A}">
                    <a16:rowId xmlns:a16="http://schemas.microsoft.com/office/drawing/2014/main" val="10002"/>
                  </a:ext>
                </a:extLst>
              </a:tr>
              <a:tr h="457200">
                <a:tc>
                  <a:txBody>
                    <a:bodyPr/>
                    <a:lstStyle/>
                    <a:p>
                      <a:pPr>
                        <a:defRPr sz="950" b="0">
                          <a:solidFill>
                            <a:srgbClr val="242E3C"/>
                          </a:solidFill>
                          <a:latin typeface="Aptos"/>
                        </a:defRPr>
                      </a:pPr>
                      <a:r>
                        <a:t>Throughput</a:t>
                      </a:r>
                    </a:p>
                  </a:txBody>
                  <a:tcPr marL="54864" marR="54864" marT="27432" marB="27432">
                    <a:solidFill>
                      <a:srgbClr val="FFFFFF"/>
                    </a:solidFill>
                  </a:tcPr>
                </a:tc>
                <a:tc>
                  <a:txBody>
                    <a:bodyPr/>
                    <a:lstStyle/>
                    <a:p>
                      <a:pPr>
                        <a:defRPr sz="950" b="0">
                          <a:solidFill>
                            <a:srgbClr val="242E3C"/>
                          </a:solidFill>
                          <a:latin typeface="Aptos"/>
                        </a:defRPr>
                      </a:pPr>
                      <a:r>
                        <a:t>13,251</a:t>
                      </a:r>
                    </a:p>
                  </a:txBody>
                  <a:tcPr marL="54864" marR="54864" marT="27432" marB="27432">
                    <a:solidFill>
                      <a:srgbClr val="FFFFFF"/>
                    </a:solidFill>
                  </a:tcPr>
                </a:tc>
                <a:tc>
                  <a:txBody>
                    <a:bodyPr/>
                    <a:lstStyle/>
                    <a:p>
                      <a:pPr>
                        <a:defRPr sz="950" b="0">
                          <a:solidFill>
                            <a:srgbClr val="242E3C"/>
                          </a:solidFill>
                          <a:latin typeface="Aptos"/>
                        </a:defRPr>
                      </a:pPr>
                      <a:r>
                        <a:t>8.83%</a:t>
                      </a:r>
                    </a:p>
                  </a:txBody>
                  <a:tcPr marL="54864" marR="54864" marT="27432" marB="27432">
                    <a:solidFill>
                      <a:srgbClr val="FFFFFF"/>
                    </a:solidFill>
                  </a:tcPr>
                </a:tc>
                <a:tc>
                  <a:txBody>
                    <a:bodyPr/>
                    <a:lstStyle/>
                    <a:p>
                      <a:pPr>
                        <a:defRPr sz="950" b="0">
                          <a:solidFill>
                            <a:srgbClr val="242E3C"/>
                          </a:solidFill>
                          <a:latin typeface="Aptos"/>
                        </a:defRPr>
                      </a:pPr>
                      <a:r>
                        <a:t>4,234.76 kbps</a:t>
                      </a:r>
                    </a:p>
                  </a:txBody>
                  <a:tcPr marL="54864" marR="54864" marT="27432" marB="27432">
                    <a:solidFill>
                      <a:srgbClr val="FFFFFF"/>
                    </a:solidFill>
                  </a:tcPr>
                </a:tc>
                <a:extLst>
                  <a:ext uri="{0D108BD9-81ED-4DB2-BD59-A6C34878D82A}">
                    <a16:rowId xmlns:a16="http://schemas.microsoft.com/office/drawing/2014/main" val="10003"/>
                  </a:ext>
                </a:extLst>
              </a:tr>
            </a:tbl>
          </a:graphicData>
        </a:graphic>
      </p:graphicFrame>
      <p:sp>
        <p:nvSpPr>
          <p:cNvPr id="22" name="Rounded Rectangle 21"/>
          <p:cNvSpPr/>
          <p:nvPr/>
        </p:nvSpPr>
        <p:spPr>
          <a:xfrm>
            <a:off x="7452360" y="3063240"/>
            <a:ext cx="3291840" cy="182880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452360" y="3063240"/>
            <a:ext cx="73152" cy="1828800"/>
          </a:xfrm>
          <a:prstGeom prst="rect">
            <a:avLst/>
          </a:prstGeom>
          <a:solidFill>
            <a:srgbClr val="36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35240" y="3200400"/>
            <a:ext cx="3017520" cy="338554"/>
          </a:xfrm>
          <a:prstGeom prst="rect">
            <a:avLst/>
          </a:prstGeom>
          <a:noFill/>
        </p:spPr>
        <p:txBody>
          <a:bodyPr wrap="square" anchor="t">
            <a:spAutoFit/>
          </a:bodyPr>
          <a:lstStyle/>
          <a:p>
            <a:pPr algn="l"/>
            <a:r>
              <a:rPr sz="1600" b="1" dirty="0">
                <a:solidFill>
                  <a:srgbClr val="101C30"/>
                </a:solidFill>
                <a:latin typeface="Aptos"/>
              </a:rPr>
              <a:t>Interpretation</a:t>
            </a:r>
          </a:p>
        </p:txBody>
      </p:sp>
      <p:sp>
        <p:nvSpPr>
          <p:cNvPr id="25" name="TextBox 24"/>
          <p:cNvSpPr txBox="1"/>
          <p:nvPr/>
        </p:nvSpPr>
        <p:spPr>
          <a:xfrm>
            <a:off x="7635240" y="3547872"/>
            <a:ext cx="2971800" cy="1234440"/>
          </a:xfrm>
          <a:prstGeom prst="rect">
            <a:avLst/>
          </a:prstGeom>
          <a:noFill/>
        </p:spPr>
        <p:txBody>
          <a:bodyPr wrap="square" anchor="t">
            <a:spAutoFit/>
          </a:bodyPr>
          <a:lstStyle/>
          <a:p>
            <a:pPr algn="l"/>
            <a:r>
              <a:rPr sz="1200" b="0" dirty="0">
                <a:solidFill>
                  <a:srgbClr val="242E3C"/>
                </a:solidFill>
                <a:latin typeface="Aptos"/>
              </a:rPr>
              <a:t>The experience variables have very different scales and dispersion. Standardization before K-Means is therefore essential so TCP retransmission does not dominate the clustering solely because of its numerical magnitude</a:t>
            </a:r>
            <a:r>
              <a:rPr sz="1050" b="0" dirty="0">
                <a:solidFill>
                  <a:srgbClr val="242E3C"/>
                </a:solidFill>
                <a:latin typeface="Aptos"/>
              </a:rPr>
              <a:t>.</a:t>
            </a:r>
          </a:p>
        </p:txBody>
      </p:sp>
      <p:sp>
        <p:nvSpPr>
          <p:cNvPr id="26" name="TextBox 25"/>
          <p:cNvSpPr txBox="1"/>
          <p:nvPr/>
        </p:nvSpPr>
        <p:spPr>
          <a:xfrm>
            <a:off x="658367" y="5257800"/>
            <a:ext cx="4867361" cy="338554"/>
          </a:xfrm>
          <a:prstGeom prst="rect">
            <a:avLst/>
          </a:prstGeom>
          <a:noFill/>
        </p:spPr>
        <p:txBody>
          <a:bodyPr wrap="square" anchor="t">
            <a:spAutoFit/>
          </a:bodyPr>
          <a:lstStyle/>
          <a:p>
            <a:pPr algn="l"/>
            <a:r>
              <a:rPr sz="1600" b="1" dirty="0">
                <a:solidFill>
                  <a:srgbClr val="677486"/>
                </a:solidFill>
                <a:latin typeface="Aptos"/>
              </a:rPr>
              <a:t>Customer-level aggregation: 106,857 customers</a:t>
            </a:r>
          </a:p>
        </p:txBody>
      </p:sp>
      <p:sp>
        <p:nvSpPr>
          <p:cNvPr id="27" name="TextBox 26"/>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28" name="TextBox 27"/>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9814" y="223796"/>
            <a:ext cx="5773502" cy="646331"/>
          </a:xfrm>
          <a:prstGeom prst="rect">
            <a:avLst/>
          </a:prstGeom>
          <a:noFill/>
        </p:spPr>
        <p:txBody>
          <a:bodyPr wrap="square">
            <a:spAutoFit/>
          </a:bodyPr>
          <a:lstStyle/>
          <a:p>
            <a:r>
              <a:rPr sz="3600" b="1" dirty="0">
                <a:solidFill>
                  <a:srgbClr val="101C30"/>
                </a:solidFill>
                <a:latin typeface="Aptos Display"/>
              </a:rPr>
              <a:t>Experience by Handset</a:t>
            </a:r>
          </a:p>
        </p:txBody>
      </p:sp>
      <p:sp>
        <p:nvSpPr>
          <p:cNvPr id="4" name="TextBox 3"/>
          <p:cNvSpPr txBox="1"/>
          <p:nvPr/>
        </p:nvSpPr>
        <p:spPr>
          <a:xfrm>
            <a:off x="566928" y="850392"/>
            <a:ext cx="10881360" cy="347472"/>
          </a:xfrm>
          <a:prstGeom prst="rect">
            <a:avLst/>
          </a:prstGeom>
          <a:noFill/>
        </p:spPr>
        <p:txBody>
          <a:bodyPr wrap="none">
            <a:spAutoFit/>
          </a:bodyPr>
          <a:lstStyle/>
          <a:p>
            <a:r>
              <a:rPr sz="1050">
                <a:solidFill>
                  <a:srgbClr val="677486"/>
                </a:solidFill>
                <a:latin typeface="Aptos"/>
              </a:rPr>
              <a:t>Observed handset performance varies substantially across models</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417320"/>
            <a:ext cx="3383280" cy="11887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417320"/>
            <a:ext cx="64008" cy="118872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572768"/>
            <a:ext cx="3063240" cy="274320"/>
          </a:xfrm>
          <a:prstGeom prst="rect">
            <a:avLst/>
          </a:prstGeom>
          <a:noFill/>
        </p:spPr>
        <p:txBody>
          <a:bodyPr wrap="square" anchor="t">
            <a:spAutoFit/>
          </a:bodyPr>
          <a:lstStyle/>
          <a:p>
            <a:pPr algn="l"/>
            <a:r>
              <a:rPr sz="1050" b="1">
                <a:solidFill>
                  <a:srgbClr val="677486"/>
                </a:solidFill>
                <a:latin typeface="Aptos"/>
              </a:rPr>
              <a:t>TOP THROUGHPUT HANDSET</a:t>
            </a:r>
          </a:p>
        </p:txBody>
      </p:sp>
      <p:sp>
        <p:nvSpPr>
          <p:cNvPr id="9" name="TextBox 8"/>
          <p:cNvSpPr txBox="1"/>
          <p:nvPr/>
        </p:nvSpPr>
        <p:spPr>
          <a:xfrm>
            <a:off x="832104" y="1778508"/>
            <a:ext cx="3063240" cy="502920"/>
          </a:xfrm>
          <a:prstGeom prst="rect">
            <a:avLst/>
          </a:prstGeom>
          <a:noFill/>
        </p:spPr>
        <p:txBody>
          <a:bodyPr wrap="square" anchor="t">
            <a:spAutoFit/>
          </a:bodyPr>
          <a:lstStyle/>
          <a:p>
            <a:pPr algn="l"/>
            <a:r>
              <a:rPr sz="2300" b="1" dirty="0" err="1">
                <a:solidFill>
                  <a:srgbClr val="101C30"/>
                </a:solidFill>
                <a:latin typeface="Aptos Display"/>
              </a:rPr>
              <a:t>Tecno</a:t>
            </a:r>
            <a:r>
              <a:rPr sz="2300" b="1" dirty="0">
                <a:solidFill>
                  <a:srgbClr val="101C30"/>
                </a:solidFill>
                <a:latin typeface="Aptos Display"/>
              </a:rPr>
              <a:t> H. Phantom6 Plus</a:t>
            </a:r>
          </a:p>
        </p:txBody>
      </p:sp>
      <p:sp>
        <p:nvSpPr>
          <p:cNvPr id="10" name="TextBox 9"/>
          <p:cNvSpPr txBox="1"/>
          <p:nvPr/>
        </p:nvSpPr>
        <p:spPr>
          <a:xfrm>
            <a:off x="841247" y="2414016"/>
            <a:ext cx="3063240" cy="384048"/>
          </a:xfrm>
          <a:prstGeom prst="rect">
            <a:avLst/>
          </a:prstGeom>
          <a:noFill/>
        </p:spPr>
        <p:txBody>
          <a:bodyPr wrap="square" anchor="t">
            <a:spAutoFit/>
          </a:bodyPr>
          <a:lstStyle/>
          <a:p>
            <a:pPr algn="l"/>
            <a:r>
              <a:rPr sz="950" b="0" dirty="0">
                <a:solidFill>
                  <a:srgbClr val="677486"/>
                </a:solidFill>
                <a:latin typeface="Aptos"/>
              </a:rPr>
              <a:t>≈27,099 kbps</a:t>
            </a:r>
          </a:p>
        </p:txBody>
      </p:sp>
      <p:sp>
        <p:nvSpPr>
          <p:cNvPr id="11" name="Rounded Rectangle 10"/>
          <p:cNvSpPr/>
          <p:nvPr/>
        </p:nvSpPr>
        <p:spPr>
          <a:xfrm>
            <a:off x="4251960" y="1417320"/>
            <a:ext cx="3383280" cy="11887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417320"/>
            <a:ext cx="64008" cy="118872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53128" y="1572768"/>
            <a:ext cx="3063240" cy="274320"/>
          </a:xfrm>
          <a:prstGeom prst="rect">
            <a:avLst/>
          </a:prstGeom>
          <a:noFill/>
        </p:spPr>
        <p:txBody>
          <a:bodyPr wrap="square" anchor="t">
            <a:spAutoFit/>
          </a:bodyPr>
          <a:lstStyle/>
          <a:p>
            <a:pPr algn="l"/>
            <a:r>
              <a:rPr sz="1050" b="1">
                <a:solidFill>
                  <a:srgbClr val="677486"/>
                </a:solidFill>
                <a:latin typeface="Aptos"/>
              </a:rPr>
              <a:t>LOWEST THROUGHPUT GROUP</a:t>
            </a:r>
          </a:p>
        </p:txBody>
      </p:sp>
      <p:sp>
        <p:nvSpPr>
          <p:cNvPr id="14" name="TextBox 13"/>
          <p:cNvSpPr txBox="1"/>
          <p:nvPr/>
        </p:nvSpPr>
        <p:spPr>
          <a:xfrm>
            <a:off x="4443984" y="1792224"/>
            <a:ext cx="3063240" cy="502920"/>
          </a:xfrm>
          <a:prstGeom prst="rect">
            <a:avLst/>
          </a:prstGeom>
          <a:noFill/>
        </p:spPr>
        <p:txBody>
          <a:bodyPr wrap="square" anchor="t">
            <a:spAutoFit/>
          </a:bodyPr>
          <a:lstStyle/>
          <a:p>
            <a:pPr algn="l"/>
            <a:r>
              <a:rPr sz="2300" b="1" dirty="0">
                <a:solidFill>
                  <a:srgbClr val="101C30"/>
                </a:solidFill>
                <a:latin typeface="Aptos Display"/>
              </a:rPr>
              <a:t>mostly ≤1.5 kbps</a:t>
            </a:r>
          </a:p>
        </p:txBody>
      </p:sp>
      <p:sp>
        <p:nvSpPr>
          <p:cNvPr id="15" name="TextBox 14"/>
          <p:cNvSpPr txBox="1"/>
          <p:nvPr/>
        </p:nvSpPr>
        <p:spPr>
          <a:xfrm>
            <a:off x="4453128" y="2354580"/>
            <a:ext cx="3063240" cy="384048"/>
          </a:xfrm>
          <a:prstGeom prst="rect">
            <a:avLst/>
          </a:prstGeom>
          <a:noFill/>
        </p:spPr>
        <p:txBody>
          <a:bodyPr wrap="square" anchor="t">
            <a:spAutoFit/>
          </a:bodyPr>
          <a:lstStyle/>
          <a:p>
            <a:pPr algn="l"/>
            <a:r>
              <a:rPr sz="950" b="0" dirty="0">
                <a:solidFill>
                  <a:srgbClr val="677486"/>
                </a:solidFill>
                <a:latin typeface="Aptos"/>
              </a:rPr>
              <a:t>bottom 10 handset types</a:t>
            </a:r>
          </a:p>
        </p:txBody>
      </p:sp>
      <p:sp>
        <p:nvSpPr>
          <p:cNvPr id="16" name="Rounded Rectangle 15"/>
          <p:cNvSpPr/>
          <p:nvPr/>
        </p:nvSpPr>
        <p:spPr>
          <a:xfrm>
            <a:off x="7863840" y="1417320"/>
            <a:ext cx="3383280" cy="11887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863840" y="1417320"/>
            <a:ext cx="64008" cy="1188720"/>
          </a:xfrm>
          <a:prstGeom prst="rect">
            <a:avLst/>
          </a:prstGeom>
          <a:solidFill>
            <a:srgbClr val="CD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65008" y="1572768"/>
            <a:ext cx="3063240" cy="274320"/>
          </a:xfrm>
          <a:prstGeom prst="rect">
            <a:avLst/>
          </a:prstGeom>
          <a:noFill/>
        </p:spPr>
        <p:txBody>
          <a:bodyPr wrap="square" anchor="t">
            <a:spAutoFit/>
          </a:bodyPr>
          <a:lstStyle/>
          <a:p>
            <a:pPr algn="l"/>
            <a:r>
              <a:rPr sz="1050" b="1">
                <a:solidFill>
                  <a:srgbClr val="677486"/>
                </a:solidFill>
                <a:latin typeface="Aptos"/>
              </a:rPr>
              <a:t>TOP TCP RETRANSMISSION</a:t>
            </a:r>
          </a:p>
        </p:txBody>
      </p:sp>
      <p:sp>
        <p:nvSpPr>
          <p:cNvPr id="19" name="TextBox 18"/>
          <p:cNvSpPr txBox="1"/>
          <p:nvPr/>
        </p:nvSpPr>
        <p:spPr>
          <a:xfrm>
            <a:off x="8065008" y="1755648"/>
            <a:ext cx="3063240" cy="502920"/>
          </a:xfrm>
          <a:prstGeom prst="rect">
            <a:avLst/>
          </a:prstGeom>
          <a:noFill/>
        </p:spPr>
        <p:txBody>
          <a:bodyPr wrap="square" anchor="t">
            <a:spAutoFit/>
          </a:bodyPr>
          <a:lstStyle/>
          <a:p>
            <a:pPr algn="l"/>
            <a:r>
              <a:rPr sz="2300" b="1" dirty="0">
                <a:solidFill>
                  <a:srgbClr val="101C30"/>
                </a:solidFill>
                <a:latin typeface="Aptos Display"/>
              </a:rPr>
              <a:t>Samsung Galaxy Core 2</a:t>
            </a:r>
          </a:p>
        </p:txBody>
      </p:sp>
      <p:sp>
        <p:nvSpPr>
          <p:cNvPr id="20" name="TextBox 19"/>
          <p:cNvSpPr txBox="1"/>
          <p:nvPr/>
        </p:nvSpPr>
        <p:spPr>
          <a:xfrm>
            <a:off x="8065008" y="2395728"/>
            <a:ext cx="3063240" cy="384048"/>
          </a:xfrm>
          <a:prstGeom prst="rect">
            <a:avLst/>
          </a:prstGeom>
          <a:noFill/>
        </p:spPr>
        <p:txBody>
          <a:bodyPr wrap="square" anchor="t">
            <a:spAutoFit/>
          </a:bodyPr>
          <a:lstStyle/>
          <a:p>
            <a:pPr algn="l"/>
            <a:r>
              <a:rPr sz="950" b="0" dirty="0">
                <a:solidFill>
                  <a:srgbClr val="677486"/>
                </a:solidFill>
                <a:latin typeface="Aptos"/>
              </a:rPr>
              <a:t>≈23.28M bytes</a:t>
            </a:r>
          </a:p>
        </p:txBody>
      </p:sp>
      <p:graphicFrame>
        <p:nvGraphicFramePr>
          <p:cNvPr id="21" name="Chart 20"/>
          <p:cNvGraphicFramePr>
            <a:graphicFrameLocks noGrp="1"/>
          </p:cNvGraphicFramePr>
          <p:nvPr>
            <p:extLst>
              <p:ext uri="{D42A27DB-BD31-4B8C-83A1-F6EECF244321}">
                <p14:modId xmlns:p14="http://schemas.microsoft.com/office/powerpoint/2010/main" val="1085566903"/>
              </p:ext>
            </p:extLst>
          </p:nvPr>
        </p:nvGraphicFramePr>
        <p:xfrm>
          <a:off x="640080" y="2926080"/>
          <a:ext cx="5303520" cy="308152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Chart 21"/>
          <p:cNvGraphicFramePr>
            <a:graphicFrameLocks noGrp="1"/>
          </p:cNvGraphicFramePr>
          <p:nvPr>
            <p:extLst>
              <p:ext uri="{D42A27DB-BD31-4B8C-83A1-F6EECF244321}">
                <p14:modId xmlns:p14="http://schemas.microsoft.com/office/powerpoint/2010/main" val="2035965287"/>
              </p:ext>
            </p:extLst>
          </p:nvPr>
        </p:nvGraphicFramePr>
        <p:xfrm>
          <a:off x="6172200" y="2926080"/>
          <a:ext cx="530352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Box 22"/>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24" name="TextBox 23"/>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9798"/>
            <a:ext cx="7464650" cy="646331"/>
          </a:xfrm>
          <a:prstGeom prst="rect">
            <a:avLst/>
          </a:prstGeom>
          <a:noFill/>
        </p:spPr>
        <p:txBody>
          <a:bodyPr wrap="square">
            <a:spAutoFit/>
          </a:bodyPr>
          <a:lstStyle/>
          <a:p>
            <a:r>
              <a:rPr sz="3600" b="1" dirty="0">
                <a:solidFill>
                  <a:srgbClr val="101C30"/>
                </a:solidFill>
                <a:latin typeface="Aptos Display"/>
              </a:rPr>
              <a:t>Experience Segmentation (K = 3)</a:t>
            </a:r>
          </a:p>
        </p:txBody>
      </p:sp>
      <p:sp>
        <p:nvSpPr>
          <p:cNvPr id="4" name="TextBox 3"/>
          <p:cNvSpPr txBox="1"/>
          <p:nvPr/>
        </p:nvSpPr>
        <p:spPr>
          <a:xfrm>
            <a:off x="566928" y="850392"/>
            <a:ext cx="10881360" cy="347472"/>
          </a:xfrm>
          <a:prstGeom prst="rect">
            <a:avLst/>
          </a:prstGeom>
          <a:noFill/>
        </p:spPr>
        <p:txBody>
          <a:bodyPr wrap="none">
            <a:spAutoFit/>
          </a:bodyPr>
          <a:lstStyle/>
          <a:p>
            <a:r>
              <a:rPr sz="1050">
                <a:solidFill>
                  <a:srgbClr val="677486"/>
                </a:solidFill>
                <a:latin typeface="Aptos"/>
              </a:rPr>
              <a:t>Three groups emerge from standardized TCP, RTT and throughput</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40080" y="1417320"/>
          <a:ext cx="9418320" cy="20116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502920">
                <a:tc>
                  <a:txBody>
                    <a:bodyPr/>
                    <a:lstStyle/>
                    <a:p>
                      <a:pPr>
                        <a:defRPr sz="950" b="1">
                          <a:solidFill>
                            <a:srgbClr val="FFFFFF"/>
                          </a:solidFill>
                          <a:latin typeface="Aptos"/>
                        </a:defRPr>
                      </a:pPr>
                      <a:r>
                        <a:t>Experience</a:t>
                      </a:r>
                    </a:p>
                  </a:txBody>
                  <a:tcPr marL="54864" marR="54864" marT="27432" marB="27432">
                    <a:solidFill>
                      <a:srgbClr val="101C30"/>
                    </a:solidFill>
                  </a:tcPr>
                </a:tc>
                <a:tc>
                  <a:txBody>
                    <a:bodyPr/>
                    <a:lstStyle/>
                    <a:p>
                      <a:pPr>
                        <a:defRPr sz="950" b="1">
                          <a:solidFill>
                            <a:srgbClr val="FFFFFF"/>
                          </a:solidFill>
                          <a:latin typeface="Aptos"/>
                        </a:defRPr>
                      </a:pPr>
                      <a:r>
                        <a:t>Customers</a:t>
                      </a:r>
                    </a:p>
                  </a:txBody>
                  <a:tcPr marL="54864" marR="54864" marT="27432" marB="27432">
                    <a:solidFill>
                      <a:srgbClr val="101C30"/>
                    </a:solidFill>
                  </a:tcPr>
                </a:tc>
                <a:tc>
                  <a:txBody>
                    <a:bodyPr/>
                    <a:lstStyle/>
                    <a:p>
                      <a:pPr>
                        <a:defRPr sz="950" b="1">
                          <a:solidFill>
                            <a:srgbClr val="FFFFFF"/>
                          </a:solidFill>
                          <a:latin typeface="Aptos"/>
                        </a:defRPr>
                      </a:pPr>
                      <a:r>
                        <a:t>Avg TCP (bytes)</a:t>
                      </a:r>
                    </a:p>
                  </a:txBody>
                  <a:tcPr marL="54864" marR="54864" marT="27432" marB="27432">
                    <a:solidFill>
                      <a:srgbClr val="101C30"/>
                    </a:solidFill>
                  </a:tcPr>
                </a:tc>
                <a:tc>
                  <a:txBody>
                    <a:bodyPr/>
                    <a:lstStyle/>
                    <a:p>
                      <a:pPr>
                        <a:defRPr sz="950" b="1">
                          <a:solidFill>
                            <a:srgbClr val="FFFFFF"/>
                          </a:solidFill>
                          <a:latin typeface="Aptos"/>
                        </a:defRPr>
                      </a:pPr>
                      <a:r>
                        <a:t>Avg RTT (ms)</a:t>
                      </a:r>
                    </a:p>
                  </a:txBody>
                  <a:tcPr marL="54864" marR="54864" marT="27432" marB="27432">
                    <a:solidFill>
                      <a:srgbClr val="101C30"/>
                    </a:solidFill>
                  </a:tcPr>
                </a:tc>
                <a:tc>
                  <a:txBody>
                    <a:bodyPr/>
                    <a:lstStyle/>
                    <a:p>
                      <a:pPr>
                        <a:defRPr sz="950" b="1">
                          <a:solidFill>
                            <a:srgbClr val="FFFFFF"/>
                          </a:solidFill>
                          <a:latin typeface="Aptos"/>
                        </a:defRPr>
                      </a:pPr>
                      <a:r>
                        <a:t>Avg Throughput (kbps)</a:t>
                      </a:r>
                    </a:p>
                  </a:txBody>
                  <a:tcPr marL="54864" marR="54864" marT="27432" marB="27432">
                    <a:solidFill>
                      <a:srgbClr val="101C30"/>
                    </a:solidFill>
                  </a:tcPr>
                </a:tc>
                <a:extLst>
                  <a:ext uri="{0D108BD9-81ED-4DB2-BD59-A6C34878D82A}">
                    <a16:rowId xmlns:a16="http://schemas.microsoft.com/office/drawing/2014/main" val="10000"/>
                  </a:ext>
                </a:extLst>
              </a:tr>
              <a:tr h="502920">
                <a:tc>
                  <a:txBody>
                    <a:bodyPr/>
                    <a:lstStyle/>
                    <a:p>
                      <a:pPr>
                        <a:defRPr sz="950" b="0">
                          <a:solidFill>
                            <a:srgbClr val="242E3C"/>
                          </a:solidFill>
                          <a:latin typeface="Aptos"/>
                        </a:defRPr>
                      </a:pPr>
                      <a:r>
                        <a:t>Good</a:t>
                      </a:r>
                    </a:p>
                  </a:txBody>
                  <a:tcPr marL="54864" marR="54864" marT="27432" marB="27432">
                    <a:solidFill>
                      <a:srgbClr val="FFFFFF"/>
                    </a:solidFill>
                  </a:tcPr>
                </a:tc>
                <a:tc>
                  <a:txBody>
                    <a:bodyPr/>
                    <a:lstStyle/>
                    <a:p>
                      <a:pPr>
                        <a:defRPr sz="950" b="0">
                          <a:solidFill>
                            <a:srgbClr val="242E3C"/>
                          </a:solidFill>
                          <a:latin typeface="Aptos"/>
                        </a:defRPr>
                      </a:pPr>
                      <a:r>
                        <a:t>34,652 (32.4%)</a:t>
                      </a:r>
                    </a:p>
                  </a:txBody>
                  <a:tcPr marL="54864" marR="54864" marT="27432" marB="27432">
                    <a:solidFill>
                      <a:srgbClr val="FFFFFF"/>
                    </a:solidFill>
                  </a:tcPr>
                </a:tc>
                <a:tc>
                  <a:txBody>
                    <a:bodyPr/>
                    <a:lstStyle/>
                    <a:p>
                      <a:pPr>
                        <a:defRPr sz="950" b="0">
                          <a:solidFill>
                            <a:srgbClr val="242E3C"/>
                          </a:solidFill>
                          <a:latin typeface="Aptos"/>
                        </a:defRPr>
                      </a:pPr>
                      <a:r>
                        <a:t>1.91M</a:t>
                      </a:r>
                    </a:p>
                  </a:txBody>
                  <a:tcPr marL="54864" marR="54864" marT="27432" marB="27432">
                    <a:solidFill>
                      <a:srgbClr val="FFFFFF"/>
                    </a:solidFill>
                  </a:tcPr>
                </a:tc>
                <a:tc>
                  <a:txBody>
                    <a:bodyPr/>
                    <a:lstStyle/>
                    <a:p>
                      <a:pPr>
                        <a:defRPr sz="950" b="0">
                          <a:solidFill>
                            <a:srgbClr val="242E3C"/>
                          </a:solidFill>
                          <a:latin typeface="Aptos"/>
                        </a:defRPr>
                      </a:pPr>
                      <a:r>
                        <a:t>39.84</a:t>
                      </a:r>
                    </a:p>
                  </a:txBody>
                  <a:tcPr marL="54864" marR="54864" marT="27432" marB="27432">
                    <a:solidFill>
                      <a:srgbClr val="FFFFFF"/>
                    </a:solidFill>
                  </a:tcPr>
                </a:tc>
                <a:tc>
                  <a:txBody>
                    <a:bodyPr/>
                    <a:lstStyle/>
                    <a:p>
                      <a:pPr>
                        <a:defRPr sz="950" b="0">
                          <a:solidFill>
                            <a:srgbClr val="242E3C"/>
                          </a:solidFill>
                          <a:latin typeface="Aptos"/>
                        </a:defRPr>
                      </a:pPr>
                      <a:r>
                        <a:t>9,775.91</a:t>
                      </a:r>
                    </a:p>
                  </a:txBody>
                  <a:tcPr marL="54864" marR="54864" marT="27432" marB="27432">
                    <a:solidFill>
                      <a:srgbClr val="FFFFFF"/>
                    </a:solidFill>
                  </a:tcPr>
                </a:tc>
                <a:extLst>
                  <a:ext uri="{0D108BD9-81ED-4DB2-BD59-A6C34878D82A}">
                    <a16:rowId xmlns:a16="http://schemas.microsoft.com/office/drawing/2014/main" val="10001"/>
                  </a:ext>
                </a:extLst>
              </a:tr>
              <a:tr h="502920">
                <a:tc>
                  <a:txBody>
                    <a:bodyPr/>
                    <a:lstStyle/>
                    <a:p>
                      <a:pPr>
                        <a:defRPr sz="950" b="0">
                          <a:solidFill>
                            <a:srgbClr val="242E3C"/>
                          </a:solidFill>
                          <a:latin typeface="Aptos"/>
                        </a:defRPr>
                      </a:pPr>
                      <a:r>
                        <a:t>Moderate</a:t>
                      </a:r>
                    </a:p>
                  </a:txBody>
                  <a:tcPr marL="54864" marR="54864" marT="27432" marB="27432">
                    <a:solidFill>
                      <a:srgbClr val="F2F5F8"/>
                    </a:solidFill>
                  </a:tcPr>
                </a:tc>
                <a:tc>
                  <a:txBody>
                    <a:bodyPr/>
                    <a:lstStyle/>
                    <a:p>
                      <a:pPr>
                        <a:defRPr sz="950" b="0">
                          <a:solidFill>
                            <a:srgbClr val="242E3C"/>
                          </a:solidFill>
                          <a:latin typeface="Aptos"/>
                        </a:defRPr>
                      </a:pPr>
                      <a:r>
                        <a:t>45,450 (42.5%)</a:t>
                      </a:r>
                    </a:p>
                  </a:txBody>
                  <a:tcPr marL="54864" marR="54864" marT="27432" marB="27432">
                    <a:solidFill>
                      <a:srgbClr val="F2F5F8"/>
                    </a:solidFill>
                  </a:tcPr>
                </a:tc>
                <a:tc>
                  <a:txBody>
                    <a:bodyPr/>
                    <a:lstStyle/>
                    <a:p>
                      <a:pPr>
                        <a:defRPr sz="950" b="0">
                          <a:solidFill>
                            <a:srgbClr val="242E3C"/>
                          </a:solidFill>
                          <a:latin typeface="Aptos"/>
                        </a:defRPr>
                      </a:pPr>
                      <a:r>
                        <a:t>10.17M</a:t>
                      </a:r>
                    </a:p>
                  </a:txBody>
                  <a:tcPr marL="54864" marR="54864" marT="27432" marB="27432">
                    <a:solidFill>
                      <a:srgbClr val="F2F5F8"/>
                    </a:solidFill>
                  </a:tcPr>
                </a:tc>
                <a:tc>
                  <a:txBody>
                    <a:bodyPr/>
                    <a:lstStyle/>
                    <a:p>
                      <a:pPr>
                        <a:defRPr sz="950" b="0">
                          <a:solidFill>
                            <a:srgbClr val="242E3C"/>
                          </a:solidFill>
                          <a:latin typeface="Aptos"/>
                        </a:defRPr>
                      </a:pPr>
                      <a:r>
                        <a:t>22.40</a:t>
                      </a:r>
                    </a:p>
                  </a:txBody>
                  <a:tcPr marL="54864" marR="54864" marT="27432" marB="27432">
                    <a:solidFill>
                      <a:srgbClr val="F2F5F8"/>
                    </a:solidFill>
                  </a:tcPr>
                </a:tc>
                <a:tc>
                  <a:txBody>
                    <a:bodyPr/>
                    <a:lstStyle/>
                    <a:p>
                      <a:pPr>
                        <a:defRPr sz="950" b="0">
                          <a:solidFill>
                            <a:srgbClr val="242E3C"/>
                          </a:solidFill>
                          <a:latin typeface="Aptos"/>
                        </a:defRPr>
                      </a:pPr>
                      <a:r>
                        <a:t>725.90</a:t>
                      </a:r>
                    </a:p>
                  </a:txBody>
                  <a:tcPr marL="54864" marR="54864" marT="27432" marB="27432">
                    <a:solidFill>
                      <a:srgbClr val="F2F5F8"/>
                    </a:solidFill>
                  </a:tcPr>
                </a:tc>
                <a:extLst>
                  <a:ext uri="{0D108BD9-81ED-4DB2-BD59-A6C34878D82A}">
                    <a16:rowId xmlns:a16="http://schemas.microsoft.com/office/drawing/2014/main" val="10002"/>
                  </a:ext>
                </a:extLst>
              </a:tr>
              <a:tr h="502920">
                <a:tc>
                  <a:txBody>
                    <a:bodyPr/>
                    <a:lstStyle/>
                    <a:p>
                      <a:pPr>
                        <a:defRPr sz="950" b="0">
                          <a:solidFill>
                            <a:srgbClr val="242E3C"/>
                          </a:solidFill>
                          <a:latin typeface="Aptos"/>
                        </a:defRPr>
                      </a:pPr>
                      <a:r>
                        <a:t>Poor</a:t>
                      </a:r>
                    </a:p>
                  </a:txBody>
                  <a:tcPr marL="54864" marR="54864" marT="27432" marB="27432">
                    <a:solidFill>
                      <a:srgbClr val="FFFFFF"/>
                    </a:solidFill>
                  </a:tcPr>
                </a:tc>
                <a:tc>
                  <a:txBody>
                    <a:bodyPr/>
                    <a:lstStyle/>
                    <a:p>
                      <a:pPr>
                        <a:defRPr sz="950" b="0">
                          <a:solidFill>
                            <a:srgbClr val="242E3C"/>
                          </a:solidFill>
                          <a:latin typeface="Aptos"/>
                        </a:defRPr>
                      </a:pPr>
                      <a:r>
                        <a:t>26,755 (25.0%)</a:t>
                      </a:r>
                    </a:p>
                  </a:txBody>
                  <a:tcPr marL="54864" marR="54864" marT="27432" marB="27432">
                    <a:solidFill>
                      <a:srgbClr val="FFFFFF"/>
                    </a:solidFill>
                  </a:tcPr>
                </a:tc>
                <a:tc>
                  <a:txBody>
                    <a:bodyPr/>
                    <a:lstStyle/>
                    <a:p>
                      <a:pPr>
                        <a:defRPr sz="950" b="0">
                          <a:solidFill>
                            <a:srgbClr val="242E3C"/>
                          </a:solidFill>
                          <a:latin typeface="Aptos"/>
                        </a:defRPr>
                      </a:pPr>
                      <a:r>
                        <a:t>9.68M</a:t>
                      </a:r>
                    </a:p>
                  </a:txBody>
                  <a:tcPr marL="54864" marR="54864" marT="27432" marB="27432">
                    <a:solidFill>
                      <a:srgbClr val="FFFFFF"/>
                    </a:solidFill>
                  </a:tcPr>
                </a:tc>
                <a:tc>
                  <a:txBody>
                    <a:bodyPr/>
                    <a:lstStyle/>
                    <a:p>
                      <a:pPr>
                        <a:defRPr sz="950" b="0">
                          <a:solidFill>
                            <a:srgbClr val="242E3C"/>
                          </a:solidFill>
                          <a:latin typeface="Aptos"/>
                        </a:defRPr>
                      </a:pPr>
                      <a:r>
                        <a:t>66.38</a:t>
                      </a:r>
                    </a:p>
                  </a:txBody>
                  <a:tcPr marL="54864" marR="54864" marT="27432" marB="27432">
                    <a:solidFill>
                      <a:srgbClr val="FFFFFF"/>
                    </a:solidFill>
                  </a:tcPr>
                </a:tc>
                <a:tc>
                  <a:txBody>
                    <a:bodyPr/>
                    <a:lstStyle/>
                    <a:p>
                      <a:pPr>
                        <a:defRPr sz="950" b="0">
                          <a:solidFill>
                            <a:srgbClr val="242E3C"/>
                          </a:solidFill>
                          <a:latin typeface="Aptos"/>
                        </a:defRPr>
                      </a:pPr>
                      <a:r>
                        <a:t>1,193.01</a:t>
                      </a:r>
                    </a:p>
                  </a:txBody>
                  <a:tcPr marL="54864" marR="54864" marT="27432" marB="27432">
                    <a:solidFill>
                      <a:srgbClr val="FFFFFF"/>
                    </a:solidFill>
                  </a:tcPr>
                </a:tc>
                <a:extLst>
                  <a:ext uri="{0D108BD9-81ED-4DB2-BD59-A6C34878D82A}">
                    <a16:rowId xmlns:a16="http://schemas.microsoft.com/office/drawing/2014/main" val="10003"/>
                  </a:ext>
                </a:extLst>
              </a:tr>
            </a:tbl>
          </a:graphicData>
        </a:graphic>
      </p:graphicFrame>
      <p:graphicFrame>
        <p:nvGraphicFramePr>
          <p:cNvPr id="7" name="Chart 6"/>
          <p:cNvGraphicFramePr>
            <a:graphicFrameLocks noGrp="1"/>
          </p:cNvGraphicFramePr>
          <p:nvPr>
            <p:extLst>
              <p:ext uri="{D42A27DB-BD31-4B8C-83A1-F6EECF244321}">
                <p14:modId xmlns:p14="http://schemas.microsoft.com/office/powerpoint/2010/main" val="241646104"/>
              </p:ext>
            </p:extLst>
          </p:nvPr>
        </p:nvGraphicFramePr>
        <p:xfrm>
          <a:off x="731520" y="3648455"/>
          <a:ext cx="5074920" cy="2490901"/>
        </p:xfrm>
        <a:graphic>
          <a:graphicData uri="http://schemas.openxmlformats.org/drawingml/2006/chart">
            <c:chart xmlns:c="http://schemas.openxmlformats.org/drawingml/2006/chart" xmlns:r="http://schemas.openxmlformats.org/officeDocument/2006/relationships" r:id="rId2"/>
          </a:graphicData>
        </a:graphic>
      </p:graphicFrame>
      <p:sp>
        <p:nvSpPr>
          <p:cNvPr id="8" name="Rounded Rectangle 7"/>
          <p:cNvSpPr/>
          <p:nvPr/>
        </p:nvSpPr>
        <p:spPr>
          <a:xfrm>
            <a:off x="6172200" y="3794760"/>
            <a:ext cx="5349240" cy="201168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3794760"/>
            <a:ext cx="73152" cy="201168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3931920"/>
            <a:ext cx="5074920" cy="338554"/>
          </a:xfrm>
          <a:prstGeom prst="rect">
            <a:avLst/>
          </a:prstGeom>
          <a:noFill/>
        </p:spPr>
        <p:txBody>
          <a:bodyPr wrap="square" anchor="t">
            <a:spAutoFit/>
          </a:bodyPr>
          <a:lstStyle/>
          <a:p>
            <a:pPr algn="l"/>
            <a:r>
              <a:rPr sz="1600" b="1" dirty="0">
                <a:solidFill>
                  <a:srgbClr val="101C30"/>
                </a:solidFill>
                <a:latin typeface="Aptos"/>
              </a:rPr>
              <a:t>Profile interpretation</a:t>
            </a:r>
          </a:p>
        </p:txBody>
      </p:sp>
      <p:sp>
        <p:nvSpPr>
          <p:cNvPr id="11" name="TextBox 10"/>
          <p:cNvSpPr txBox="1"/>
          <p:nvPr/>
        </p:nvSpPr>
        <p:spPr>
          <a:xfrm>
            <a:off x="6355080" y="4279392"/>
            <a:ext cx="5029200" cy="954107"/>
          </a:xfrm>
          <a:prstGeom prst="rect">
            <a:avLst/>
          </a:prstGeom>
          <a:noFill/>
        </p:spPr>
        <p:txBody>
          <a:bodyPr wrap="square" anchor="t">
            <a:spAutoFit/>
          </a:bodyPr>
          <a:lstStyle/>
          <a:p>
            <a:pPr algn="l"/>
            <a:r>
              <a:rPr sz="1400" b="0" dirty="0">
                <a:solidFill>
                  <a:srgbClr val="242E3C"/>
                </a:solidFill>
                <a:latin typeface="Aptos"/>
              </a:rPr>
              <a:t>Good Experience combines low retransmission with high throughput. Poor Experience combines high RTT and low throughput. Moderate Experience is the largest group and has lower RTT but much lower throughput.</a:t>
            </a:r>
          </a:p>
        </p:txBody>
      </p:sp>
      <p:sp>
        <p:nvSpPr>
          <p:cNvPr id="12" name="TextBox 11"/>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13" name="TextBox 12"/>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3166" y="219224"/>
            <a:ext cx="9755566" cy="646331"/>
          </a:xfrm>
          <a:prstGeom prst="rect">
            <a:avLst/>
          </a:prstGeom>
          <a:noFill/>
        </p:spPr>
        <p:txBody>
          <a:bodyPr wrap="square">
            <a:spAutoFit/>
          </a:bodyPr>
          <a:lstStyle/>
          <a:p>
            <a:r>
              <a:rPr sz="3600" b="1" dirty="0">
                <a:solidFill>
                  <a:srgbClr val="101C30"/>
                </a:solidFill>
                <a:latin typeface="Aptos Display"/>
              </a:rPr>
              <a:t>From Engagement &amp; Experience to Satisfaction</a:t>
            </a:r>
          </a:p>
        </p:txBody>
      </p:sp>
      <p:sp>
        <p:nvSpPr>
          <p:cNvPr id="4" name="TextBox 3"/>
          <p:cNvSpPr txBox="1"/>
          <p:nvPr/>
        </p:nvSpPr>
        <p:spPr>
          <a:xfrm>
            <a:off x="566928" y="850392"/>
            <a:ext cx="10881360" cy="347472"/>
          </a:xfrm>
          <a:prstGeom prst="rect">
            <a:avLst/>
          </a:prstGeom>
          <a:noFill/>
        </p:spPr>
        <p:txBody>
          <a:bodyPr wrap="none">
            <a:spAutoFit/>
          </a:bodyPr>
          <a:lstStyle/>
          <a:p>
            <a:r>
              <a:rPr sz="1050">
                <a:solidFill>
                  <a:srgbClr val="677486"/>
                </a:solidFill>
                <a:latin typeface="Aptos"/>
              </a:rPr>
              <a:t>The project defines satisfaction as a derived score, not a survey measure</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554480"/>
            <a:ext cx="3246120" cy="14173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755648"/>
            <a:ext cx="2834640" cy="338554"/>
          </a:xfrm>
          <a:prstGeom prst="rect">
            <a:avLst/>
          </a:prstGeom>
          <a:noFill/>
        </p:spPr>
        <p:txBody>
          <a:bodyPr wrap="square" anchor="t">
            <a:spAutoFit/>
          </a:bodyPr>
          <a:lstStyle/>
          <a:p>
            <a:pPr algn="l"/>
            <a:r>
              <a:rPr sz="1600" b="1" dirty="0">
                <a:solidFill>
                  <a:srgbClr val="101C30"/>
                </a:solidFill>
                <a:latin typeface="Aptos"/>
              </a:rPr>
              <a:t>Engagement model</a:t>
            </a:r>
          </a:p>
        </p:txBody>
      </p:sp>
      <p:sp>
        <p:nvSpPr>
          <p:cNvPr id="8" name="TextBox 7"/>
          <p:cNvSpPr txBox="1"/>
          <p:nvPr/>
        </p:nvSpPr>
        <p:spPr>
          <a:xfrm>
            <a:off x="896112" y="2212848"/>
            <a:ext cx="2834640" cy="276999"/>
          </a:xfrm>
          <a:prstGeom prst="rect">
            <a:avLst/>
          </a:prstGeom>
          <a:noFill/>
        </p:spPr>
        <p:txBody>
          <a:bodyPr wrap="square" anchor="t">
            <a:spAutoFit/>
          </a:bodyPr>
          <a:lstStyle/>
          <a:p>
            <a:pPr algn="l"/>
            <a:r>
              <a:rPr sz="1200" b="0" dirty="0">
                <a:solidFill>
                  <a:srgbClr val="242E3C"/>
                </a:solidFill>
                <a:latin typeface="Aptos"/>
              </a:rPr>
              <a:t>Distance to less-engaged cluster</a:t>
            </a:r>
          </a:p>
        </p:txBody>
      </p:sp>
      <p:sp>
        <p:nvSpPr>
          <p:cNvPr id="9" name="Chevron 8"/>
          <p:cNvSpPr/>
          <p:nvPr/>
        </p:nvSpPr>
        <p:spPr>
          <a:xfrm>
            <a:off x="4069080" y="1965960"/>
            <a:ext cx="347472" cy="457200"/>
          </a:xfrm>
          <a:prstGeom prst="chevron">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526280" y="1554480"/>
            <a:ext cx="3246120" cy="14173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90872" y="1755648"/>
            <a:ext cx="2834640" cy="338554"/>
          </a:xfrm>
          <a:prstGeom prst="rect">
            <a:avLst/>
          </a:prstGeom>
          <a:noFill/>
        </p:spPr>
        <p:txBody>
          <a:bodyPr wrap="square" anchor="t">
            <a:spAutoFit/>
          </a:bodyPr>
          <a:lstStyle/>
          <a:p>
            <a:pPr algn="l"/>
            <a:r>
              <a:rPr sz="1600" b="1" dirty="0">
                <a:solidFill>
                  <a:srgbClr val="101C30"/>
                </a:solidFill>
                <a:latin typeface="Aptos"/>
              </a:rPr>
              <a:t>Experience model</a:t>
            </a:r>
          </a:p>
        </p:txBody>
      </p:sp>
      <p:sp>
        <p:nvSpPr>
          <p:cNvPr id="12" name="TextBox 11"/>
          <p:cNvSpPr txBox="1"/>
          <p:nvPr/>
        </p:nvSpPr>
        <p:spPr>
          <a:xfrm>
            <a:off x="4690872" y="2212848"/>
            <a:ext cx="2834640" cy="276999"/>
          </a:xfrm>
          <a:prstGeom prst="rect">
            <a:avLst/>
          </a:prstGeom>
          <a:noFill/>
        </p:spPr>
        <p:txBody>
          <a:bodyPr wrap="square" anchor="t">
            <a:spAutoFit/>
          </a:bodyPr>
          <a:lstStyle/>
          <a:p>
            <a:pPr algn="l"/>
            <a:r>
              <a:rPr sz="1200" b="0" dirty="0">
                <a:solidFill>
                  <a:srgbClr val="242E3C"/>
                </a:solidFill>
                <a:latin typeface="Aptos"/>
              </a:rPr>
              <a:t>Distance to worst-experience cluster</a:t>
            </a:r>
          </a:p>
        </p:txBody>
      </p:sp>
      <p:sp>
        <p:nvSpPr>
          <p:cNvPr id="13" name="Chevron 12"/>
          <p:cNvSpPr/>
          <p:nvPr/>
        </p:nvSpPr>
        <p:spPr>
          <a:xfrm>
            <a:off x="7863840" y="1965960"/>
            <a:ext cx="347472" cy="457200"/>
          </a:xfrm>
          <a:prstGeom prst="chevron">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321040" y="1554480"/>
            <a:ext cx="3246120" cy="14173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85632" y="1755648"/>
            <a:ext cx="2834640" cy="338554"/>
          </a:xfrm>
          <a:prstGeom prst="rect">
            <a:avLst/>
          </a:prstGeom>
          <a:noFill/>
        </p:spPr>
        <p:txBody>
          <a:bodyPr wrap="square" anchor="t">
            <a:spAutoFit/>
          </a:bodyPr>
          <a:lstStyle/>
          <a:p>
            <a:pPr algn="l"/>
            <a:r>
              <a:rPr sz="1600" b="1" dirty="0">
                <a:solidFill>
                  <a:srgbClr val="101C30"/>
                </a:solidFill>
                <a:latin typeface="Aptos"/>
              </a:rPr>
              <a:t>Satisfaction score</a:t>
            </a:r>
          </a:p>
        </p:txBody>
      </p:sp>
      <p:sp>
        <p:nvSpPr>
          <p:cNvPr id="16" name="TextBox 15"/>
          <p:cNvSpPr txBox="1"/>
          <p:nvPr/>
        </p:nvSpPr>
        <p:spPr>
          <a:xfrm>
            <a:off x="8485632" y="2212848"/>
            <a:ext cx="2834640" cy="276999"/>
          </a:xfrm>
          <a:prstGeom prst="rect">
            <a:avLst/>
          </a:prstGeom>
          <a:noFill/>
        </p:spPr>
        <p:txBody>
          <a:bodyPr wrap="square" anchor="t">
            <a:spAutoFit/>
          </a:bodyPr>
          <a:lstStyle/>
          <a:p>
            <a:pPr algn="l"/>
            <a:r>
              <a:rPr sz="1200" b="0" dirty="0">
                <a:solidFill>
                  <a:srgbClr val="242E3C"/>
                </a:solidFill>
                <a:latin typeface="Aptos"/>
              </a:rPr>
              <a:t>(Engagement + Experience) / 2</a:t>
            </a:r>
          </a:p>
        </p:txBody>
      </p:sp>
      <p:sp>
        <p:nvSpPr>
          <p:cNvPr id="17" name="Rounded Rectangle 16"/>
          <p:cNvSpPr/>
          <p:nvPr/>
        </p:nvSpPr>
        <p:spPr>
          <a:xfrm>
            <a:off x="731520" y="3703320"/>
            <a:ext cx="329184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3703320"/>
            <a:ext cx="64008" cy="123444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3858768"/>
            <a:ext cx="2971800" cy="274320"/>
          </a:xfrm>
          <a:prstGeom prst="rect">
            <a:avLst/>
          </a:prstGeom>
          <a:noFill/>
        </p:spPr>
        <p:txBody>
          <a:bodyPr wrap="square" anchor="t">
            <a:spAutoFit/>
          </a:bodyPr>
          <a:lstStyle/>
          <a:p>
            <a:pPr algn="l"/>
            <a:r>
              <a:rPr sz="1050" b="1">
                <a:solidFill>
                  <a:srgbClr val="677486"/>
                </a:solidFill>
                <a:latin typeface="Aptos"/>
              </a:rPr>
              <a:t>AVG ENGAGEMENT SCORE</a:t>
            </a:r>
          </a:p>
        </p:txBody>
      </p:sp>
      <p:sp>
        <p:nvSpPr>
          <p:cNvPr id="20" name="TextBox 19"/>
          <p:cNvSpPr txBox="1"/>
          <p:nvPr/>
        </p:nvSpPr>
        <p:spPr>
          <a:xfrm>
            <a:off x="932688" y="4178808"/>
            <a:ext cx="2971800" cy="502920"/>
          </a:xfrm>
          <a:prstGeom prst="rect">
            <a:avLst/>
          </a:prstGeom>
          <a:noFill/>
        </p:spPr>
        <p:txBody>
          <a:bodyPr wrap="square" anchor="t">
            <a:spAutoFit/>
          </a:bodyPr>
          <a:lstStyle/>
          <a:p>
            <a:pPr algn="l"/>
            <a:r>
              <a:rPr sz="2300" b="1">
                <a:solidFill>
                  <a:srgbClr val="101C30"/>
                </a:solidFill>
                <a:latin typeface="Aptos Display"/>
              </a:rPr>
              <a:t>1.59</a:t>
            </a:r>
          </a:p>
        </p:txBody>
      </p:sp>
      <p:sp>
        <p:nvSpPr>
          <p:cNvPr id="21" name="TextBox 20"/>
          <p:cNvSpPr txBox="1"/>
          <p:nvPr/>
        </p:nvSpPr>
        <p:spPr>
          <a:xfrm>
            <a:off x="932688" y="4727448"/>
            <a:ext cx="2971800" cy="384048"/>
          </a:xfrm>
          <a:prstGeom prst="rect">
            <a:avLst/>
          </a:prstGeom>
          <a:noFill/>
        </p:spPr>
        <p:txBody>
          <a:bodyPr wrap="square" anchor="t">
            <a:spAutoFit/>
          </a:bodyPr>
          <a:lstStyle/>
          <a:p>
            <a:pPr algn="l"/>
            <a:r>
              <a:rPr sz="950" b="0">
                <a:solidFill>
                  <a:srgbClr val="677486"/>
                </a:solidFill>
                <a:latin typeface="Aptos"/>
              </a:rPr>
              <a:t>derived distance measure</a:t>
            </a:r>
          </a:p>
        </p:txBody>
      </p:sp>
      <p:sp>
        <p:nvSpPr>
          <p:cNvPr id="22" name="Rounded Rectangle 21"/>
          <p:cNvSpPr/>
          <p:nvPr/>
        </p:nvSpPr>
        <p:spPr>
          <a:xfrm>
            <a:off x="4434840" y="3703320"/>
            <a:ext cx="329184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3703320"/>
            <a:ext cx="64008" cy="123444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36007" y="3858768"/>
            <a:ext cx="2971800" cy="274320"/>
          </a:xfrm>
          <a:prstGeom prst="rect">
            <a:avLst/>
          </a:prstGeom>
          <a:noFill/>
        </p:spPr>
        <p:txBody>
          <a:bodyPr wrap="square" anchor="t">
            <a:spAutoFit/>
          </a:bodyPr>
          <a:lstStyle/>
          <a:p>
            <a:pPr algn="l"/>
            <a:r>
              <a:rPr sz="1050" b="1">
                <a:solidFill>
                  <a:srgbClr val="677486"/>
                </a:solidFill>
                <a:latin typeface="Aptos"/>
              </a:rPr>
              <a:t>AVG EXPERIENCE SCORE</a:t>
            </a:r>
          </a:p>
        </p:txBody>
      </p:sp>
      <p:sp>
        <p:nvSpPr>
          <p:cNvPr id="25" name="TextBox 24"/>
          <p:cNvSpPr txBox="1"/>
          <p:nvPr/>
        </p:nvSpPr>
        <p:spPr>
          <a:xfrm>
            <a:off x="4636007" y="4178808"/>
            <a:ext cx="2971800" cy="502920"/>
          </a:xfrm>
          <a:prstGeom prst="rect">
            <a:avLst/>
          </a:prstGeom>
          <a:noFill/>
        </p:spPr>
        <p:txBody>
          <a:bodyPr wrap="square" anchor="t">
            <a:spAutoFit/>
          </a:bodyPr>
          <a:lstStyle/>
          <a:p>
            <a:pPr algn="l"/>
            <a:r>
              <a:rPr sz="2300" b="1">
                <a:solidFill>
                  <a:srgbClr val="101C30"/>
                </a:solidFill>
                <a:latin typeface="Aptos Display"/>
              </a:rPr>
              <a:t>1.98</a:t>
            </a:r>
          </a:p>
        </p:txBody>
      </p:sp>
      <p:sp>
        <p:nvSpPr>
          <p:cNvPr id="26" name="TextBox 25"/>
          <p:cNvSpPr txBox="1"/>
          <p:nvPr/>
        </p:nvSpPr>
        <p:spPr>
          <a:xfrm>
            <a:off x="4636007" y="4727448"/>
            <a:ext cx="2971800" cy="384048"/>
          </a:xfrm>
          <a:prstGeom prst="rect">
            <a:avLst/>
          </a:prstGeom>
          <a:noFill/>
        </p:spPr>
        <p:txBody>
          <a:bodyPr wrap="square" anchor="t">
            <a:spAutoFit/>
          </a:bodyPr>
          <a:lstStyle/>
          <a:p>
            <a:pPr algn="l"/>
            <a:r>
              <a:rPr sz="950" b="0">
                <a:solidFill>
                  <a:srgbClr val="677486"/>
                </a:solidFill>
                <a:latin typeface="Aptos"/>
              </a:rPr>
              <a:t>derived distance measure</a:t>
            </a:r>
          </a:p>
        </p:txBody>
      </p:sp>
      <p:sp>
        <p:nvSpPr>
          <p:cNvPr id="27" name="Rounded Rectangle 26"/>
          <p:cNvSpPr/>
          <p:nvPr/>
        </p:nvSpPr>
        <p:spPr>
          <a:xfrm>
            <a:off x="8138160" y="3703320"/>
            <a:ext cx="329184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38160" y="3703320"/>
            <a:ext cx="64008" cy="1234440"/>
          </a:xfrm>
          <a:prstGeom prst="rect">
            <a:avLst/>
          </a:prstGeom>
          <a:solidFill>
            <a:srgbClr val="EBB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39328" y="3858768"/>
            <a:ext cx="2971800" cy="274320"/>
          </a:xfrm>
          <a:prstGeom prst="rect">
            <a:avLst/>
          </a:prstGeom>
          <a:noFill/>
        </p:spPr>
        <p:txBody>
          <a:bodyPr wrap="square" anchor="t">
            <a:spAutoFit/>
          </a:bodyPr>
          <a:lstStyle/>
          <a:p>
            <a:pPr algn="l"/>
            <a:r>
              <a:rPr sz="1050" b="1">
                <a:solidFill>
                  <a:srgbClr val="677486"/>
                </a:solidFill>
                <a:latin typeface="Aptos"/>
              </a:rPr>
              <a:t>AVG SATISFACTION SCORE</a:t>
            </a:r>
          </a:p>
        </p:txBody>
      </p:sp>
      <p:sp>
        <p:nvSpPr>
          <p:cNvPr id="30" name="TextBox 29"/>
          <p:cNvSpPr txBox="1"/>
          <p:nvPr/>
        </p:nvSpPr>
        <p:spPr>
          <a:xfrm>
            <a:off x="8339328" y="4178808"/>
            <a:ext cx="2971800" cy="502920"/>
          </a:xfrm>
          <a:prstGeom prst="rect">
            <a:avLst/>
          </a:prstGeom>
          <a:noFill/>
        </p:spPr>
        <p:txBody>
          <a:bodyPr wrap="square" anchor="t">
            <a:spAutoFit/>
          </a:bodyPr>
          <a:lstStyle/>
          <a:p>
            <a:pPr algn="l"/>
            <a:r>
              <a:rPr sz="2300" b="1">
                <a:solidFill>
                  <a:srgbClr val="101C30"/>
                </a:solidFill>
                <a:latin typeface="Aptos Display"/>
              </a:rPr>
              <a:t>1.78</a:t>
            </a:r>
          </a:p>
        </p:txBody>
      </p:sp>
      <p:sp>
        <p:nvSpPr>
          <p:cNvPr id="31" name="TextBox 30"/>
          <p:cNvSpPr txBox="1"/>
          <p:nvPr/>
        </p:nvSpPr>
        <p:spPr>
          <a:xfrm>
            <a:off x="8339328" y="4727448"/>
            <a:ext cx="2971800" cy="384048"/>
          </a:xfrm>
          <a:prstGeom prst="rect">
            <a:avLst/>
          </a:prstGeom>
          <a:noFill/>
        </p:spPr>
        <p:txBody>
          <a:bodyPr wrap="square" anchor="t">
            <a:spAutoFit/>
          </a:bodyPr>
          <a:lstStyle/>
          <a:p>
            <a:pPr algn="l"/>
            <a:r>
              <a:rPr sz="950" b="0">
                <a:solidFill>
                  <a:srgbClr val="677486"/>
                </a:solidFill>
                <a:latin typeface="Aptos"/>
              </a:rPr>
              <a:t>median = 1.74</a:t>
            </a:r>
          </a:p>
        </p:txBody>
      </p:sp>
      <p:sp>
        <p:nvSpPr>
          <p:cNvPr id="32" name="Rounded Rectangle 31"/>
          <p:cNvSpPr/>
          <p:nvPr/>
        </p:nvSpPr>
        <p:spPr>
          <a:xfrm>
            <a:off x="731520" y="5257799"/>
            <a:ext cx="10728960" cy="883151"/>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40664" y="5257799"/>
            <a:ext cx="64008" cy="860983"/>
          </a:xfrm>
          <a:prstGeom prst="rect">
            <a:avLst/>
          </a:prstGeom>
          <a:solidFill>
            <a:srgbClr val="CD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4400" y="5307979"/>
            <a:ext cx="10424159" cy="338554"/>
          </a:xfrm>
          <a:prstGeom prst="rect">
            <a:avLst/>
          </a:prstGeom>
          <a:noFill/>
        </p:spPr>
        <p:txBody>
          <a:bodyPr wrap="square" anchor="t">
            <a:spAutoFit/>
          </a:bodyPr>
          <a:lstStyle/>
          <a:p>
            <a:pPr algn="l"/>
            <a:r>
              <a:rPr sz="1600" b="1" dirty="0">
                <a:solidFill>
                  <a:srgbClr val="101C30"/>
                </a:solidFill>
                <a:latin typeface="Aptos"/>
              </a:rPr>
              <a:t>Important interpretation</a:t>
            </a:r>
          </a:p>
        </p:txBody>
      </p:sp>
      <p:sp>
        <p:nvSpPr>
          <p:cNvPr id="35" name="TextBox 34"/>
          <p:cNvSpPr txBox="1"/>
          <p:nvPr/>
        </p:nvSpPr>
        <p:spPr>
          <a:xfrm>
            <a:off x="906627" y="5617731"/>
            <a:ext cx="10378440" cy="523220"/>
          </a:xfrm>
          <a:prstGeom prst="rect">
            <a:avLst/>
          </a:prstGeom>
          <a:noFill/>
        </p:spPr>
        <p:txBody>
          <a:bodyPr wrap="square" anchor="t">
            <a:spAutoFit/>
          </a:bodyPr>
          <a:lstStyle/>
          <a:p>
            <a:pPr algn="l"/>
            <a:r>
              <a:rPr sz="1400" b="0" dirty="0">
                <a:solidFill>
                  <a:srgbClr val="242E3C"/>
                </a:solidFill>
                <a:latin typeface="Aptos"/>
              </a:rPr>
              <a:t>Because the scores are distances from 'bad' reference clusters, higher scores indicate greater distance from those reference points. The score is therefore a constructed analytical measure, not direct customer sentiment.</a:t>
            </a:r>
          </a:p>
        </p:txBody>
      </p:sp>
      <p:sp>
        <p:nvSpPr>
          <p:cNvPr id="36" name="TextBox 35"/>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37" name="TextBox 36"/>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832"/>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69981" y="236065"/>
            <a:ext cx="8686799" cy="646331"/>
          </a:xfrm>
          <a:prstGeom prst="rect">
            <a:avLst/>
          </a:prstGeom>
          <a:noFill/>
        </p:spPr>
        <p:txBody>
          <a:bodyPr wrap="square">
            <a:spAutoFit/>
          </a:bodyPr>
          <a:lstStyle/>
          <a:p>
            <a:r>
              <a:rPr sz="3600" b="1" dirty="0">
                <a:solidFill>
                  <a:srgbClr val="101C30"/>
                </a:solidFill>
                <a:latin typeface="Aptos Display"/>
              </a:rPr>
              <a:t>Top 10 Customers by Derived Satisfaction</a:t>
            </a:r>
          </a:p>
        </p:txBody>
      </p:sp>
      <p:sp>
        <p:nvSpPr>
          <p:cNvPr id="4" name="TextBox 3"/>
          <p:cNvSpPr txBox="1"/>
          <p:nvPr/>
        </p:nvSpPr>
        <p:spPr>
          <a:xfrm>
            <a:off x="566928" y="850392"/>
            <a:ext cx="10881360" cy="347472"/>
          </a:xfrm>
          <a:prstGeom prst="rect">
            <a:avLst/>
          </a:prstGeom>
          <a:noFill/>
        </p:spPr>
        <p:txBody>
          <a:bodyPr wrap="none">
            <a:spAutoFit/>
          </a:bodyPr>
          <a:lstStyle/>
          <a:p>
            <a:r>
              <a:rPr sz="1050">
                <a:solidFill>
                  <a:srgbClr val="677486"/>
                </a:solidFill>
                <a:latin typeface="Aptos"/>
              </a:rPr>
              <a:t>Highest scores combine relatively strong engagement and experience distances</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94360" y="1371600"/>
          <a:ext cx="6858000" cy="452628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11480">
                <a:tc>
                  <a:txBody>
                    <a:bodyPr/>
                    <a:lstStyle/>
                    <a:p>
                      <a:pPr>
                        <a:defRPr sz="930" b="1">
                          <a:solidFill>
                            <a:srgbClr val="FFFFFF"/>
                          </a:solidFill>
                          <a:latin typeface="Aptos"/>
                        </a:defRPr>
                      </a:pPr>
                      <a:r>
                        <a:t>Rank</a:t>
                      </a:r>
                    </a:p>
                  </a:txBody>
                  <a:tcPr marL="54864" marR="54864" marT="27432" marB="27432">
                    <a:solidFill>
                      <a:srgbClr val="101C30"/>
                    </a:solidFill>
                  </a:tcPr>
                </a:tc>
                <a:tc>
                  <a:txBody>
                    <a:bodyPr/>
                    <a:lstStyle/>
                    <a:p>
                      <a:pPr>
                        <a:defRPr sz="930" b="1">
                          <a:solidFill>
                            <a:srgbClr val="FFFFFF"/>
                          </a:solidFill>
                          <a:latin typeface="Aptos"/>
                        </a:defRPr>
                      </a:pPr>
                      <a:r>
                        <a:t>Customer ID</a:t>
                      </a:r>
                    </a:p>
                  </a:txBody>
                  <a:tcPr marL="54864" marR="54864" marT="27432" marB="27432">
                    <a:solidFill>
                      <a:srgbClr val="101C30"/>
                    </a:solidFill>
                  </a:tcPr>
                </a:tc>
                <a:tc>
                  <a:txBody>
                    <a:bodyPr/>
                    <a:lstStyle/>
                    <a:p>
                      <a:pPr>
                        <a:defRPr sz="930" b="1">
                          <a:solidFill>
                            <a:srgbClr val="FFFFFF"/>
                          </a:solidFill>
                          <a:latin typeface="Aptos"/>
                        </a:defRPr>
                      </a:pPr>
                      <a:r>
                        <a:t>Engagement</a:t>
                      </a:r>
                    </a:p>
                  </a:txBody>
                  <a:tcPr marL="54864" marR="54864" marT="27432" marB="27432">
                    <a:solidFill>
                      <a:srgbClr val="101C30"/>
                    </a:solidFill>
                  </a:tcPr>
                </a:tc>
                <a:tc>
                  <a:txBody>
                    <a:bodyPr/>
                    <a:lstStyle/>
                    <a:p>
                      <a:pPr>
                        <a:defRPr sz="930" b="1">
                          <a:solidFill>
                            <a:srgbClr val="FFFFFF"/>
                          </a:solidFill>
                          <a:latin typeface="Aptos"/>
                        </a:defRPr>
                      </a:pPr>
                      <a:r>
                        <a:t>Experience</a:t>
                      </a:r>
                    </a:p>
                  </a:txBody>
                  <a:tcPr marL="54864" marR="54864" marT="27432" marB="27432">
                    <a:solidFill>
                      <a:srgbClr val="101C30"/>
                    </a:solidFill>
                  </a:tcPr>
                </a:tc>
                <a:tc>
                  <a:txBody>
                    <a:bodyPr/>
                    <a:lstStyle/>
                    <a:p>
                      <a:pPr>
                        <a:defRPr sz="930" b="1">
                          <a:solidFill>
                            <a:srgbClr val="FFFFFF"/>
                          </a:solidFill>
                          <a:latin typeface="Aptos"/>
                        </a:defRPr>
                      </a:pPr>
                      <a:r>
                        <a:t>Satisfaction</a:t>
                      </a:r>
                    </a:p>
                  </a:txBody>
                  <a:tcPr marL="54864" marR="54864" marT="27432" marB="27432">
                    <a:solidFill>
                      <a:srgbClr val="101C30"/>
                    </a:solidFill>
                  </a:tcPr>
                </a:tc>
                <a:extLst>
                  <a:ext uri="{0D108BD9-81ED-4DB2-BD59-A6C34878D82A}">
                    <a16:rowId xmlns:a16="http://schemas.microsoft.com/office/drawing/2014/main" val="10000"/>
                  </a:ext>
                </a:extLst>
              </a:tr>
              <a:tr h="411480">
                <a:tc>
                  <a:txBody>
                    <a:bodyPr/>
                    <a:lstStyle/>
                    <a:p>
                      <a:pPr>
                        <a:defRPr sz="930" b="0">
                          <a:solidFill>
                            <a:srgbClr val="242E3C"/>
                          </a:solidFill>
                          <a:latin typeface="Aptos"/>
                        </a:defRPr>
                      </a:pPr>
                      <a:r>
                        <a:t>1</a:t>
                      </a:r>
                    </a:p>
                  </a:txBody>
                  <a:tcPr marL="54864" marR="54864" marT="27432" marB="27432">
                    <a:solidFill>
                      <a:srgbClr val="FFFFFF"/>
                    </a:solidFill>
                  </a:tcPr>
                </a:tc>
                <a:tc>
                  <a:txBody>
                    <a:bodyPr/>
                    <a:lstStyle/>
                    <a:p>
                      <a:pPr>
                        <a:defRPr sz="930" b="0">
                          <a:solidFill>
                            <a:srgbClr val="242E3C"/>
                          </a:solidFill>
                          <a:latin typeface="Aptos"/>
                        </a:defRPr>
                      </a:pPr>
                      <a:r>
                        <a:t>33699856436</a:t>
                      </a:r>
                    </a:p>
                  </a:txBody>
                  <a:tcPr marL="54864" marR="54864" marT="27432" marB="27432">
                    <a:solidFill>
                      <a:srgbClr val="FFFFFF"/>
                    </a:solidFill>
                  </a:tcPr>
                </a:tc>
                <a:tc>
                  <a:txBody>
                    <a:bodyPr/>
                    <a:lstStyle/>
                    <a:p>
                      <a:pPr>
                        <a:defRPr sz="930" b="0">
                          <a:solidFill>
                            <a:srgbClr val="242E3C"/>
                          </a:solidFill>
                          <a:latin typeface="Aptos"/>
                        </a:defRPr>
                      </a:pPr>
                      <a:r>
                        <a:t>5.38</a:t>
                      </a:r>
                    </a:p>
                  </a:txBody>
                  <a:tcPr marL="54864" marR="54864" marT="27432" marB="27432">
                    <a:solidFill>
                      <a:srgbClr val="FFFFFF"/>
                    </a:solidFill>
                  </a:tcPr>
                </a:tc>
                <a:tc>
                  <a:txBody>
                    <a:bodyPr/>
                    <a:lstStyle/>
                    <a:p>
                      <a:pPr>
                        <a:defRPr sz="930" b="0">
                          <a:solidFill>
                            <a:srgbClr val="242E3C"/>
                          </a:solidFill>
                          <a:latin typeface="Aptos"/>
                        </a:defRPr>
                      </a:pPr>
                      <a:r>
                        <a:t>4.60</a:t>
                      </a:r>
                    </a:p>
                  </a:txBody>
                  <a:tcPr marL="54864" marR="54864" marT="27432" marB="27432">
                    <a:solidFill>
                      <a:srgbClr val="FFFFFF"/>
                    </a:solidFill>
                  </a:tcPr>
                </a:tc>
                <a:tc>
                  <a:txBody>
                    <a:bodyPr/>
                    <a:lstStyle/>
                    <a:p>
                      <a:pPr>
                        <a:defRPr sz="930" b="0">
                          <a:solidFill>
                            <a:srgbClr val="242E3C"/>
                          </a:solidFill>
                          <a:latin typeface="Aptos"/>
                        </a:defRPr>
                      </a:pPr>
                      <a:r>
                        <a:t>4.988</a:t>
                      </a:r>
                    </a:p>
                  </a:txBody>
                  <a:tcPr marL="54864" marR="54864" marT="27432" marB="27432">
                    <a:solidFill>
                      <a:srgbClr val="FFFFFF"/>
                    </a:solidFill>
                  </a:tcPr>
                </a:tc>
                <a:extLst>
                  <a:ext uri="{0D108BD9-81ED-4DB2-BD59-A6C34878D82A}">
                    <a16:rowId xmlns:a16="http://schemas.microsoft.com/office/drawing/2014/main" val="10001"/>
                  </a:ext>
                </a:extLst>
              </a:tr>
              <a:tr h="411480">
                <a:tc>
                  <a:txBody>
                    <a:bodyPr/>
                    <a:lstStyle/>
                    <a:p>
                      <a:pPr>
                        <a:defRPr sz="930" b="0">
                          <a:solidFill>
                            <a:srgbClr val="242E3C"/>
                          </a:solidFill>
                          <a:latin typeface="Aptos"/>
                        </a:defRPr>
                      </a:pPr>
                      <a:r>
                        <a:t>2</a:t>
                      </a:r>
                    </a:p>
                  </a:txBody>
                  <a:tcPr marL="54864" marR="54864" marT="27432" marB="27432">
                    <a:solidFill>
                      <a:srgbClr val="F2F5F8"/>
                    </a:solidFill>
                  </a:tcPr>
                </a:tc>
                <a:tc>
                  <a:txBody>
                    <a:bodyPr/>
                    <a:lstStyle/>
                    <a:p>
                      <a:pPr>
                        <a:defRPr sz="930" b="0">
                          <a:solidFill>
                            <a:srgbClr val="242E3C"/>
                          </a:solidFill>
                          <a:latin typeface="Aptos"/>
                        </a:defRPr>
                      </a:pPr>
                      <a:r>
                        <a:t>33659324811</a:t>
                      </a:r>
                    </a:p>
                  </a:txBody>
                  <a:tcPr marL="54864" marR="54864" marT="27432" marB="27432">
                    <a:solidFill>
                      <a:srgbClr val="F2F5F8"/>
                    </a:solidFill>
                  </a:tcPr>
                </a:tc>
                <a:tc>
                  <a:txBody>
                    <a:bodyPr/>
                    <a:lstStyle/>
                    <a:p>
                      <a:pPr>
                        <a:defRPr sz="930" b="0">
                          <a:solidFill>
                            <a:srgbClr val="242E3C"/>
                          </a:solidFill>
                          <a:latin typeface="Aptos"/>
                        </a:defRPr>
                      </a:pPr>
                      <a:r>
                        <a:t>5.59</a:t>
                      </a:r>
                    </a:p>
                  </a:txBody>
                  <a:tcPr marL="54864" marR="54864" marT="27432" marB="27432">
                    <a:solidFill>
                      <a:srgbClr val="F2F5F8"/>
                    </a:solidFill>
                  </a:tcPr>
                </a:tc>
                <a:tc>
                  <a:txBody>
                    <a:bodyPr/>
                    <a:lstStyle/>
                    <a:p>
                      <a:pPr>
                        <a:defRPr sz="930" b="0">
                          <a:solidFill>
                            <a:srgbClr val="242E3C"/>
                          </a:solidFill>
                          <a:latin typeface="Aptos"/>
                        </a:defRPr>
                      </a:pPr>
                      <a:r>
                        <a:t>4.21</a:t>
                      </a:r>
                    </a:p>
                  </a:txBody>
                  <a:tcPr marL="54864" marR="54864" marT="27432" marB="27432">
                    <a:solidFill>
                      <a:srgbClr val="F2F5F8"/>
                    </a:solidFill>
                  </a:tcPr>
                </a:tc>
                <a:tc>
                  <a:txBody>
                    <a:bodyPr/>
                    <a:lstStyle/>
                    <a:p>
                      <a:pPr>
                        <a:defRPr sz="930" b="0">
                          <a:solidFill>
                            <a:srgbClr val="242E3C"/>
                          </a:solidFill>
                          <a:latin typeface="Aptos"/>
                        </a:defRPr>
                      </a:pPr>
                      <a:r>
                        <a:t>4.904</a:t>
                      </a:r>
                    </a:p>
                  </a:txBody>
                  <a:tcPr marL="54864" marR="54864" marT="27432" marB="27432">
                    <a:solidFill>
                      <a:srgbClr val="F2F5F8"/>
                    </a:solidFill>
                  </a:tcPr>
                </a:tc>
                <a:extLst>
                  <a:ext uri="{0D108BD9-81ED-4DB2-BD59-A6C34878D82A}">
                    <a16:rowId xmlns:a16="http://schemas.microsoft.com/office/drawing/2014/main" val="10002"/>
                  </a:ext>
                </a:extLst>
              </a:tr>
              <a:tr h="411480">
                <a:tc>
                  <a:txBody>
                    <a:bodyPr/>
                    <a:lstStyle/>
                    <a:p>
                      <a:pPr>
                        <a:defRPr sz="930" b="0">
                          <a:solidFill>
                            <a:srgbClr val="242E3C"/>
                          </a:solidFill>
                          <a:latin typeface="Aptos"/>
                        </a:defRPr>
                      </a:pPr>
                      <a:r>
                        <a:t>3</a:t>
                      </a:r>
                    </a:p>
                  </a:txBody>
                  <a:tcPr marL="54864" marR="54864" marT="27432" marB="27432">
                    <a:solidFill>
                      <a:srgbClr val="FFFFFF"/>
                    </a:solidFill>
                  </a:tcPr>
                </a:tc>
                <a:tc>
                  <a:txBody>
                    <a:bodyPr/>
                    <a:lstStyle/>
                    <a:p>
                      <a:pPr>
                        <a:defRPr sz="930" b="0">
                          <a:solidFill>
                            <a:srgbClr val="242E3C"/>
                          </a:solidFill>
                          <a:latin typeface="Aptos"/>
                        </a:defRPr>
                      </a:pPr>
                      <a:r>
                        <a:t>33638429285</a:t>
                      </a:r>
                    </a:p>
                  </a:txBody>
                  <a:tcPr marL="54864" marR="54864" marT="27432" marB="27432">
                    <a:solidFill>
                      <a:srgbClr val="FFFFFF"/>
                    </a:solidFill>
                  </a:tcPr>
                </a:tc>
                <a:tc>
                  <a:txBody>
                    <a:bodyPr/>
                    <a:lstStyle/>
                    <a:p>
                      <a:pPr>
                        <a:defRPr sz="930" b="0">
                          <a:solidFill>
                            <a:srgbClr val="242E3C"/>
                          </a:solidFill>
                          <a:latin typeface="Aptos"/>
                        </a:defRPr>
                      </a:pPr>
                      <a:r>
                        <a:t>5.81</a:t>
                      </a:r>
                    </a:p>
                  </a:txBody>
                  <a:tcPr marL="54864" marR="54864" marT="27432" marB="27432">
                    <a:solidFill>
                      <a:srgbClr val="FFFFFF"/>
                    </a:solidFill>
                  </a:tcPr>
                </a:tc>
                <a:tc>
                  <a:txBody>
                    <a:bodyPr/>
                    <a:lstStyle/>
                    <a:p>
                      <a:pPr>
                        <a:defRPr sz="930" b="0">
                          <a:solidFill>
                            <a:srgbClr val="242E3C"/>
                          </a:solidFill>
                          <a:latin typeface="Aptos"/>
                        </a:defRPr>
                      </a:pPr>
                      <a:r>
                        <a:t>3.80</a:t>
                      </a:r>
                    </a:p>
                  </a:txBody>
                  <a:tcPr marL="54864" marR="54864" marT="27432" marB="27432">
                    <a:solidFill>
                      <a:srgbClr val="FFFFFF"/>
                    </a:solidFill>
                  </a:tcPr>
                </a:tc>
                <a:tc>
                  <a:txBody>
                    <a:bodyPr/>
                    <a:lstStyle/>
                    <a:p>
                      <a:pPr>
                        <a:defRPr sz="930" b="0">
                          <a:solidFill>
                            <a:srgbClr val="242E3C"/>
                          </a:solidFill>
                          <a:latin typeface="Aptos"/>
                        </a:defRPr>
                      </a:pPr>
                      <a:r>
                        <a:t>4.809</a:t>
                      </a:r>
                    </a:p>
                  </a:txBody>
                  <a:tcPr marL="54864" marR="54864" marT="27432" marB="27432">
                    <a:solidFill>
                      <a:srgbClr val="FFFFFF"/>
                    </a:solidFill>
                  </a:tcPr>
                </a:tc>
                <a:extLst>
                  <a:ext uri="{0D108BD9-81ED-4DB2-BD59-A6C34878D82A}">
                    <a16:rowId xmlns:a16="http://schemas.microsoft.com/office/drawing/2014/main" val="10003"/>
                  </a:ext>
                </a:extLst>
              </a:tr>
              <a:tr h="411480">
                <a:tc>
                  <a:txBody>
                    <a:bodyPr/>
                    <a:lstStyle/>
                    <a:p>
                      <a:pPr>
                        <a:defRPr sz="930" b="0">
                          <a:solidFill>
                            <a:srgbClr val="242E3C"/>
                          </a:solidFill>
                          <a:latin typeface="Aptos"/>
                        </a:defRPr>
                      </a:pPr>
                      <a:r>
                        <a:t>4</a:t>
                      </a:r>
                    </a:p>
                  </a:txBody>
                  <a:tcPr marL="54864" marR="54864" marT="27432" marB="27432">
                    <a:solidFill>
                      <a:srgbClr val="F2F5F8"/>
                    </a:solidFill>
                  </a:tcPr>
                </a:tc>
                <a:tc>
                  <a:txBody>
                    <a:bodyPr/>
                    <a:lstStyle/>
                    <a:p>
                      <a:pPr>
                        <a:defRPr sz="930" b="0">
                          <a:solidFill>
                            <a:srgbClr val="242E3C"/>
                          </a:solidFill>
                          <a:latin typeface="Aptos"/>
                        </a:defRPr>
                      </a:pPr>
                      <a:r>
                        <a:t>33668436827</a:t>
                      </a:r>
                    </a:p>
                  </a:txBody>
                  <a:tcPr marL="54864" marR="54864" marT="27432" marB="27432">
                    <a:solidFill>
                      <a:srgbClr val="F2F5F8"/>
                    </a:solidFill>
                  </a:tcPr>
                </a:tc>
                <a:tc>
                  <a:txBody>
                    <a:bodyPr/>
                    <a:lstStyle/>
                    <a:p>
                      <a:pPr>
                        <a:defRPr sz="930" b="0">
                          <a:solidFill>
                            <a:srgbClr val="242E3C"/>
                          </a:solidFill>
                          <a:latin typeface="Aptos"/>
                        </a:defRPr>
                      </a:pPr>
                      <a:r>
                        <a:t>5.46</a:t>
                      </a:r>
                    </a:p>
                  </a:txBody>
                  <a:tcPr marL="54864" marR="54864" marT="27432" marB="27432">
                    <a:solidFill>
                      <a:srgbClr val="F2F5F8"/>
                    </a:solidFill>
                  </a:tcPr>
                </a:tc>
                <a:tc>
                  <a:txBody>
                    <a:bodyPr/>
                    <a:lstStyle/>
                    <a:p>
                      <a:pPr>
                        <a:defRPr sz="930" b="0">
                          <a:solidFill>
                            <a:srgbClr val="242E3C"/>
                          </a:solidFill>
                          <a:latin typeface="Aptos"/>
                        </a:defRPr>
                      </a:pPr>
                      <a:r>
                        <a:t>4.13</a:t>
                      </a:r>
                    </a:p>
                  </a:txBody>
                  <a:tcPr marL="54864" marR="54864" marT="27432" marB="27432">
                    <a:solidFill>
                      <a:srgbClr val="F2F5F8"/>
                    </a:solidFill>
                  </a:tcPr>
                </a:tc>
                <a:tc>
                  <a:txBody>
                    <a:bodyPr/>
                    <a:lstStyle/>
                    <a:p>
                      <a:pPr>
                        <a:defRPr sz="930" b="0">
                          <a:solidFill>
                            <a:srgbClr val="242E3C"/>
                          </a:solidFill>
                          <a:latin typeface="Aptos"/>
                        </a:defRPr>
                      </a:pPr>
                      <a:r>
                        <a:t>4.799</a:t>
                      </a:r>
                    </a:p>
                  </a:txBody>
                  <a:tcPr marL="54864" marR="54864" marT="27432" marB="27432">
                    <a:solidFill>
                      <a:srgbClr val="F2F5F8"/>
                    </a:solidFill>
                  </a:tcPr>
                </a:tc>
                <a:extLst>
                  <a:ext uri="{0D108BD9-81ED-4DB2-BD59-A6C34878D82A}">
                    <a16:rowId xmlns:a16="http://schemas.microsoft.com/office/drawing/2014/main" val="10004"/>
                  </a:ext>
                </a:extLst>
              </a:tr>
              <a:tr h="411480">
                <a:tc>
                  <a:txBody>
                    <a:bodyPr/>
                    <a:lstStyle/>
                    <a:p>
                      <a:pPr>
                        <a:defRPr sz="930" b="0">
                          <a:solidFill>
                            <a:srgbClr val="242E3C"/>
                          </a:solidFill>
                          <a:latin typeface="Aptos"/>
                        </a:defRPr>
                      </a:pPr>
                      <a:r>
                        <a:t>5</a:t>
                      </a:r>
                    </a:p>
                  </a:txBody>
                  <a:tcPr marL="54864" marR="54864" marT="27432" marB="27432">
                    <a:solidFill>
                      <a:srgbClr val="FFFFFF"/>
                    </a:solidFill>
                  </a:tcPr>
                </a:tc>
                <a:tc>
                  <a:txBody>
                    <a:bodyPr/>
                    <a:lstStyle/>
                    <a:p>
                      <a:pPr>
                        <a:defRPr sz="930" b="0">
                          <a:solidFill>
                            <a:srgbClr val="242E3C"/>
                          </a:solidFill>
                          <a:latin typeface="Aptos"/>
                        </a:defRPr>
                      </a:pPr>
                      <a:r>
                        <a:t>33760919975</a:t>
                      </a:r>
                    </a:p>
                  </a:txBody>
                  <a:tcPr marL="54864" marR="54864" marT="27432" marB="27432">
                    <a:solidFill>
                      <a:srgbClr val="FFFFFF"/>
                    </a:solidFill>
                  </a:tcPr>
                </a:tc>
                <a:tc>
                  <a:txBody>
                    <a:bodyPr/>
                    <a:lstStyle/>
                    <a:p>
                      <a:pPr>
                        <a:defRPr sz="930" b="0">
                          <a:solidFill>
                            <a:srgbClr val="242E3C"/>
                          </a:solidFill>
                          <a:latin typeface="Aptos"/>
                        </a:defRPr>
                      </a:pPr>
                      <a:r>
                        <a:t>5.51</a:t>
                      </a:r>
                    </a:p>
                  </a:txBody>
                  <a:tcPr marL="54864" marR="54864" marT="27432" marB="27432">
                    <a:solidFill>
                      <a:srgbClr val="FFFFFF"/>
                    </a:solidFill>
                  </a:tcPr>
                </a:tc>
                <a:tc>
                  <a:txBody>
                    <a:bodyPr/>
                    <a:lstStyle/>
                    <a:p>
                      <a:pPr>
                        <a:defRPr sz="930" b="0">
                          <a:solidFill>
                            <a:srgbClr val="242E3C"/>
                          </a:solidFill>
                          <a:latin typeface="Aptos"/>
                        </a:defRPr>
                      </a:pPr>
                      <a:r>
                        <a:t>4.09</a:t>
                      </a:r>
                    </a:p>
                  </a:txBody>
                  <a:tcPr marL="54864" marR="54864" marT="27432" marB="27432">
                    <a:solidFill>
                      <a:srgbClr val="FFFFFF"/>
                    </a:solidFill>
                  </a:tcPr>
                </a:tc>
                <a:tc>
                  <a:txBody>
                    <a:bodyPr/>
                    <a:lstStyle/>
                    <a:p>
                      <a:pPr>
                        <a:defRPr sz="930" b="0">
                          <a:solidFill>
                            <a:srgbClr val="242E3C"/>
                          </a:solidFill>
                          <a:latin typeface="Aptos"/>
                        </a:defRPr>
                      </a:pPr>
                      <a:r>
                        <a:t>4.798</a:t>
                      </a:r>
                    </a:p>
                  </a:txBody>
                  <a:tcPr marL="54864" marR="54864" marT="27432" marB="27432">
                    <a:solidFill>
                      <a:srgbClr val="FFFFFF"/>
                    </a:solidFill>
                  </a:tcPr>
                </a:tc>
                <a:extLst>
                  <a:ext uri="{0D108BD9-81ED-4DB2-BD59-A6C34878D82A}">
                    <a16:rowId xmlns:a16="http://schemas.microsoft.com/office/drawing/2014/main" val="10005"/>
                  </a:ext>
                </a:extLst>
              </a:tr>
              <a:tr h="411480">
                <a:tc>
                  <a:txBody>
                    <a:bodyPr/>
                    <a:lstStyle/>
                    <a:p>
                      <a:pPr>
                        <a:defRPr sz="930" b="0">
                          <a:solidFill>
                            <a:srgbClr val="242E3C"/>
                          </a:solidFill>
                          <a:latin typeface="Aptos"/>
                        </a:defRPr>
                      </a:pPr>
                      <a:r>
                        <a:t>6</a:t>
                      </a:r>
                    </a:p>
                  </a:txBody>
                  <a:tcPr marL="54864" marR="54864" marT="27432" marB="27432">
                    <a:solidFill>
                      <a:srgbClr val="F2F5F8"/>
                    </a:solidFill>
                  </a:tcPr>
                </a:tc>
                <a:tc>
                  <a:txBody>
                    <a:bodyPr/>
                    <a:lstStyle/>
                    <a:p>
                      <a:pPr>
                        <a:defRPr sz="930" b="0">
                          <a:solidFill>
                            <a:srgbClr val="242E3C"/>
                          </a:solidFill>
                          <a:latin typeface="Aptos"/>
                        </a:defRPr>
                      </a:pPr>
                      <a:r>
                        <a:t>33663374648</a:t>
                      </a:r>
                    </a:p>
                  </a:txBody>
                  <a:tcPr marL="54864" marR="54864" marT="27432" marB="27432">
                    <a:solidFill>
                      <a:srgbClr val="F2F5F8"/>
                    </a:solidFill>
                  </a:tcPr>
                </a:tc>
                <a:tc>
                  <a:txBody>
                    <a:bodyPr/>
                    <a:lstStyle/>
                    <a:p>
                      <a:pPr>
                        <a:defRPr sz="930" b="0">
                          <a:solidFill>
                            <a:srgbClr val="242E3C"/>
                          </a:solidFill>
                          <a:latin typeface="Aptos"/>
                        </a:defRPr>
                      </a:pPr>
                      <a:r>
                        <a:t>5.68</a:t>
                      </a:r>
                    </a:p>
                  </a:txBody>
                  <a:tcPr marL="54864" marR="54864" marT="27432" marB="27432">
                    <a:solidFill>
                      <a:srgbClr val="F2F5F8"/>
                    </a:solidFill>
                  </a:tcPr>
                </a:tc>
                <a:tc>
                  <a:txBody>
                    <a:bodyPr/>
                    <a:lstStyle/>
                    <a:p>
                      <a:pPr>
                        <a:defRPr sz="930" b="0">
                          <a:solidFill>
                            <a:srgbClr val="242E3C"/>
                          </a:solidFill>
                          <a:latin typeface="Aptos"/>
                        </a:defRPr>
                      </a:pPr>
                      <a:r>
                        <a:t>3.83</a:t>
                      </a:r>
                    </a:p>
                  </a:txBody>
                  <a:tcPr marL="54864" marR="54864" marT="27432" marB="27432">
                    <a:solidFill>
                      <a:srgbClr val="F2F5F8"/>
                    </a:solidFill>
                  </a:tcPr>
                </a:tc>
                <a:tc>
                  <a:txBody>
                    <a:bodyPr/>
                    <a:lstStyle/>
                    <a:p>
                      <a:pPr>
                        <a:defRPr sz="930" b="0">
                          <a:solidFill>
                            <a:srgbClr val="242E3C"/>
                          </a:solidFill>
                          <a:latin typeface="Aptos"/>
                        </a:defRPr>
                      </a:pPr>
                      <a:r>
                        <a:t>4.753</a:t>
                      </a:r>
                    </a:p>
                  </a:txBody>
                  <a:tcPr marL="54864" marR="54864" marT="27432" marB="27432">
                    <a:solidFill>
                      <a:srgbClr val="F2F5F8"/>
                    </a:solidFill>
                  </a:tcPr>
                </a:tc>
                <a:extLst>
                  <a:ext uri="{0D108BD9-81ED-4DB2-BD59-A6C34878D82A}">
                    <a16:rowId xmlns:a16="http://schemas.microsoft.com/office/drawing/2014/main" val="10006"/>
                  </a:ext>
                </a:extLst>
              </a:tr>
              <a:tr h="411480">
                <a:tc>
                  <a:txBody>
                    <a:bodyPr/>
                    <a:lstStyle/>
                    <a:p>
                      <a:pPr>
                        <a:defRPr sz="930" b="0">
                          <a:solidFill>
                            <a:srgbClr val="242E3C"/>
                          </a:solidFill>
                          <a:latin typeface="Aptos"/>
                        </a:defRPr>
                      </a:pPr>
                      <a:r>
                        <a:t>7</a:t>
                      </a:r>
                    </a:p>
                  </a:txBody>
                  <a:tcPr marL="54864" marR="54864" marT="27432" marB="27432">
                    <a:solidFill>
                      <a:srgbClr val="FFFFFF"/>
                    </a:solidFill>
                  </a:tcPr>
                </a:tc>
                <a:tc>
                  <a:txBody>
                    <a:bodyPr/>
                    <a:lstStyle/>
                    <a:p>
                      <a:pPr>
                        <a:defRPr sz="930" b="0">
                          <a:solidFill>
                            <a:srgbClr val="242E3C"/>
                          </a:solidFill>
                          <a:latin typeface="Aptos"/>
                        </a:defRPr>
                      </a:pPr>
                      <a:r>
                        <a:t>33698180764</a:t>
                      </a:r>
                    </a:p>
                  </a:txBody>
                  <a:tcPr marL="54864" marR="54864" marT="27432" marB="27432">
                    <a:solidFill>
                      <a:srgbClr val="FFFFFF"/>
                    </a:solidFill>
                  </a:tcPr>
                </a:tc>
                <a:tc>
                  <a:txBody>
                    <a:bodyPr/>
                    <a:lstStyle/>
                    <a:p>
                      <a:pPr>
                        <a:defRPr sz="930" b="0">
                          <a:solidFill>
                            <a:srgbClr val="242E3C"/>
                          </a:solidFill>
                          <a:latin typeface="Aptos"/>
                        </a:defRPr>
                      </a:pPr>
                      <a:r>
                        <a:t>5.40</a:t>
                      </a:r>
                    </a:p>
                  </a:txBody>
                  <a:tcPr marL="54864" marR="54864" marT="27432" marB="27432">
                    <a:solidFill>
                      <a:srgbClr val="FFFFFF"/>
                    </a:solidFill>
                  </a:tcPr>
                </a:tc>
                <a:tc>
                  <a:txBody>
                    <a:bodyPr/>
                    <a:lstStyle/>
                    <a:p>
                      <a:pPr>
                        <a:defRPr sz="930" b="0">
                          <a:solidFill>
                            <a:srgbClr val="242E3C"/>
                          </a:solidFill>
                          <a:latin typeface="Aptos"/>
                        </a:defRPr>
                      </a:pPr>
                      <a:r>
                        <a:t>4.10</a:t>
                      </a:r>
                    </a:p>
                  </a:txBody>
                  <a:tcPr marL="54864" marR="54864" marT="27432" marB="27432">
                    <a:solidFill>
                      <a:srgbClr val="FFFFFF"/>
                    </a:solidFill>
                  </a:tcPr>
                </a:tc>
                <a:tc>
                  <a:txBody>
                    <a:bodyPr/>
                    <a:lstStyle/>
                    <a:p>
                      <a:pPr>
                        <a:defRPr sz="930" b="0">
                          <a:solidFill>
                            <a:srgbClr val="242E3C"/>
                          </a:solidFill>
                          <a:latin typeface="Aptos"/>
                        </a:defRPr>
                      </a:pPr>
                      <a:r>
                        <a:t>4.751</a:t>
                      </a:r>
                    </a:p>
                  </a:txBody>
                  <a:tcPr marL="54864" marR="54864" marT="27432" marB="27432">
                    <a:solidFill>
                      <a:srgbClr val="FFFFFF"/>
                    </a:solidFill>
                  </a:tcPr>
                </a:tc>
                <a:extLst>
                  <a:ext uri="{0D108BD9-81ED-4DB2-BD59-A6C34878D82A}">
                    <a16:rowId xmlns:a16="http://schemas.microsoft.com/office/drawing/2014/main" val="10007"/>
                  </a:ext>
                </a:extLst>
              </a:tr>
              <a:tr h="411480">
                <a:tc>
                  <a:txBody>
                    <a:bodyPr/>
                    <a:lstStyle/>
                    <a:p>
                      <a:pPr>
                        <a:defRPr sz="930" b="0">
                          <a:solidFill>
                            <a:srgbClr val="242E3C"/>
                          </a:solidFill>
                          <a:latin typeface="Aptos"/>
                        </a:defRPr>
                      </a:pPr>
                      <a:r>
                        <a:t>8</a:t>
                      </a:r>
                    </a:p>
                  </a:txBody>
                  <a:tcPr marL="54864" marR="54864" marT="27432" marB="27432">
                    <a:solidFill>
                      <a:srgbClr val="F2F5F8"/>
                    </a:solidFill>
                  </a:tcPr>
                </a:tc>
                <a:tc>
                  <a:txBody>
                    <a:bodyPr/>
                    <a:lstStyle/>
                    <a:p>
                      <a:pPr>
                        <a:defRPr sz="930" b="0">
                          <a:solidFill>
                            <a:srgbClr val="242E3C"/>
                          </a:solidFill>
                          <a:latin typeface="Aptos"/>
                        </a:defRPr>
                      </a:pPr>
                      <a:r>
                        <a:t>33665700091</a:t>
                      </a:r>
                    </a:p>
                  </a:txBody>
                  <a:tcPr marL="54864" marR="54864" marT="27432" marB="27432">
                    <a:solidFill>
                      <a:srgbClr val="F2F5F8"/>
                    </a:solidFill>
                  </a:tcPr>
                </a:tc>
                <a:tc>
                  <a:txBody>
                    <a:bodyPr/>
                    <a:lstStyle/>
                    <a:p>
                      <a:pPr>
                        <a:defRPr sz="930" b="0">
                          <a:solidFill>
                            <a:srgbClr val="242E3C"/>
                          </a:solidFill>
                          <a:latin typeface="Aptos"/>
                        </a:defRPr>
                      </a:pPr>
                      <a:r>
                        <a:t>5.66</a:t>
                      </a:r>
                    </a:p>
                  </a:txBody>
                  <a:tcPr marL="54864" marR="54864" marT="27432" marB="27432">
                    <a:solidFill>
                      <a:srgbClr val="F2F5F8"/>
                    </a:solidFill>
                  </a:tcPr>
                </a:tc>
                <a:tc>
                  <a:txBody>
                    <a:bodyPr/>
                    <a:lstStyle/>
                    <a:p>
                      <a:pPr>
                        <a:defRPr sz="930" b="0">
                          <a:solidFill>
                            <a:srgbClr val="242E3C"/>
                          </a:solidFill>
                          <a:latin typeface="Aptos"/>
                        </a:defRPr>
                      </a:pPr>
                      <a:r>
                        <a:t>3.68</a:t>
                      </a:r>
                    </a:p>
                  </a:txBody>
                  <a:tcPr marL="54864" marR="54864" marT="27432" marB="27432">
                    <a:solidFill>
                      <a:srgbClr val="F2F5F8"/>
                    </a:solidFill>
                  </a:tcPr>
                </a:tc>
                <a:tc>
                  <a:txBody>
                    <a:bodyPr/>
                    <a:lstStyle/>
                    <a:p>
                      <a:pPr>
                        <a:defRPr sz="930" b="0">
                          <a:solidFill>
                            <a:srgbClr val="242E3C"/>
                          </a:solidFill>
                          <a:latin typeface="Aptos"/>
                        </a:defRPr>
                      </a:pPr>
                      <a:r>
                        <a:t>4.670</a:t>
                      </a:r>
                    </a:p>
                  </a:txBody>
                  <a:tcPr marL="54864" marR="54864" marT="27432" marB="27432">
                    <a:solidFill>
                      <a:srgbClr val="F2F5F8"/>
                    </a:solidFill>
                  </a:tcPr>
                </a:tc>
                <a:extLst>
                  <a:ext uri="{0D108BD9-81ED-4DB2-BD59-A6C34878D82A}">
                    <a16:rowId xmlns:a16="http://schemas.microsoft.com/office/drawing/2014/main" val="10008"/>
                  </a:ext>
                </a:extLst>
              </a:tr>
              <a:tr h="411480">
                <a:tc>
                  <a:txBody>
                    <a:bodyPr/>
                    <a:lstStyle/>
                    <a:p>
                      <a:pPr>
                        <a:defRPr sz="930" b="0">
                          <a:solidFill>
                            <a:srgbClr val="242E3C"/>
                          </a:solidFill>
                          <a:latin typeface="Aptos"/>
                        </a:defRPr>
                      </a:pPr>
                      <a:r>
                        <a:t>9</a:t>
                      </a:r>
                    </a:p>
                  </a:txBody>
                  <a:tcPr marL="54864" marR="54864" marT="27432" marB="27432">
                    <a:solidFill>
                      <a:srgbClr val="FFFFFF"/>
                    </a:solidFill>
                  </a:tcPr>
                </a:tc>
                <a:tc>
                  <a:txBody>
                    <a:bodyPr/>
                    <a:lstStyle/>
                    <a:p>
                      <a:pPr>
                        <a:defRPr sz="930" b="0">
                          <a:solidFill>
                            <a:srgbClr val="242E3C"/>
                          </a:solidFill>
                          <a:latin typeface="Aptos"/>
                        </a:defRPr>
                      </a:pPr>
                      <a:r>
                        <a:t>33665596600</a:t>
                      </a:r>
                    </a:p>
                  </a:txBody>
                  <a:tcPr marL="54864" marR="54864" marT="27432" marB="27432">
                    <a:solidFill>
                      <a:srgbClr val="FFFFFF"/>
                    </a:solidFill>
                  </a:tcPr>
                </a:tc>
                <a:tc>
                  <a:txBody>
                    <a:bodyPr/>
                    <a:lstStyle/>
                    <a:p>
                      <a:pPr>
                        <a:defRPr sz="930" b="0">
                          <a:solidFill>
                            <a:srgbClr val="242E3C"/>
                          </a:solidFill>
                          <a:latin typeface="Aptos"/>
                        </a:defRPr>
                      </a:pPr>
                      <a:r>
                        <a:t>5.50</a:t>
                      </a:r>
                    </a:p>
                  </a:txBody>
                  <a:tcPr marL="54864" marR="54864" marT="27432" marB="27432">
                    <a:solidFill>
                      <a:srgbClr val="FFFFFF"/>
                    </a:solidFill>
                  </a:tcPr>
                </a:tc>
                <a:tc>
                  <a:txBody>
                    <a:bodyPr/>
                    <a:lstStyle/>
                    <a:p>
                      <a:pPr>
                        <a:defRPr sz="930" b="0">
                          <a:solidFill>
                            <a:srgbClr val="242E3C"/>
                          </a:solidFill>
                          <a:latin typeface="Aptos"/>
                        </a:defRPr>
                      </a:pPr>
                      <a:r>
                        <a:t>3.82</a:t>
                      </a:r>
                    </a:p>
                  </a:txBody>
                  <a:tcPr marL="54864" marR="54864" marT="27432" marB="27432">
                    <a:solidFill>
                      <a:srgbClr val="FFFFFF"/>
                    </a:solidFill>
                  </a:tcPr>
                </a:tc>
                <a:tc>
                  <a:txBody>
                    <a:bodyPr/>
                    <a:lstStyle/>
                    <a:p>
                      <a:pPr>
                        <a:defRPr sz="930" b="0">
                          <a:solidFill>
                            <a:srgbClr val="242E3C"/>
                          </a:solidFill>
                          <a:latin typeface="Aptos"/>
                        </a:defRPr>
                      </a:pPr>
                      <a:r>
                        <a:t>4.662</a:t>
                      </a:r>
                    </a:p>
                  </a:txBody>
                  <a:tcPr marL="54864" marR="54864" marT="27432" marB="27432">
                    <a:solidFill>
                      <a:srgbClr val="FFFFFF"/>
                    </a:solidFill>
                  </a:tcPr>
                </a:tc>
                <a:extLst>
                  <a:ext uri="{0D108BD9-81ED-4DB2-BD59-A6C34878D82A}">
                    <a16:rowId xmlns:a16="http://schemas.microsoft.com/office/drawing/2014/main" val="10009"/>
                  </a:ext>
                </a:extLst>
              </a:tr>
              <a:tr h="411480">
                <a:tc>
                  <a:txBody>
                    <a:bodyPr/>
                    <a:lstStyle/>
                    <a:p>
                      <a:pPr>
                        <a:defRPr sz="930" b="0">
                          <a:solidFill>
                            <a:srgbClr val="242E3C"/>
                          </a:solidFill>
                          <a:latin typeface="Aptos"/>
                        </a:defRPr>
                      </a:pPr>
                      <a:r>
                        <a:t>10</a:t>
                      </a:r>
                    </a:p>
                  </a:txBody>
                  <a:tcPr marL="54864" marR="54864" marT="27432" marB="27432">
                    <a:solidFill>
                      <a:srgbClr val="F2F5F8"/>
                    </a:solidFill>
                  </a:tcPr>
                </a:tc>
                <a:tc>
                  <a:txBody>
                    <a:bodyPr/>
                    <a:lstStyle/>
                    <a:p>
                      <a:pPr>
                        <a:defRPr sz="930" b="0">
                          <a:solidFill>
                            <a:srgbClr val="242E3C"/>
                          </a:solidFill>
                          <a:latin typeface="Aptos"/>
                        </a:defRPr>
                      </a:pPr>
                      <a:r>
                        <a:t>33660288815</a:t>
                      </a:r>
                    </a:p>
                  </a:txBody>
                  <a:tcPr marL="54864" marR="54864" marT="27432" marB="27432">
                    <a:solidFill>
                      <a:srgbClr val="F2F5F8"/>
                    </a:solidFill>
                  </a:tcPr>
                </a:tc>
                <a:tc>
                  <a:txBody>
                    <a:bodyPr/>
                    <a:lstStyle/>
                    <a:p>
                      <a:pPr>
                        <a:defRPr sz="930" b="0">
                          <a:solidFill>
                            <a:srgbClr val="242E3C"/>
                          </a:solidFill>
                          <a:latin typeface="Aptos"/>
                        </a:defRPr>
                      </a:pPr>
                      <a:r>
                        <a:t>4.95</a:t>
                      </a:r>
                    </a:p>
                  </a:txBody>
                  <a:tcPr marL="54864" marR="54864" marT="27432" marB="27432">
                    <a:solidFill>
                      <a:srgbClr val="F2F5F8"/>
                    </a:solidFill>
                  </a:tcPr>
                </a:tc>
                <a:tc>
                  <a:txBody>
                    <a:bodyPr/>
                    <a:lstStyle/>
                    <a:p>
                      <a:pPr>
                        <a:defRPr sz="930" b="0">
                          <a:solidFill>
                            <a:srgbClr val="242E3C"/>
                          </a:solidFill>
                          <a:latin typeface="Aptos"/>
                        </a:defRPr>
                      </a:pPr>
                      <a:r>
                        <a:t>4.33</a:t>
                      </a:r>
                    </a:p>
                  </a:txBody>
                  <a:tcPr marL="54864" marR="54864" marT="27432" marB="27432">
                    <a:solidFill>
                      <a:srgbClr val="F2F5F8"/>
                    </a:solidFill>
                  </a:tcPr>
                </a:tc>
                <a:tc>
                  <a:txBody>
                    <a:bodyPr/>
                    <a:lstStyle/>
                    <a:p>
                      <a:pPr>
                        <a:defRPr sz="930" b="0">
                          <a:solidFill>
                            <a:srgbClr val="242E3C"/>
                          </a:solidFill>
                          <a:latin typeface="Aptos"/>
                        </a:defRPr>
                      </a:pPr>
                      <a:r>
                        <a:t>4.643</a:t>
                      </a:r>
                    </a:p>
                  </a:txBody>
                  <a:tcPr marL="54864" marR="54864" marT="27432" marB="27432">
                    <a:solidFill>
                      <a:srgbClr val="F2F5F8"/>
                    </a:solidFill>
                  </a:tcPr>
                </a:tc>
                <a:extLst>
                  <a:ext uri="{0D108BD9-81ED-4DB2-BD59-A6C34878D82A}">
                    <a16:rowId xmlns:a16="http://schemas.microsoft.com/office/drawing/2014/main" val="10010"/>
                  </a:ext>
                </a:extLst>
              </a:tr>
            </a:tbl>
          </a:graphicData>
        </a:graphic>
      </p:graphicFrame>
      <p:sp>
        <p:nvSpPr>
          <p:cNvPr id="7" name="Rounded Rectangle 6"/>
          <p:cNvSpPr/>
          <p:nvPr/>
        </p:nvSpPr>
        <p:spPr>
          <a:xfrm>
            <a:off x="8275320" y="1463040"/>
            <a:ext cx="297180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75320" y="1463040"/>
            <a:ext cx="64008" cy="1234440"/>
          </a:xfrm>
          <a:prstGeom prst="rect">
            <a:avLst/>
          </a:prstGeom>
          <a:solidFill>
            <a:srgbClr val="EBB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76488" y="1618488"/>
            <a:ext cx="2651760" cy="274320"/>
          </a:xfrm>
          <a:prstGeom prst="rect">
            <a:avLst/>
          </a:prstGeom>
          <a:noFill/>
        </p:spPr>
        <p:txBody>
          <a:bodyPr wrap="square" anchor="t">
            <a:spAutoFit/>
          </a:bodyPr>
          <a:lstStyle/>
          <a:p>
            <a:pPr algn="l"/>
            <a:r>
              <a:rPr sz="1050" b="1">
                <a:solidFill>
                  <a:srgbClr val="677486"/>
                </a:solidFill>
                <a:latin typeface="Aptos"/>
              </a:rPr>
              <a:t>TOP SCORE</a:t>
            </a:r>
          </a:p>
        </p:txBody>
      </p:sp>
      <p:sp>
        <p:nvSpPr>
          <p:cNvPr id="10" name="TextBox 9"/>
          <p:cNvSpPr txBox="1"/>
          <p:nvPr/>
        </p:nvSpPr>
        <p:spPr>
          <a:xfrm>
            <a:off x="8476488" y="1938528"/>
            <a:ext cx="2651760" cy="502920"/>
          </a:xfrm>
          <a:prstGeom prst="rect">
            <a:avLst/>
          </a:prstGeom>
          <a:noFill/>
        </p:spPr>
        <p:txBody>
          <a:bodyPr wrap="square" anchor="t">
            <a:spAutoFit/>
          </a:bodyPr>
          <a:lstStyle/>
          <a:p>
            <a:pPr algn="l"/>
            <a:r>
              <a:rPr sz="2300" b="1">
                <a:solidFill>
                  <a:srgbClr val="101C30"/>
                </a:solidFill>
                <a:latin typeface="Aptos Display"/>
              </a:rPr>
              <a:t>4.988</a:t>
            </a:r>
          </a:p>
        </p:txBody>
      </p:sp>
      <p:sp>
        <p:nvSpPr>
          <p:cNvPr id="11" name="TextBox 10"/>
          <p:cNvSpPr txBox="1"/>
          <p:nvPr/>
        </p:nvSpPr>
        <p:spPr>
          <a:xfrm>
            <a:off x="8476488" y="2487168"/>
            <a:ext cx="2651760" cy="384048"/>
          </a:xfrm>
          <a:prstGeom prst="rect">
            <a:avLst/>
          </a:prstGeom>
          <a:noFill/>
        </p:spPr>
        <p:txBody>
          <a:bodyPr wrap="square" anchor="t">
            <a:spAutoFit/>
          </a:bodyPr>
          <a:lstStyle/>
          <a:p>
            <a:pPr algn="l"/>
            <a:r>
              <a:rPr sz="950" b="0">
                <a:solidFill>
                  <a:srgbClr val="677486"/>
                </a:solidFill>
                <a:latin typeface="Aptos"/>
              </a:rPr>
              <a:t>customer 33699856436</a:t>
            </a:r>
          </a:p>
        </p:txBody>
      </p:sp>
      <p:sp>
        <p:nvSpPr>
          <p:cNvPr id="12" name="Rounded Rectangle 11"/>
          <p:cNvSpPr/>
          <p:nvPr/>
        </p:nvSpPr>
        <p:spPr>
          <a:xfrm>
            <a:off x="8275320" y="2926080"/>
            <a:ext cx="297180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75320" y="2926080"/>
            <a:ext cx="64008" cy="123444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76488" y="3081528"/>
            <a:ext cx="2651760" cy="274320"/>
          </a:xfrm>
          <a:prstGeom prst="rect">
            <a:avLst/>
          </a:prstGeom>
          <a:noFill/>
        </p:spPr>
        <p:txBody>
          <a:bodyPr wrap="square" anchor="t">
            <a:spAutoFit/>
          </a:bodyPr>
          <a:lstStyle/>
          <a:p>
            <a:pPr algn="l"/>
            <a:r>
              <a:rPr sz="1050" b="1">
                <a:solidFill>
                  <a:srgbClr val="677486"/>
                </a:solidFill>
                <a:latin typeface="Aptos"/>
              </a:rPr>
              <a:t>TOP-10 RANGE</a:t>
            </a:r>
          </a:p>
        </p:txBody>
      </p:sp>
      <p:sp>
        <p:nvSpPr>
          <p:cNvPr id="15" name="TextBox 14"/>
          <p:cNvSpPr txBox="1"/>
          <p:nvPr/>
        </p:nvSpPr>
        <p:spPr>
          <a:xfrm>
            <a:off x="8476488" y="3401568"/>
            <a:ext cx="2651760" cy="502920"/>
          </a:xfrm>
          <a:prstGeom prst="rect">
            <a:avLst/>
          </a:prstGeom>
          <a:noFill/>
        </p:spPr>
        <p:txBody>
          <a:bodyPr wrap="square" anchor="t">
            <a:spAutoFit/>
          </a:bodyPr>
          <a:lstStyle/>
          <a:p>
            <a:pPr algn="l"/>
            <a:r>
              <a:rPr sz="2300" b="1">
                <a:solidFill>
                  <a:srgbClr val="101C30"/>
                </a:solidFill>
                <a:latin typeface="Aptos Display"/>
              </a:rPr>
              <a:t>4.64–4.99</a:t>
            </a:r>
          </a:p>
        </p:txBody>
      </p:sp>
      <p:sp>
        <p:nvSpPr>
          <p:cNvPr id="16" name="TextBox 15"/>
          <p:cNvSpPr txBox="1"/>
          <p:nvPr/>
        </p:nvSpPr>
        <p:spPr>
          <a:xfrm>
            <a:off x="8476488" y="3950208"/>
            <a:ext cx="2651760" cy="384048"/>
          </a:xfrm>
          <a:prstGeom prst="rect">
            <a:avLst/>
          </a:prstGeom>
          <a:noFill/>
        </p:spPr>
        <p:txBody>
          <a:bodyPr wrap="square" anchor="t">
            <a:spAutoFit/>
          </a:bodyPr>
          <a:lstStyle/>
          <a:p>
            <a:pPr algn="l"/>
            <a:r>
              <a:rPr sz="950" b="0">
                <a:solidFill>
                  <a:srgbClr val="677486"/>
                </a:solidFill>
                <a:latin typeface="Aptos"/>
              </a:rPr>
              <a:t>vs overall mean 1.78</a:t>
            </a:r>
          </a:p>
        </p:txBody>
      </p:sp>
      <p:sp>
        <p:nvSpPr>
          <p:cNvPr id="17" name="Rounded Rectangle 16"/>
          <p:cNvSpPr/>
          <p:nvPr/>
        </p:nvSpPr>
        <p:spPr>
          <a:xfrm>
            <a:off x="8275320" y="4434840"/>
            <a:ext cx="2971800" cy="1572768"/>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0" y="4489704"/>
            <a:ext cx="64008" cy="146304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58200" y="4572000"/>
            <a:ext cx="2697480" cy="338554"/>
          </a:xfrm>
          <a:prstGeom prst="rect">
            <a:avLst/>
          </a:prstGeom>
          <a:noFill/>
        </p:spPr>
        <p:txBody>
          <a:bodyPr wrap="square" anchor="t">
            <a:spAutoFit/>
          </a:bodyPr>
          <a:lstStyle/>
          <a:p>
            <a:pPr algn="l"/>
            <a:r>
              <a:rPr sz="1600" b="1" dirty="0">
                <a:solidFill>
                  <a:srgbClr val="101C30"/>
                </a:solidFill>
                <a:latin typeface="Aptos"/>
              </a:rPr>
              <a:t>Interpretation</a:t>
            </a:r>
          </a:p>
        </p:txBody>
      </p:sp>
      <p:sp>
        <p:nvSpPr>
          <p:cNvPr id="20" name="TextBox 19"/>
          <p:cNvSpPr txBox="1"/>
          <p:nvPr/>
        </p:nvSpPr>
        <p:spPr>
          <a:xfrm>
            <a:off x="8435340" y="4834711"/>
            <a:ext cx="2651760" cy="1200329"/>
          </a:xfrm>
          <a:prstGeom prst="rect">
            <a:avLst/>
          </a:prstGeom>
          <a:noFill/>
        </p:spPr>
        <p:txBody>
          <a:bodyPr wrap="square" anchor="t">
            <a:spAutoFit/>
          </a:bodyPr>
          <a:lstStyle/>
          <a:p>
            <a:pPr algn="l"/>
            <a:r>
              <a:rPr sz="1200" b="0" dirty="0">
                <a:solidFill>
                  <a:srgbClr val="242E3C"/>
                </a:solidFill>
                <a:latin typeface="Aptos"/>
              </a:rPr>
              <a:t>The top 10 are far above the overall average on this derived satisfaction metric. They are useful as a benchmark segment for understanding high-value usage and network conditions.</a:t>
            </a:r>
          </a:p>
        </p:txBody>
      </p:sp>
      <p:sp>
        <p:nvSpPr>
          <p:cNvPr id="21" name="TextBox 20"/>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22" name="TextBox 21"/>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62658"/>
            <a:ext cx="6839712" cy="646331"/>
          </a:xfrm>
          <a:prstGeom prst="rect">
            <a:avLst/>
          </a:prstGeom>
          <a:noFill/>
        </p:spPr>
        <p:txBody>
          <a:bodyPr wrap="square">
            <a:spAutoFit/>
          </a:bodyPr>
          <a:lstStyle/>
          <a:p>
            <a:r>
              <a:rPr sz="3600" b="1" dirty="0">
                <a:solidFill>
                  <a:srgbClr val="101C30"/>
                </a:solidFill>
                <a:latin typeface="Aptos Display"/>
              </a:rPr>
              <a:t>Satisfaction Prediction Model</a:t>
            </a:r>
          </a:p>
        </p:txBody>
      </p:sp>
      <p:sp>
        <p:nvSpPr>
          <p:cNvPr id="4" name="TextBox 3"/>
          <p:cNvSpPr txBox="1"/>
          <p:nvPr/>
        </p:nvSpPr>
        <p:spPr>
          <a:xfrm>
            <a:off x="566928" y="850392"/>
            <a:ext cx="10881360" cy="347472"/>
          </a:xfrm>
          <a:prstGeom prst="rect">
            <a:avLst/>
          </a:prstGeom>
          <a:solidFill>
            <a:schemeClr val="bg1"/>
          </a:solidFill>
        </p:spPr>
        <p:txBody>
          <a:bodyPr wrap="none">
            <a:spAutoFit/>
          </a:bodyPr>
          <a:lstStyle/>
          <a:p>
            <a:r>
              <a:rPr sz="1050">
                <a:solidFill>
                  <a:srgbClr val="677486"/>
                </a:solidFill>
                <a:latin typeface="Aptos"/>
              </a:rPr>
              <a:t>Random Forest regression predicts the derived satisfaction score</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417320"/>
            <a:ext cx="2468880" cy="11887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417320"/>
            <a:ext cx="64008" cy="1188720"/>
          </a:xfrm>
          <a:prstGeom prst="rect">
            <a:avLst/>
          </a:prstGeom>
          <a:solidFill>
            <a:srgbClr val="36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572768"/>
            <a:ext cx="2148840" cy="274320"/>
          </a:xfrm>
          <a:prstGeom prst="rect">
            <a:avLst/>
          </a:prstGeom>
          <a:noFill/>
        </p:spPr>
        <p:txBody>
          <a:bodyPr wrap="square" anchor="t">
            <a:spAutoFit/>
          </a:bodyPr>
          <a:lstStyle/>
          <a:p>
            <a:pPr algn="l"/>
            <a:r>
              <a:rPr sz="1050" b="1">
                <a:solidFill>
                  <a:srgbClr val="677486"/>
                </a:solidFill>
                <a:latin typeface="Aptos"/>
              </a:rPr>
              <a:t>R²</a:t>
            </a:r>
          </a:p>
        </p:txBody>
      </p:sp>
      <p:sp>
        <p:nvSpPr>
          <p:cNvPr id="9" name="TextBox 8"/>
          <p:cNvSpPr txBox="1"/>
          <p:nvPr/>
        </p:nvSpPr>
        <p:spPr>
          <a:xfrm>
            <a:off x="841247" y="1892808"/>
            <a:ext cx="2148840" cy="502920"/>
          </a:xfrm>
          <a:prstGeom prst="rect">
            <a:avLst/>
          </a:prstGeom>
          <a:noFill/>
        </p:spPr>
        <p:txBody>
          <a:bodyPr wrap="square" anchor="t">
            <a:spAutoFit/>
          </a:bodyPr>
          <a:lstStyle/>
          <a:p>
            <a:pPr algn="l"/>
            <a:r>
              <a:rPr sz="2300" b="1">
                <a:solidFill>
                  <a:srgbClr val="101C30"/>
                </a:solidFill>
                <a:latin typeface="Aptos Display"/>
              </a:rPr>
              <a:t>0.9953</a:t>
            </a:r>
          </a:p>
        </p:txBody>
      </p:sp>
      <p:sp>
        <p:nvSpPr>
          <p:cNvPr id="10" name="TextBox 9"/>
          <p:cNvSpPr txBox="1"/>
          <p:nvPr/>
        </p:nvSpPr>
        <p:spPr>
          <a:xfrm>
            <a:off x="800100" y="2377440"/>
            <a:ext cx="2148840" cy="384048"/>
          </a:xfrm>
          <a:prstGeom prst="rect">
            <a:avLst/>
          </a:prstGeom>
          <a:noFill/>
        </p:spPr>
        <p:txBody>
          <a:bodyPr wrap="square" anchor="t">
            <a:spAutoFit/>
          </a:bodyPr>
          <a:lstStyle/>
          <a:p>
            <a:pPr algn="l"/>
            <a:r>
              <a:rPr sz="950" b="0" dirty="0">
                <a:solidFill>
                  <a:srgbClr val="677486"/>
                </a:solidFill>
                <a:latin typeface="Aptos"/>
              </a:rPr>
              <a:t>99.53% variance explained</a:t>
            </a:r>
          </a:p>
        </p:txBody>
      </p:sp>
      <p:sp>
        <p:nvSpPr>
          <p:cNvPr id="11" name="Rounded Rectangle 10"/>
          <p:cNvSpPr/>
          <p:nvPr/>
        </p:nvSpPr>
        <p:spPr>
          <a:xfrm>
            <a:off x="3337560" y="1417320"/>
            <a:ext cx="2468880" cy="11887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37560" y="1417320"/>
            <a:ext cx="64008" cy="118872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38728" y="1572768"/>
            <a:ext cx="2148840" cy="274320"/>
          </a:xfrm>
          <a:prstGeom prst="rect">
            <a:avLst/>
          </a:prstGeom>
          <a:noFill/>
        </p:spPr>
        <p:txBody>
          <a:bodyPr wrap="square" anchor="t">
            <a:spAutoFit/>
          </a:bodyPr>
          <a:lstStyle/>
          <a:p>
            <a:pPr algn="l"/>
            <a:r>
              <a:rPr sz="1050" b="1">
                <a:solidFill>
                  <a:srgbClr val="677486"/>
                </a:solidFill>
                <a:latin typeface="Aptos"/>
              </a:rPr>
              <a:t>MAE</a:t>
            </a:r>
          </a:p>
        </p:txBody>
      </p:sp>
      <p:sp>
        <p:nvSpPr>
          <p:cNvPr id="14" name="TextBox 13"/>
          <p:cNvSpPr txBox="1"/>
          <p:nvPr/>
        </p:nvSpPr>
        <p:spPr>
          <a:xfrm>
            <a:off x="3538728" y="1892808"/>
            <a:ext cx="2148840" cy="502920"/>
          </a:xfrm>
          <a:prstGeom prst="rect">
            <a:avLst/>
          </a:prstGeom>
          <a:noFill/>
        </p:spPr>
        <p:txBody>
          <a:bodyPr wrap="square" anchor="t">
            <a:spAutoFit/>
          </a:bodyPr>
          <a:lstStyle/>
          <a:p>
            <a:pPr algn="l"/>
            <a:r>
              <a:rPr sz="2300" b="1">
                <a:solidFill>
                  <a:srgbClr val="101C30"/>
                </a:solidFill>
                <a:latin typeface="Aptos Display"/>
              </a:rPr>
              <a:t>0.0234</a:t>
            </a:r>
          </a:p>
        </p:txBody>
      </p:sp>
      <p:sp>
        <p:nvSpPr>
          <p:cNvPr id="15" name="TextBox 14"/>
          <p:cNvSpPr txBox="1"/>
          <p:nvPr/>
        </p:nvSpPr>
        <p:spPr>
          <a:xfrm>
            <a:off x="3538728" y="2393565"/>
            <a:ext cx="2148840" cy="384048"/>
          </a:xfrm>
          <a:prstGeom prst="rect">
            <a:avLst/>
          </a:prstGeom>
          <a:noFill/>
        </p:spPr>
        <p:txBody>
          <a:bodyPr wrap="square" anchor="t">
            <a:spAutoFit/>
          </a:bodyPr>
          <a:lstStyle/>
          <a:p>
            <a:pPr algn="l"/>
            <a:r>
              <a:rPr sz="950" b="0" dirty="0">
                <a:solidFill>
                  <a:srgbClr val="677486"/>
                </a:solidFill>
                <a:latin typeface="Aptos"/>
              </a:rPr>
              <a:t>mean absolute error</a:t>
            </a:r>
          </a:p>
        </p:txBody>
      </p:sp>
      <p:sp>
        <p:nvSpPr>
          <p:cNvPr id="16" name="Rounded Rectangle 15"/>
          <p:cNvSpPr/>
          <p:nvPr/>
        </p:nvSpPr>
        <p:spPr>
          <a:xfrm>
            <a:off x="6035040" y="1417320"/>
            <a:ext cx="2468880" cy="11887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35040" y="1417320"/>
            <a:ext cx="64008" cy="1188720"/>
          </a:xfrm>
          <a:prstGeom prst="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6207" y="1572768"/>
            <a:ext cx="2148840" cy="274320"/>
          </a:xfrm>
          <a:prstGeom prst="rect">
            <a:avLst/>
          </a:prstGeom>
          <a:noFill/>
        </p:spPr>
        <p:txBody>
          <a:bodyPr wrap="square" anchor="t">
            <a:spAutoFit/>
          </a:bodyPr>
          <a:lstStyle/>
          <a:p>
            <a:pPr algn="l"/>
            <a:r>
              <a:rPr sz="1050" b="1">
                <a:solidFill>
                  <a:srgbClr val="677486"/>
                </a:solidFill>
                <a:latin typeface="Aptos"/>
              </a:rPr>
              <a:t>RMSE</a:t>
            </a:r>
          </a:p>
        </p:txBody>
      </p:sp>
      <p:sp>
        <p:nvSpPr>
          <p:cNvPr id="19" name="TextBox 18"/>
          <p:cNvSpPr txBox="1"/>
          <p:nvPr/>
        </p:nvSpPr>
        <p:spPr>
          <a:xfrm>
            <a:off x="6236207" y="1892808"/>
            <a:ext cx="2148840" cy="502920"/>
          </a:xfrm>
          <a:prstGeom prst="rect">
            <a:avLst/>
          </a:prstGeom>
          <a:noFill/>
        </p:spPr>
        <p:txBody>
          <a:bodyPr wrap="square" anchor="t">
            <a:spAutoFit/>
          </a:bodyPr>
          <a:lstStyle/>
          <a:p>
            <a:pPr algn="l"/>
            <a:r>
              <a:rPr sz="2300" b="1">
                <a:solidFill>
                  <a:srgbClr val="101C30"/>
                </a:solidFill>
                <a:latin typeface="Aptos Display"/>
              </a:rPr>
              <a:t>0.0479</a:t>
            </a:r>
          </a:p>
        </p:txBody>
      </p:sp>
      <p:sp>
        <p:nvSpPr>
          <p:cNvPr id="20" name="TextBox 19"/>
          <p:cNvSpPr txBox="1"/>
          <p:nvPr/>
        </p:nvSpPr>
        <p:spPr>
          <a:xfrm>
            <a:off x="6236207" y="2393565"/>
            <a:ext cx="2148840" cy="384048"/>
          </a:xfrm>
          <a:prstGeom prst="rect">
            <a:avLst/>
          </a:prstGeom>
          <a:noFill/>
        </p:spPr>
        <p:txBody>
          <a:bodyPr wrap="square" anchor="t">
            <a:spAutoFit/>
          </a:bodyPr>
          <a:lstStyle/>
          <a:p>
            <a:pPr algn="l"/>
            <a:r>
              <a:rPr sz="950" b="0" dirty="0">
                <a:solidFill>
                  <a:srgbClr val="677486"/>
                </a:solidFill>
                <a:latin typeface="Aptos"/>
              </a:rPr>
              <a:t>root mean squared error</a:t>
            </a:r>
          </a:p>
        </p:txBody>
      </p:sp>
      <p:sp>
        <p:nvSpPr>
          <p:cNvPr id="21" name="Rounded Rectangle 20"/>
          <p:cNvSpPr/>
          <p:nvPr/>
        </p:nvSpPr>
        <p:spPr>
          <a:xfrm>
            <a:off x="8732520" y="1417320"/>
            <a:ext cx="2468880" cy="11887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732520" y="1417320"/>
            <a:ext cx="64008" cy="1188720"/>
          </a:xfrm>
          <a:prstGeom prst="rect">
            <a:avLst/>
          </a:prstGeom>
          <a:solidFill>
            <a:srgbClr val="46BE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33688" y="1572768"/>
            <a:ext cx="2148840" cy="274320"/>
          </a:xfrm>
          <a:prstGeom prst="rect">
            <a:avLst/>
          </a:prstGeom>
          <a:noFill/>
        </p:spPr>
        <p:txBody>
          <a:bodyPr wrap="square" anchor="t">
            <a:spAutoFit/>
          </a:bodyPr>
          <a:lstStyle/>
          <a:p>
            <a:pPr algn="l"/>
            <a:r>
              <a:rPr sz="1050" b="1">
                <a:solidFill>
                  <a:srgbClr val="677486"/>
                </a:solidFill>
                <a:latin typeface="Aptos"/>
              </a:rPr>
              <a:t>MODEL</a:t>
            </a:r>
          </a:p>
        </p:txBody>
      </p:sp>
      <p:sp>
        <p:nvSpPr>
          <p:cNvPr id="24" name="TextBox 23"/>
          <p:cNvSpPr txBox="1"/>
          <p:nvPr/>
        </p:nvSpPr>
        <p:spPr>
          <a:xfrm>
            <a:off x="8933688" y="1892808"/>
            <a:ext cx="2148840" cy="502920"/>
          </a:xfrm>
          <a:prstGeom prst="rect">
            <a:avLst/>
          </a:prstGeom>
          <a:noFill/>
        </p:spPr>
        <p:txBody>
          <a:bodyPr wrap="square" anchor="t">
            <a:spAutoFit/>
          </a:bodyPr>
          <a:lstStyle/>
          <a:p>
            <a:pPr algn="l"/>
            <a:r>
              <a:rPr sz="2300" b="1">
                <a:solidFill>
                  <a:srgbClr val="101C30"/>
                </a:solidFill>
                <a:latin typeface="Aptos Display"/>
              </a:rPr>
              <a:t>Random Forest</a:t>
            </a:r>
          </a:p>
        </p:txBody>
      </p:sp>
      <p:sp>
        <p:nvSpPr>
          <p:cNvPr id="25" name="TextBox 24"/>
          <p:cNvSpPr txBox="1"/>
          <p:nvPr/>
        </p:nvSpPr>
        <p:spPr>
          <a:xfrm>
            <a:off x="8924544" y="2369279"/>
            <a:ext cx="2148840" cy="384048"/>
          </a:xfrm>
          <a:prstGeom prst="rect">
            <a:avLst/>
          </a:prstGeom>
          <a:noFill/>
        </p:spPr>
        <p:txBody>
          <a:bodyPr wrap="square" anchor="t">
            <a:spAutoFit/>
          </a:bodyPr>
          <a:lstStyle/>
          <a:p>
            <a:pPr algn="l"/>
            <a:r>
              <a:rPr sz="950" b="0" dirty="0">
                <a:solidFill>
                  <a:srgbClr val="677486"/>
                </a:solidFill>
                <a:latin typeface="Aptos"/>
              </a:rPr>
              <a:t>100 estimators</a:t>
            </a:r>
          </a:p>
        </p:txBody>
      </p:sp>
      <p:graphicFrame>
        <p:nvGraphicFramePr>
          <p:cNvPr id="26" name="Chart 25"/>
          <p:cNvGraphicFramePr>
            <a:graphicFrameLocks noGrp="1"/>
          </p:cNvGraphicFramePr>
          <p:nvPr>
            <p:extLst>
              <p:ext uri="{D42A27DB-BD31-4B8C-83A1-F6EECF244321}">
                <p14:modId xmlns:p14="http://schemas.microsoft.com/office/powerpoint/2010/main" val="3726284040"/>
              </p:ext>
            </p:extLst>
          </p:nvPr>
        </p:nvGraphicFramePr>
        <p:xfrm>
          <a:off x="640080" y="2971800"/>
          <a:ext cx="6400800" cy="3017520"/>
        </p:xfrm>
        <a:graphic>
          <a:graphicData uri="http://schemas.openxmlformats.org/drawingml/2006/chart">
            <c:chart xmlns:c="http://schemas.openxmlformats.org/drawingml/2006/chart" xmlns:r="http://schemas.openxmlformats.org/officeDocument/2006/relationships" r:id="rId2"/>
          </a:graphicData>
        </a:graphic>
      </p:graphicFrame>
      <p:sp>
        <p:nvSpPr>
          <p:cNvPr id="27" name="Rounded Rectangle 26"/>
          <p:cNvSpPr/>
          <p:nvPr/>
        </p:nvSpPr>
        <p:spPr>
          <a:xfrm>
            <a:off x="7315200" y="2971800"/>
            <a:ext cx="4114800" cy="14173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315200" y="2971800"/>
            <a:ext cx="73152" cy="1417320"/>
          </a:xfrm>
          <a:prstGeom prst="rect">
            <a:avLst/>
          </a:prstGeom>
          <a:solidFill>
            <a:srgbClr val="EBB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98079" y="3108960"/>
            <a:ext cx="3840480" cy="338554"/>
          </a:xfrm>
          <a:prstGeom prst="rect">
            <a:avLst/>
          </a:prstGeom>
          <a:noFill/>
        </p:spPr>
        <p:txBody>
          <a:bodyPr wrap="square" anchor="t">
            <a:spAutoFit/>
          </a:bodyPr>
          <a:lstStyle/>
          <a:p>
            <a:pPr algn="l"/>
            <a:r>
              <a:rPr sz="1600" b="1" dirty="0">
                <a:solidFill>
                  <a:srgbClr val="101C30"/>
                </a:solidFill>
                <a:latin typeface="Aptos"/>
              </a:rPr>
              <a:t>Interpretation</a:t>
            </a:r>
          </a:p>
        </p:txBody>
      </p:sp>
      <p:sp>
        <p:nvSpPr>
          <p:cNvPr id="30" name="TextBox 29"/>
          <p:cNvSpPr txBox="1"/>
          <p:nvPr/>
        </p:nvSpPr>
        <p:spPr>
          <a:xfrm>
            <a:off x="7498079" y="3456432"/>
            <a:ext cx="3794760" cy="822960"/>
          </a:xfrm>
          <a:prstGeom prst="rect">
            <a:avLst/>
          </a:prstGeom>
          <a:noFill/>
        </p:spPr>
        <p:txBody>
          <a:bodyPr wrap="square" anchor="t">
            <a:spAutoFit/>
          </a:bodyPr>
          <a:lstStyle/>
          <a:p>
            <a:pPr algn="l"/>
            <a:r>
              <a:rPr sz="1200" b="0" dirty="0">
                <a:solidFill>
                  <a:srgbClr val="242E3C"/>
                </a:solidFill>
                <a:latin typeface="Aptos"/>
              </a:rPr>
              <a:t>Session Frequency has the largest model feature importance (0.413), followed by Average RTT (0.231). These are model contributions, not evidence of causality.</a:t>
            </a:r>
          </a:p>
        </p:txBody>
      </p:sp>
      <p:sp>
        <p:nvSpPr>
          <p:cNvPr id="31" name="Rounded Rectangle 30"/>
          <p:cNvSpPr/>
          <p:nvPr/>
        </p:nvSpPr>
        <p:spPr>
          <a:xfrm>
            <a:off x="7315200" y="4572000"/>
            <a:ext cx="4133088" cy="14173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0" y="4572000"/>
            <a:ext cx="73152" cy="1417320"/>
          </a:xfrm>
          <a:prstGeom prst="rect">
            <a:avLst/>
          </a:prstGeom>
          <a:solidFill>
            <a:srgbClr val="CD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98079" y="4709160"/>
            <a:ext cx="3840480" cy="338554"/>
          </a:xfrm>
          <a:prstGeom prst="rect">
            <a:avLst/>
          </a:prstGeom>
          <a:noFill/>
        </p:spPr>
        <p:txBody>
          <a:bodyPr wrap="square" anchor="t">
            <a:spAutoFit/>
          </a:bodyPr>
          <a:lstStyle/>
          <a:p>
            <a:pPr algn="l"/>
            <a:r>
              <a:rPr sz="1600" b="1" dirty="0">
                <a:solidFill>
                  <a:srgbClr val="101C30"/>
                </a:solidFill>
                <a:latin typeface="Aptos"/>
              </a:rPr>
              <a:t>Model caveat</a:t>
            </a:r>
          </a:p>
        </p:txBody>
      </p:sp>
      <p:sp>
        <p:nvSpPr>
          <p:cNvPr id="34" name="TextBox 33"/>
          <p:cNvSpPr txBox="1"/>
          <p:nvPr/>
        </p:nvSpPr>
        <p:spPr>
          <a:xfrm>
            <a:off x="7497587" y="5010912"/>
            <a:ext cx="3794760" cy="1015663"/>
          </a:xfrm>
          <a:prstGeom prst="rect">
            <a:avLst/>
          </a:prstGeom>
          <a:noFill/>
        </p:spPr>
        <p:txBody>
          <a:bodyPr wrap="square" anchor="t">
            <a:spAutoFit/>
          </a:bodyPr>
          <a:lstStyle/>
          <a:p>
            <a:pPr algn="l"/>
            <a:r>
              <a:rPr sz="1200" b="0" dirty="0">
                <a:solidFill>
                  <a:srgbClr val="242E3C"/>
                </a:solidFill>
                <a:latin typeface="Aptos"/>
              </a:rPr>
              <a:t>The target is mathematically derived from the same engagement and experience information used as predictors. The very high R² is therefore expected and should not be interpreted as proof that the model predicts independent customer sentiment.</a:t>
            </a:r>
          </a:p>
        </p:txBody>
      </p:sp>
      <p:sp>
        <p:nvSpPr>
          <p:cNvPr id="35" name="TextBox 34"/>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36" name="TextBox 35"/>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1194"/>
            <a:ext cx="7366328" cy="646331"/>
          </a:xfrm>
          <a:prstGeom prst="rect">
            <a:avLst/>
          </a:prstGeom>
          <a:noFill/>
        </p:spPr>
        <p:txBody>
          <a:bodyPr wrap="square">
            <a:spAutoFit/>
          </a:bodyPr>
          <a:lstStyle/>
          <a:p>
            <a:r>
              <a:rPr sz="3600" b="1" dirty="0">
                <a:solidFill>
                  <a:srgbClr val="101C30"/>
                </a:solidFill>
                <a:latin typeface="Aptos Display"/>
              </a:rPr>
              <a:t>Satisfaction Segmentation (K = 2)</a:t>
            </a:r>
          </a:p>
        </p:txBody>
      </p:sp>
      <p:sp>
        <p:nvSpPr>
          <p:cNvPr id="4" name="TextBox 3"/>
          <p:cNvSpPr txBox="1"/>
          <p:nvPr/>
        </p:nvSpPr>
        <p:spPr>
          <a:xfrm>
            <a:off x="566928" y="850392"/>
            <a:ext cx="10881360" cy="347472"/>
          </a:xfrm>
          <a:prstGeom prst="rect">
            <a:avLst/>
          </a:prstGeom>
          <a:noFill/>
        </p:spPr>
        <p:txBody>
          <a:bodyPr wrap="none">
            <a:spAutoFit/>
          </a:bodyPr>
          <a:lstStyle/>
          <a:p>
            <a:r>
              <a:rPr sz="1050">
                <a:solidFill>
                  <a:srgbClr val="677486"/>
                </a:solidFill>
                <a:latin typeface="Aptos"/>
              </a:rPr>
              <a:t>Clusters differ in engagement/experience profiles, while average satisfaction is almost identical</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02920" y="1417320"/>
          <a:ext cx="9006840" cy="16002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533400">
                <a:tc>
                  <a:txBody>
                    <a:bodyPr/>
                    <a:lstStyle/>
                    <a:p>
                      <a:pPr>
                        <a:defRPr sz="919" b="1">
                          <a:solidFill>
                            <a:srgbClr val="FFFFFF"/>
                          </a:solidFill>
                          <a:latin typeface="Aptos"/>
                        </a:defRPr>
                      </a:pPr>
                      <a:r>
                        <a:t>Cluster label</a:t>
                      </a:r>
                    </a:p>
                  </a:txBody>
                  <a:tcPr marL="54864" marR="54864" marT="27432" marB="27432">
                    <a:solidFill>
                      <a:srgbClr val="101C30"/>
                    </a:solidFill>
                  </a:tcPr>
                </a:tc>
                <a:tc>
                  <a:txBody>
                    <a:bodyPr/>
                    <a:lstStyle/>
                    <a:p>
                      <a:pPr>
                        <a:defRPr sz="919" b="1">
                          <a:solidFill>
                            <a:srgbClr val="FFFFFF"/>
                          </a:solidFill>
                          <a:latin typeface="Aptos"/>
                        </a:defRPr>
                      </a:pPr>
                      <a:r>
                        <a:t>Customers</a:t>
                      </a:r>
                    </a:p>
                  </a:txBody>
                  <a:tcPr marL="54864" marR="54864" marT="27432" marB="27432">
                    <a:solidFill>
                      <a:srgbClr val="101C30"/>
                    </a:solidFill>
                  </a:tcPr>
                </a:tc>
                <a:tc>
                  <a:txBody>
                    <a:bodyPr/>
                    <a:lstStyle/>
                    <a:p>
                      <a:pPr>
                        <a:defRPr sz="919" b="1">
                          <a:solidFill>
                            <a:srgbClr val="FFFFFF"/>
                          </a:solidFill>
                          <a:latin typeface="Aptos"/>
                        </a:defRPr>
                      </a:pPr>
                      <a:r>
                        <a:t>Share</a:t>
                      </a:r>
                    </a:p>
                  </a:txBody>
                  <a:tcPr marL="54864" marR="54864" marT="27432" marB="27432">
                    <a:solidFill>
                      <a:srgbClr val="101C30"/>
                    </a:solidFill>
                  </a:tcPr>
                </a:tc>
                <a:tc>
                  <a:txBody>
                    <a:bodyPr/>
                    <a:lstStyle/>
                    <a:p>
                      <a:pPr>
                        <a:defRPr sz="919" b="1">
                          <a:solidFill>
                            <a:srgbClr val="FFFFFF"/>
                          </a:solidFill>
                          <a:latin typeface="Aptos"/>
                        </a:defRPr>
                      </a:pPr>
                      <a:r>
                        <a:t>Avg Engagement</a:t>
                      </a:r>
                    </a:p>
                  </a:txBody>
                  <a:tcPr marL="54864" marR="54864" marT="27432" marB="27432">
                    <a:solidFill>
                      <a:srgbClr val="101C30"/>
                    </a:solidFill>
                  </a:tcPr>
                </a:tc>
                <a:tc>
                  <a:txBody>
                    <a:bodyPr/>
                    <a:lstStyle/>
                    <a:p>
                      <a:pPr>
                        <a:defRPr sz="919" b="1">
                          <a:solidFill>
                            <a:srgbClr val="FFFFFF"/>
                          </a:solidFill>
                          <a:latin typeface="Aptos"/>
                        </a:defRPr>
                      </a:pPr>
                      <a:r>
                        <a:t>Avg Experience</a:t>
                      </a:r>
                    </a:p>
                  </a:txBody>
                  <a:tcPr marL="54864" marR="54864" marT="27432" marB="27432">
                    <a:solidFill>
                      <a:srgbClr val="101C30"/>
                    </a:solidFill>
                  </a:tcPr>
                </a:tc>
                <a:tc>
                  <a:txBody>
                    <a:bodyPr/>
                    <a:lstStyle/>
                    <a:p>
                      <a:pPr>
                        <a:defRPr sz="919" b="1">
                          <a:solidFill>
                            <a:srgbClr val="FFFFFF"/>
                          </a:solidFill>
                          <a:latin typeface="Aptos"/>
                        </a:defRPr>
                      </a:pPr>
                      <a:r>
                        <a:t>Avg Satisfaction</a:t>
                      </a:r>
                    </a:p>
                  </a:txBody>
                  <a:tcPr marL="54864" marR="54864" marT="27432" marB="27432">
                    <a:solidFill>
                      <a:srgbClr val="101C30"/>
                    </a:solidFill>
                  </a:tcPr>
                </a:tc>
                <a:extLst>
                  <a:ext uri="{0D108BD9-81ED-4DB2-BD59-A6C34878D82A}">
                    <a16:rowId xmlns:a16="http://schemas.microsoft.com/office/drawing/2014/main" val="10000"/>
                  </a:ext>
                </a:extLst>
              </a:tr>
              <a:tr h="533400">
                <a:tc>
                  <a:txBody>
                    <a:bodyPr/>
                    <a:lstStyle/>
                    <a:p>
                      <a:pPr>
                        <a:defRPr sz="919" b="0">
                          <a:solidFill>
                            <a:srgbClr val="242E3C"/>
                          </a:solidFill>
                          <a:latin typeface="Aptos"/>
                        </a:defRPr>
                      </a:pPr>
                      <a:r>
                        <a:t>Lower Satisfaction</a:t>
                      </a:r>
                    </a:p>
                  </a:txBody>
                  <a:tcPr marL="54864" marR="54864" marT="27432" marB="27432">
                    <a:solidFill>
                      <a:srgbClr val="FFFFFF"/>
                    </a:solidFill>
                  </a:tcPr>
                </a:tc>
                <a:tc>
                  <a:txBody>
                    <a:bodyPr/>
                    <a:lstStyle/>
                    <a:p>
                      <a:pPr>
                        <a:defRPr sz="919" b="0">
                          <a:solidFill>
                            <a:srgbClr val="242E3C"/>
                          </a:solidFill>
                          <a:latin typeface="Aptos"/>
                        </a:defRPr>
                      </a:pPr>
                      <a:r>
                        <a:t>61,245</a:t>
                      </a:r>
                    </a:p>
                  </a:txBody>
                  <a:tcPr marL="54864" marR="54864" marT="27432" marB="27432">
                    <a:solidFill>
                      <a:srgbClr val="FFFFFF"/>
                    </a:solidFill>
                  </a:tcPr>
                </a:tc>
                <a:tc>
                  <a:txBody>
                    <a:bodyPr/>
                    <a:lstStyle/>
                    <a:p>
                      <a:pPr>
                        <a:defRPr sz="919" b="0">
                          <a:solidFill>
                            <a:srgbClr val="242E3C"/>
                          </a:solidFill>
                          <a:latin typeface="Aptos"/>
                        </a:defRPr>
                      </a:pPr>
                      <a:r>
                        <a:t>57.3%</a:t>
                      </a:r>
                    </a:p>
                  </a:txBody>
                  <a:tcPr marL="54864" marR="54864" marT="27432" marB="27432">
                    <a:solidFill>
                      <a:srgbClr val="FFFFFF"/>
                    </a:solidFill>
                  </a:tcPr>
                </a:tc>
                <a:tc>
                  <a:txBody>
                    <a:bodyPr/>
                    <a:lstStyle/>
                    <a:p>
                      <a:pPr>
                        <a:defRPr sz="919" b="0">
                          <a:solidFill>
                            <a:srgbClr val="242E3C"/>
                          </a:solidFill>
                          <a:latin typeface="Aptos"/>
                        </a:defRPr>
                      </a:pPr>
                      <a:r>
                        <a:t>1.008</a:t>
                      </a:r>
                    </a:p>
                  </a:txBody>
                  <a:tcPr marL="54864" marR="54864" marT="27432" marB="27432">
                    <a:solidFill>
                      <a:srgbClr val="FFFFFF"/>
                    </a:solidFill>
                  </a:tcPr>
                </a:tc>
                <a:tc>
                  <a:txBody>
                    <a:bodyPr/>
                    <a:lstStyle/>
                    <a:p>
                      <a:pPr>
                        <a:defRPr sz="919" b="0">
                          <a:solidFill>
                            <a:srgbClr val="242E3C"/>
                          </a:solidFill>
                          <a:latin typeface="Aptos"/>
                        </a:defRPr>
                      </a:pPr>
                      <a:r>
                        <a:t>2.547</a:t>
                      </a:r>
                    </a:p>
                  </a:txBody>
                  <a:tcPr marL="54864" marR="54864" marT="27432" marB="27432">
                    <a:solidFill>
                      <a:srgbClr val="FFFFFF"/>
                    </a:solidFill>
                  </a:tcPr>
                </a:tc>
                <a:tc>
                  <a:txBody>
                    <a:bodyPr/>
                    <a:lstStyle/>
                    <a:p>
                      <a:pPr>
                        <a:defRPr sz="919" b="0">
                          <a:solidFill>
                            <a:srgbClr val="242E3C"/>
                          </a:solidFill>
                          <a:latin typeface="Aptos"/>
                        </a:defRPr>
                      </a:pPr>
                      <a:r>
                        <a:t>1.778</a:t>
                      </a:r>
                    </a:p>
                  </a:txBody>
                  <a:tcPr marL="54864" marR="54864" marT="27432" marB="27432">
                    <a:solidFill>
                      <a:srgbClr val="FFFFFF"/>
                    </a:solidFill>
                  </a:tcPr>
                </a:tc>
                <a:extLst>
                  <a:ext uri="{0D108BD9-81ED-4DB2-BD59-A6C34878D82A}">
                    <a16:rowId xmlns:a16="http://schemas.microsoft.com/office/drawing/2014/main" val="10001"/>
                  </a:ext>
                </a:extLst>
              </a:tr>
              <a:tr h="533400">
                <a:tc>
                  <a:txBody>
                    <a:bodyPr/>
                    <a:lstStyle/>
                    <a:p>
                      <a:pPr>
                        <a:defRPr sz="919" b="0">
                          <a:solidFill>
                            <a:srgbClr val="242E3C"/>
                          </a:solidFill>
                          <a:latin typeface="Aptos"/>
                        </a:defRPr>
                      </a:pPr>
                      <a:r>
                        <a:t>Higher Satisfaction</a:t>
                      </a:r>
                    </a:p>
                  </a:txBody>
                  <a:tcPr marL="54864" marR="54864" marT="27432" marB="27432">
                    <a:solidFill>
                      <a:srgbClr val="F2F5F8"/>
                    </a:solidFill>
                  </a:tcPr>
                </a:tc>
                <a:tc>
                  <a:txBody>
                    <a:bodyPr/>
                    <a:lstStyle/>
                    <a:p>
                      <a:pPr>
                        <a:defRPr sz="919" b="0">
                          <a:solidFill>
                            <a:srgbClr val="242E3C"/>
                          </a:solidFill>
                          <a:latin typeface="Aptos"/>
                        </a:defRPr>
                      </a:pPr>
                      <a:r>
                        <a:t>45,612</a:t>
                      </a:r>
                    </a:p>
                  </a:txBody>
                  <a:tcPr marL="54864" marR="54864" marT="27432" marB="27432">
                    <a:solidFill>
                      <a:srgbClr val="F2F5F8"/>
                    </a:solidFill>
                  </a:tcPr>
                </a:tc>
                <a:tc>
                  <a:txBody>
                    <a:bodyPr/>
                    <a:lstStyle/>
                    <a:p>
                      <a:pPr>
                        <a:defRPr sz="919" b="0">
                          <a:solidFill>
                            <a:srgbClr val="242E3C"/>
                          </a:solidFill>
                          <a:latin typeface="Aptos"/>
                        </a:defRPr>
                      </a:pPr>
                      <a:r>
                        <a:t>42.7%</a:t>
                      </a:r>
                    </a:p>
                  </a:txBody>
                  <a:tcPr marL="54864" marR="54864" marT="27432" marB="27432">
                    <a:solidFill>
                      <a:srgbClr val="F2F5F8"/>
                    </a:solidFill>
                  </a:tcPr>
                </a:tc>
                <a:tc>
                  <a:txBody>
                    <a:bodyPr/>
                    <a:lstStyle/>
                    <a:p>
                      <a:pPr>
                        <a:defRPr sz="919" b="0">
                          <a:solidFill>
                            <a:srgbClr val="242E3C"/>
                          </a:solidFill>
                          <a:latin typeface="Aptos"/>
                        </a:defRPr>
                      </a:pPr>
                      <a:r>
                        <a:t>2.367</a:t>
                      </a:r>
                    </a:p>
                  </a:txBody>
                  <a:tcPr marL="54864" marR="54864" marT="27432" marB="27432">
                    <a:solidFill>
                      <a:srgbClr val="F2F5F8"/>
                    </a:solidFill>
                  </a:tcPr>
                </a:tc>
                <a:tc>
                  <a:txBody>
                    <a:bodyPr/>
                    <a:lstStyle/>
                    <a:p>
                      <a:pPr>
                        <a:defRPr sz="919" b="0">
                          <a:solidFill>
                            <a:srgbClr val="242E3C"/>
                          </a:solidFill>
                          <a:latin typeface="Aptos"/>
                        </a:defRPr>
                      </a:pPr>
                      <a:r>
                        <a:t>1.208</a:t>
                      </a:r>
                    </a:p>
                  </a:txBody>
                  <a:tcPr marL="54864" marR="54864" marT="27432" marB="27432">
                    <a:solidFill>
                      <a:srgbClr val="F2F5F8"/>
                    </a:solidFill>
                  </a:tcPr>
                </a:tc>
                <a:tc>
                  <a:txBody>
                    <a:bodyPr/>
                    <a:lstStyle/>
                    <a:p>
                      <a:pPr>
                        <a:defRPr sz="919" b="0">
                          <a:solidFill>
                            <a:srgbClr val="242E3C"/>
                          </a:solidFill>
                          <a:latin typeface="Aptos"/>
                        </a:defRPr>
                      </a:pPr>
                      <a:r>
                        <a:t>1.788</a:t>
                      </a:r>
                    </a:p>
                  </a:txBody>
                  <a:tcPr marL="54864" marR="54864" marT="27432" marB="27432">
                    <a:solidFill>
                      <a:srgbClr val="F2F5F8"/>
                    </a:solidFill>
                  </a:tcPr>
                </a:tc>
                <a:extLst>
                  <a:ext uri="{0D108BD9-81ED-4DB2-BD59-A6C34878D82A}">
                    <a16:rowId xmlns:a16="http://schemas.microsoft.com/office/drawing/2014/main" val="10002"/>
                  </a:ext>
                </a:extLst>
              </a:tr>
            </a:tbl>
          </a:graphicData>
        </a:graphic>
      </p:graphicFrame>
      <p:graphicFrame>
        <p:nvGraphicFramePr>
          <p:cNvPr id="7" name="Chart 6"/>
          <p:cNvGraphicFramePr>
            <a:graphicFrameLocks noGrp="1"/>
          </p:cNvGraphicFramePr>
          <p:nvPr/>
        </p:nvGraphicFramePr>
        <p:xfrm>
          <a:off x="731520" y="3429000"/>
          <a:ext cx="5029200" cy="2148840"/>
        </p:xfrm>
        <a:graphic>
          <a:graphicData uri="http://schemas.openxmlformats.org/drawingml/2006/chart">
            <c:chart xmlns:c="http://schemas.openxmlformats.org/drawingml/2006/chart" xmlns:r="http://schemas.openxmlformats.org/officeDocument/2006/relationships" r:id="rId2"/>
          </a:graphicData>
        </a:graphic>
      </p:graphicFrame>
      <p:sp>
        <p:nvSpPr>
          <p:cNvPr id="8" name="Rounded Rectangle 7"/>
          <p:cNvSpPr/>
          <p:nvPr/>
        </p:nvSpPr>
        <p:spPr>
          <a:xfrm>
            <a:off x="6126480" y="3429000"/>
            <a:ext cx="5303520" cy="132588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26480" y="3429000"/>
            <a:ext cx="73152" cy="132588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3566160"/>
            <a:ext cx="5029200" cy="338554"/>
          </a:xfrm>
          <a:prstGeom prst="rect">
            <a:avLst/>
          </a:prstGeom>
          <a:noFill/>
        </p:spPr>
        <p:txBody>
          <a:bodyPr wrap="square" anchor="t">
            <a:spAutoFit/>
          </a:bodyPr>
          <a:lstStyle/>
          <a:p>
            <a:pPr algn="l"/>
            <a:r>
              <a:rPr sz="1600" b="1" dirty="0">
                <a:solidFill>
                  <a:srgbClr val="101C30"/>
                </a:solidFill>
                <a:latin typeface="Aptos"/>
              </a:rPr>
              <a:t>Key finding</a:t>
            </a:r>
          </a:p>
        </p:txBody>
      </p:sp>
      <p:sp>
        <p:nvSpPr>
          <p:cNvPr id="11" name="TextBox 10"/>
          <p:cNvSpPr txBox="1"/>
          <p:nvPr/>
        </p:nvSpPr>
        <p:spPr>
          <a:xfrm>
            <a:off x="6309360" y="3913632"/>
            <a:ext cx="4983480" cy="830997"/>
          </a:xfrm>
          <a:prstGeom prst="rect">
            <a:avLst/>
          </a:prstGeom>
          <a:noFill/>
        </p:spPr>
        <p:txBody>
          <a:bodyPr wrap="square" anchor="t">
            <a:spAutoFit/>
          </a:bodyPr>
          <a:lstStyle/>
          <a:p>
            <a:pPr algn="l"/>
            <a:r>
              <a:rPr sz="1200" b="0" dirty="0">
                <a:solidFill>
                  <a:srgbClr val="242E3C"/>
                </a:solidFill>
                <a:latin typeface="Aptos"/>
              </a:rPr>
              <a:t>The two clusters are structurally different: one has higher experience and lower engagement, while the other has higher engagement and lower experience. However, their average satisfaction scores differ by only about 0.01.</a:t>
            </a:r>
          </a:p>
        </p:txBody>
      </p:sp>
      <p:sp>
        <p:nvSpPr>
          <p:cNvPr id="12" name="Rounded Rectangle 11"/>
          <p:cNvSpPr/>
          <p:nvPr/>
        </p:nvSpPr>
        <p:spPr>
          <a:xfrm>
            <a:off x="6126480" y="4892039"/>
            <a:ext cx="5303520" cy="1315629"/>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26480" y="4892040"/>
            <a:ext cx="91440" cy="1315628"/>
          </a:xfrm>
          <a:prstGeom prst="rect">
            <a:avLst/>
          </a:prstGeom>
          <a:solidFill>
            <a:srgbClr val="EBB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5029200"/>
            <a:ext cx="5029200" cy="338554"/>
          </a:xfrm>
          <a:prstGeom prst="rect">
            <a:avLst/>
          </a:prstGeom>
          <a:noFill/>
        </p:spPr>
        <p:txBody>
          <a:bodyPr wrap="square" anchor="t">
            <a:spAutoFit/>
          </a:bodyPr>
          <a:lstStyle/>
          <a:p>
            <a:pPr algn="l"/>
            <a:r>
              <a:rPr sz="1600" b="1" dirty="0">
                <a:solidFill>
                  <a:srgbClr val="101C30"/>
                </a:solidFill>
                <a:latin typeface="Aptos"/>
              </a:rPr>
              <a:t>Do not overstate the labels</a:t>
            </a:r>
          </a:p>
        </p:txBody>
      </p:sp>
      <p:sp>
        <p:nvSpPr>
          <p:cNvPr id="15" name="TextBox 14"/>
          <p:cNvSpPr txBox="1"/>
          <p:nvPr/>
        </p:nvSpPr>
        <p:spPr>
          <a:xfrm>
            <a:off x="6309360" y="5376672"/>
            <a:ext cx="4983480" cy="830997"/>
          </a:xfrm>
          <a:prstGeom prst="rect">
            <a:avLst/>
          </a:prstGeom>
          <a:noFill/>
        </p:spPr>
        <p:txBody>
          <a:bodyPr wrap="square" anchor="t">
            <a:spAutoFit/>
          </a:bodyPr>
          <a:lstStyle/>
          <a:p>
            <a:pPr algn="l"/>
            <a:r>
              <a:rPr sz="1200" b="0" dirty="0">
                <a:solidFill>
                  <a:srgbClr val="242E3C"/>
                </a:solidFill>
                <a:latin typeface="Aptos"/>
              </a:rPr>
              <a:t>The cluster labels are descriptive. The near-identical satisfaction averages mean the segmentation is more useful for profiling engagement/experience trade-offs than for claiming a large satisfaction gap.</a:t>
            </a:r>
          </a:p>
        </p:txBody>
      </p:sp>
      <p:sp>
        <p:nvSpPr>
          <p:cNvPr id="16" name="TextBox 15"/>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17" name="TextBox 16"/>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4939942" cy="646331"/>
          </a:xfrm>
          <a:prstGeom prst="rect">
            <a:avLst/>
          </a:prstGeom>
          <a:noFill/>
        </p:spPr>
        <p:txBody>
          <a:bodyPr wrap="none">
            <a:spAutoFit/>
          </a:bodyPr>
          <a:lstStyle/>
          <a:p>
            <a:r>
              <a:rPr sz="3600" b="1" dirty="0">
                <a:solidFill>
                  <a:srgbClr val="101C30"/>
                </a:solidFill>
                <a:latin typeface="Aptos Display"/>
              </a:rPr>
              <a:t>Data Export, Dashboard</a:t>
            </a:r>
          </a:p>
        </p:txBody>
      </p:sp>
      <p:sp>
        <p:nvSpPr>
          <p:cNvPr id="4" name="TextBox 3"/>
          <p:cNvSpPr txBox="1"/>
          <p:nvPr/>
        </p:nvSpPr>
        <p:spPr>
          <a:xfrm>
            <a:off x="566928" y="850392"/>
            <a:ext cx="10881360" cy="347472"/>
          </a:xfrm>
          <a:prstGeom prst="rect">
            <a:avLst/>
          </a:prstGeom>
          <a:noFill/>
        </p:spPr>
        <p:txBody>
          <a:bodyPr wrap="none">
            <a:spAutoFit/>
          </a:bodyPr>
          <a:lstStyle/>
          <a:p>
            <a:r>
              <a:rPr sz="1050">
                <a:solidFill>
                  <a:srgbClr val="677486"/>
                </a:solidFill>
                <a:latin typeface="Aptos"/>
              </a:rPr>
              <a:t>Evidence of the customer-level MySQL table and model artifacts</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Select query Output.png"/>
          <p:cNvPicPr>
            <a:picLocks noChangeAspect="1"/>
          </p:cNvPicPr>
          <p:nvPr/>
        </p:nvPicPr>
        <p:blipFill>
          <a:blip r:embed="rId2"/>
          <a:stretch>
            <a:fillRect/>
          </a:stretch>
        </p:blipFill>
        <p:spPr>
          <a:xfrm>
            <a:off x="502920" y="1417320"/>
            <a:ext cx="6903720" cy="4111907"/>
          </a:xfrm>
          <a:prstGeom prst="rect">
            <a:avLst/>
          </a:prstGeom>
        </p:spPr>
      </p:pic>
      <p:sp>
        <p:nvSpPr>
          <p:cNvPr id="7" name="TextBox 6"/>
          <p:cNvSpPr txBox="1"/>
          <p:nvPr/>
        </p:nvSpPr>
        <p:spPr>
          <a:xfrm>
            <a:off x="640080" y="5760720"/>
            <a:ext cx="3200400" cy="274320"/>
          </a:xfrm>
          <a:prstGeom prst="rect">
            <a:avLst/>
          </a:prstGeom>
          <a:noFill/>
        </p:spPr>
        <p:txBody>
          <a:bodyPr wrap="square" anchor="t">
            <a:spAutoFit/>
          </a:bodyPr>
          <a:lstStyle/>
          <a:p>
            <a:pPr algn="l"/>
            <a:r>
              <a:rPr sz="900" b="1">
                <a:solidFill>
                  <a:srgbClr val="677486"/>
                </a:solidFill>
                <a:latin typeface="Aptos"/>
              </a:rPr>
              <a:t>Supplied MySQL SELECT output</a:t>
            </a:r>
          </a:p>
        </p:txBody>
      </p:sp>
      <p:sp>
        <p:nvSpPr>
          <p:cNvPr id="8" name="Rounded Rectangle 7"/>
          <p:cNvSpPr/>
          <p:nvPr/>
        </p:nvSpPr>
        <p:spPr>
          <a:xfrm>
            <a:off x="7635240" y="1417320"/>
            <a:ext cx="3886200" cy="150876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35240" y="1417320"/>
            <a:ext cx="73152" cy="1508760"/>
          </a:xfrm>
          <a:prstGeom prst="rect">
            <a:avLst/>
          </a:prstGeom>
          <a:solidFill>
            <a:srgbClr val="36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18119" y="1554480"/>
            <a:ext cx="3611880" cy="338554"/>
          </a:xfrm>
          <a:prstGeom prst="rect">
            <a:avLst/>
          </a:prstGeom>
          <a:noFill/>
        </p:spPr>
        <p:txBody>
          <a:bodyPr wrap="square" anchor="t">
            <a:spAutoFit/>
          </a:bodyPr>
          <a:lstStyle/>
          <a:p>
            <a:pPr algn="l"/>
            <a:r>
              <a:rPr sz="1600" b="1" dirty="0">
                <a:solidFill>
                  <a:srgbClr val="101C30"/>
                </a:solidFill>
                <a:latin typeface="Aptos"/>
              </a:rPr>
              <a:t>MySQL export</a:t>
            </a:r>
          </a:p>
        </p:txBody>
      </p:sp>
      <p:sp>
        <p:nvSpPr>
          <p:cNvPr id="11" name="TextBox 10"/>
          <p:cNvSpPr txBox="1"/>
          <p:nvPr/>
        </p:nvSpPr>
        <p:spPr>
          <a:xfrm>
            <a:off x="7818119" y="1901952"/>
            <a:ext cx="3566160" cy="1015663"/>
          </a:xfrm>
          <a:prstGeom prst="rect">
            <a:avLst/>
          </a:prstGeom>
          <a:noFill/>
        </p:spPr>
        <p:txBody>
          <a:bodyPr wrap="square" anchor="t">
            <a:spAutoFit/>
          </a:bodyPr>
          <a:lstStyle/>
          <a:p>
            <a:pPr algn="l"/>
            <a:r>
              <a:rPr sz="1200" b="0" dirty="0">
                <a:solidFill>
                  <a:srgbClr val="242E3C"/>
                </a:solidFill>
                <a:latin typeface="Aptos"/>
              </a:rPr>
              <a:t>The final customer table contains 106,857 rows with MSISDN, engagement score, experience score, satisfaction score, cluster and satisfaction level. The supplied SELECT output confirms the table is populated</a:t>
            </a:r>
            <a:r>
              <a:rPr sz="1050" b="0" dirty="0">
                <a:solidFill>
                  <a:srgbClr val="242E3C"/>
                </a:solidFill>
                <a:latin typeface="Aptos"/>
              </a:rPr>
              <a:t>.</a:t>
            </a:r>
          </a:p>
        </p:txBody>
      </p:sp>
      <p:sp>
        <p:nvSpPr>
          <p:cNvPr id="12" name="Rounded Rectangle 11"/>
          <p:cNvSpPr/>
          <p:nvPr/>
        </p:nvSpPr>
        <p:spPr>
          <a:xfrm>
            <a:off x="7635240" y="3154680"/>
            <a:ext cx="3886200" cy="123444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635240" y="3154680"/>
            <a:ext cx="73152" cy="1234440"/>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18119" y="3291840"/>
            <a:ext cx="3611880" cy="338554"/>
          </a:xfrm>
          <a:prstGeom prst="rect">
            <a:avLst/>
          </a:prstGeom>
          <a:noFill/>
        </p:spPr>
        <p:txBody>
          <a:bodyPr wrap="square" anchor="t">
            <a:spAutoFit/>
          </a:bodyPr>
          <a:lstStyle/>
          <a:p>
            <a:pPr algn="l"/>
            <a:r>
              <a:rPr sz="1600" b="1" dirty="0">
                <a:solidFill>
                  <a:srgbClr val="101C30"/>
                </a:solidFill>
                <a:latin typeface="Aptos"/>
              </a:rPr>
              <a:t>Model artifacts</a:t>
            </a:r>
          </a:p>
        </p:txBody>
      </p:sp>
      <p:sp>
        <p:nvSpPr>
          <p:cNvPr id="15" name="TextBox 14"/>
          <p:cNvSpPr txBox="1"/>
          <p:nvPr/>
        </p:nvSpPr>
        <p:spPr>
          <a:xfrm>
            <a:off x="7818119" y="3639312"/>
            <a:ext cx="3566160" cy="640080"/>
          </a:xfrm>
          <a:prstGeom prst="rect">
            <a:avLst/>
          </a:prstGeom>
          <a:noFill/>
        </p:spPr>
        <p:txBody>
          <a:bodyPr wrap="square" anchor="t">
            <a:spAutoFit/>
          </a:bodyPr>
          <a:lstStyle/>
          <a:p>
            <a:pPr algn="l"/>
            <a:r>
              <a:rPr sz="1200" b="0" dirty="0">
                <a:solidFill>
                  <a:srgbClr val="242E3C"/>
                </a:solidFill>
                <a:latin typeface="Aptos"/>
              </a:rPr>
              <a:t>The Task 4 notebook saves the satisfaction regression model and supporting feature/scaler/K-Means artifacts for reuse.</a:t>
            </a:r>
          </a:p>
        </p:txBody>
      </p:sp>
      <p:sp>
        <p:nvSpPr>
          <p:cNvPr id="20" name="TextBox 19"/>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21" name="TextBox 20"/>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8086"/>
            <a:ext cx="9667076" cy="646331"/>
          </a:xfrm>
          <a:prstGeom prst="rect">
            <a:avLst/>
          </a:prstGeom>
          <a:noFill/>
        </p:spPr>
        <p:txBody>
          <a:bodyPr wrap="square">
            <a:spAutoFit/>
          </a:bodyPr>
          <a:lstStyle/>
          <a:p>
            <a:r>
              <a:rPr sz="3600" b="1" dirty="0">
                <a:solidFill>
                  <a:srgbClr val="101C30"/>
                </a:solidFill>
                <a:latin typeface="Aptos Display"/>
              </a:rPr>
              <a:t>Growth Potential &amp; Purchase Recommendation</a:t>
            </a:r>
          </a:p>
        </p:txBody>
      </p:sp>
      <p:sp>
        <p:nvSpPr>
          <p:cNvPr id="4" name="TextBox 3"/>
          <p:cNvSpPr txBox="1"/>
          <p:nvPr/>
        </p:nvSpPr>
        <p:spPr>
          <a:xfrm>
            <a:off x="566928" y="850392"/>
            <a:ext cx="10881360" cy="347472"/>
          </a:xfrm>
          <a:prstGeom prst="rect">
            <a:avLst/>
          </a:prstGeom>
          <a:noFill/>
        </p:spPr>
        <p:txBody>
          <a:bodyPr wrap="none">
            <a:spAutoFit/>
          </a:bodyPr>
          <a:lstStyle/>
          <a:p>
            <a:r>
              <a:rPr sz="1050">
                <a:solidFill>
                  <a:srgbClr val="677486"/>
                </a:solidFill>
                <a:latin typeface="Aptos"/>
              </a:rPr>
              <a:t>A data-backed operating case exists, but the acquisition decision requires financial due diligence</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417320"/>
            <a:ext cx="1600200" cy="310896"/>
          </a:xfrm>
          <a:prstGeom prst="roundRect">
            <a:avLst/>
          </a:prstGeom>
          <a:solidFill>
            <a:srgbClr val="36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449324"/>
            <a:ext cx="1600200" cy="219456"/>
          </a:xfrm>
          <a:prstGeom prst="rect">
            <a:avLst/>
          </a:prstGeom>
          <a:noFill/>
        </p:spPr>
        <p:txBody>
          <a:bodyPr wrap="square" anchor="t">
            <a:spAutoFit/>
          </a:bodyPr>
          <a:lstStyle/>
          <a:p>
            <a:pPr algn="ctr"/>
            <a:r>
              <a:rPr sz="850" b="1">
                <a:solidFill>
                  <a:srgbClr val="FFFFFF"/>
                </a:solidFill>
                <a:latin typeface="Aptos"/>
              </a:rPr>
              <a:t>GROWTH POTENTIAL</a:t>
            </a:r>
          </a:p>
        </p:txBody>
      </p:sp>
      <p:sp>
        <p:nvSpPr>
          <p:cNvPr id="8" name="TextBox 7"/>
          <p:cNvSpPr txBox="1"/>
          <p:nvPr/>
        </p:nvSpPr>
        <p:spPr>
          <a:xfrm>
            <a:off x="685800" y="1874519"/>
            <a:ext cx="5029200" cy="502920"/>
          </a:xfrm>
          <a:prstGeom prst="rect">
            <a:avLst/>
          </a:prstGeom>
          <a:noFill/>
        </p:spPr>
        <p:txBody>
          <a:bodyPr wrap="square" anchor="t">
            <a:spAutoFit/>
          </a:bodyPr>
          <a:lstStyle/>
          <a:p>
            <a:pPr algn="l"/>
            <a:r>
              <a:rPr sz="2200" b="1" dirty="0">
                <a:solidFill>
                  <a:srgbClr val="101C30"/>
                </a:solidFill>
                <a:latin typeface="Aptos Display"/>
              </a:rPr>
              <a:t>Positive operational opportunity</a:t>
            </a:r>
          </a:p>
        </p:txBody>
      </p:sp>
      <p:sp>
        <p:nvSpPr>
          <p:cNvPr id="9" name="TextBox 8"/>
          <p:cNvSpPr txBox="1"/>
          <p:nvPr/>
        </p:nvSpPr>
        <p:spPr>
          <a:xfrm>
            <a:off x="713232" y="2514600"/>
            <a:ext cx="5120640" cy="2577629"/>
          </a:xfrm>
          <a:prstGeom prst="rect">
            <a:avLst/>
          </a:prstGeom>
          <a:noFill/>
        </p:spPr>
        <p:txBody>
          <a:bodyPr wrap="square">
            <a:spAutoFit/>
          </a:bodyPr>
          <a:lstStyle/>
          <a:p>
            <a:pPr>
              <a:spcAft>
                <a:spcPts val="700"/>
              </a:spcAft>
              <a:defRPr sz="1220">
                <a:solidFill>
                  <a:srgbClr val="242E3C"/>
                </a:solidFill>
                <a:latin typeface="Aptos"/>
              </a:defRPr>
            </a:pPr>
            <a:r>
              <a:rPr sz="1600" dirty="0"/>
              <a:t>• 24,450 customers are classified as High Engagement (22.9%).</a:t>
            </a:r>
          </a:p>
          <a:p>
            <a:pPr>
              <a:spcAft>
                <a:spcPts val="700"/>
              </a:spcAft>
              <a:defRPr sz="1220">
                <a:solidFill>
                  <a:srgbClr val="242E3C"/>
                </a:solidFill>
                <a:latin typeface="Aptos"/>
              </a:defRPr>
            </a:pPr>
            <a:r>
              <a:rPr sz="1600" dirty="0"/>
              <a:t>• 34,652 customers are classified as Good Experience (32.4%).</a:t>
            </a:r>
          </a:p>
          <a:p>
            <a:pPr>
              <a:spcAft>
                <a:spcPts val="700"/>
              </a:spcAft>
              <a:defRPr sz="1220">
                <a:solidFill>
                  <a:srgbClr val="242E3C"/>
                </a:solidFill>
                <a:latin typeface="Aptos"/>
              </a:defRPr>
            </a:pPr>
            <a:r>
              <a:rPr sz="1600" dirty="0"/>
              <a:t>• Gaming and Other together account for about 120,098 GB of observed application traffic.</a:t>
            </a:r>
          </a:p>
          <a:p>
            <a:pPr>
              <a:spcAft>
                <a:spcPts val="700"/>
              </a:spcAft>
              <a:defRPr sz="1220">
                <a:solidFill>
                  <a:srgbClr val="242E3C"/>
                </a:solidFill>
                <a:latin typeface="Aptos"/>
              </a:defRPr>
            </a:pPr>
            <a:r>
              <a:rPr sz="1600" dirty="0"/>
              <a:t>• The analysis identifies distinct customer profiles that can support targeted retention, capacity and service-quality actions.</a:t>
            </a:r>
          </a:p>
        </p:txBody>
      </p:sp>
      <p:sp>
        <p:nvSpPr>
          <p:cNvPr id="10" name="Rounded Rectangle 9"/>
          <p:cNvSpPr/>
          <p:nvPr/>
        </p:nvSpPr>
        <p:spPr>
          <a:xfrm>
            <a:off x="6217920" y="1417320"/>
            <a:ext cx="1417320" cy="310896"/>
          </a:xfrm>
          <a:prstGeom prst="roundRect">
            <a:avLst/>
          </a:prstGeom>
          <a:solidFill>
            <a:srgbClr val="F18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1449324"/>
            <a:ext cx="1417320" cy="219456"/>
          </a:xfrm>
          <a:prstGeom prst="rect">
            <a:avLst/>
          </a:prstGeom>
          <a:noFill/>
        </p:spPr>
        <p:txBody>
          <a:bodyPr wrap="square" anchor="t">
            <a:spAutoFit/>
          </a:bodyPr>
          <a:lstStyle/>
          <a:p>
            <a:pPr algn="ctr"/>
            <a:r>
              <a:rPr sz="850" b="1">
                <a:solidFill>
                  <a:srgbClr val="FFFFFF"/>
                </a:solidFill>
                <a:latin typeface="Aptos"/>
              </a:rPr>
              <a:t>PURCHASE VIEW</a:t>
            </a:r>
          </a:p>
        </p:txBody>
      </p:sp>
      <p:sp>
        <p:nvSpPr>
          <p:cNvPr id="12" name="TextBox 11"/>
          <p:cNvSpPr txBox="1"/>
          <p:nvPr/>
        </p:nvSpPr>
        <p:spPr>
          <a:xfrm>
            <a:off x="6217920" y="1874519"/>
            <a:ext cx="5029200" cy="502920"/>
          </a:xfrm>
          <a:prstGeom prst="rect">
            <a:avLst/>
          </a:prstGeom>
          <a:noFill/>
        </p:spPr>
        <p:txBody>
          <a:bodyPr wrap="square" anchor="t">
            <a:spAutoFit/>
          </a:bodyPr>
          <a:lstStyle/>
          <a:p>
            <a:pPr algn="l"/>
            <a:r>
              <a:rPr sz="2200" b="1">
                <a:solidFill>
                  <a:srgbClr val="101C30"/>
                </a:solidFill>
                <a:latin typeface="Aptos Display"/>
              </a:rPr>
              <a:t>Conditional consideration</a:t>
            </a:r>
          </a:p>
        </p:txBody>
      </p:sp>
      <p:sp>
        <p:nvSpPr>
          <p:cNvPr id="13" name="TextBox 12"/>
          <p:cNvSpPr txBox="1"/>
          <p:nvPr/>
        </p:nvSpPr>
        <p:spPr>
          <a:xfrm>
            <a:off x="6236208" y="2514600"/>
            <a:ext cx="5120640" cy="2468880"/>
          </a:xfrm>
          <a:prstGeom prst="rect">
            <a:avLst/>
          </a:prstGeom>
          <a:noFill/>
        </p:spPr>
        <p:txBody>
          <a:bodyPr wrap="square">
            <a:spAutoFit/>
          </a:bodyPr>
          <a:lstStyle/>
          <a:p>
            <a:pPr>
              <a:spcAft>
                <a:spcPts val="700"/>
              </a:spcAft>
              <a:defRPr sz="1220">
                <a:solidFill>
                  <a:srgbClr val="242E3C"/>
                </a:solidFill>
                <a:latin typeface="Aptos"/>
              </a:defRPr>
            </a:pPr>
            <a:r>
              <a:rPr dirty="0"/>
              <a:t>• </a:t>
            </a:r>
            <a:r>
              <a:rPr sz="1600" dirty="0"/>
              <a:t>The customer/network evidence indicates identifiable opportunities to improve commercial and operational performance.</a:t>
            </a:r>
          </a:p>
          <a:p>
            <a:pPr>
              <a:spcAft>
                <a:spcPts val="700"/>
              </a:spcAft>
              <a:defRPr sz="1220">
                <a:solidFill>
                  <a:srgbClr val="242E3C"/>
                </a:solidFill>
                <a:latin typeface="Aptos"/>
              </a:defRPr>
            </a:pPr>
            <a:r>
              <a:rPr sz="1600" dirty="0"/>
              <a:t>• However, the supplied analysis does not contain valuation, revenue, margin, cash-flow, debt, churn economics or ROI evidence.</a:t>
            </a:r>
          </a:p>
          <a:p>
            <a:pPr>
              <a:spcAft>
                <a:spcPts val="700"/>
              </a:spcAft>
              <a:defRPr sz="1220">
                <a:solidFill>
                  <a:srgbClr val="242E3C"/>
                </a:solidFill>
                <a:latin typeface="Aptos"/>
              </a:defRPr>
            </a:pPr>
            <a:r>
              <a:rPr sz="1600" dirty="0"/>
              <a:t>• Proceed only if financial, commercial, regulatory and technical due diligence supports an acceptable acquisition case.</a:t>
            </a:r>
          </a:p>
        </p:txBody>
      </p:sp>
      <p:sp>
        <p:nvSpPr>
          <p:cNvPr id="14" name="Rounded Rectangle 13"/>
          <p:cNvSpPr/>
          <p:nvPr/>
        </p:nvSpPr>
        <p:spPr>
          <a:xfrm>
            <a:off x="685800" y="5349240"/>
            <a:ext cx="10698480" cy="73152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5800" y="5349240"/>
            <a:ext cx="73152" cy="731520"/>
          </a:xfrm>
          <a:prstGeom prst="rect">
            <a:avLst/>
          </a:prstGeom>
          <a:solidFill>
            <a:srgbClr val="EBB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5486400"/>
            <a:ext cx="10424159" cy="274320"/>
          </a:xfrm>
          <a:prstGeom prst="rect">
            <a:avLst/>
          </a:prstGeom>
          <a:noFill/>
        </p:spPr>
        <p:txBody>
          <a:bodyPr wrap="square" anchor="t">
            <a:spAutoFit/>
          </a:bodyPr>
          <a:lstStyle/>
          <a:p>
            <a:pPr algn="l"/>
            <a:r>
              <a:rPr sz="1200" b="1">
                <a:solidFill>
                  <a:srgbClr val="101C30"/>
                </a:solidFill>
                <a:latin typeface="Aptos"/>
              </a:rPr>
              <a:t>Decision principle</a:t>
            </a:r>
          </a:p>
        </p:txBody>
      </p:sp>
      <p:sp>
        <p:nvSpPr>
          <p:cNvPr id="17" name="TextBox 16"/>
          <p:cNvSpPr txBox="1"/>
          <p:nvPr/>
        </p:nvSpPr>
        <p:spPr>
          <a:xfrm>
            <a:off x="868680" y="5833872"/>
            <a:ext cx="10378440" cy="137160"/>
          </a:xfrm>
          <a:prstGeom prst="rect">
            <a:avLst/>
          </a:prstGeom>
          <a:noFill/>
        </p:spPr>
        <p:txBody>
          <a:bodyPr wrap="square" anchor="t">
            <a:spAutoFit/>
          </a:bodyPr>
          <a:lstStyle/>
          <a:p>
            <a:pPr algn="l"/>
            <a:r>
              <a:rPr sz="1050" b="0">
                <a:solidFill>
                  <a:srgbClr val="242E3C"/>
                </a:solidFill>
                <a:latin typeface="Aptos"/>
              </a:rPr>
              <a:t>Use this analysis to prioritize what to investigate and where growth may be created—not as a standalone valuation or purchase-price decision.</a:t>
            </a:r>
          </a:p>
        </p:txBody>
      </p:sp>
      <p:sp>
        <p:nvSpPr>
          <p:cNvPr id="18" name="TextBox 17"/>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19" name="TextBox 18"/>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62658"/>
            <a:ext cx="7828444" cy="646331"/>
          </a:xfrm>
          <a:prstGeom prst="rect">
            <a:avLst/>
          </a:prstGeom>
          <a:noFill/>
        </p:spPr>
        <p:txBody>
          <a:bodyPr wrap="square">
            <a:spAutoFit/>
          </a:bodyPr>
          <a:lstStyle/>
          <a:p>
            <a:r>
              <a:rPr sz="3600" b="1" dirty="0">
                <a:solidFill>
                  <a:srgbClr val="101C30"/>
                </a:solidFill>
                <a:latin typeface="Aptos Display"/>
              </a:rPr>
              <a:t>Limitations</a:t>
            </a:r>
            <a:r>
              <a:rPr lang="en-US" sz="3600" b="1" dirty="0">
                <a:solidFill>
                  <a:srgbClr val="101C30"/>
                </a:solidFill>
                <a:latin typeface="Aptos Display"/>
              </a:rPr>
              <a:t> &amp;</a:t>
            </a:r>
            <a:r>
              <a:rPr sz="3600" b="1" dirty="0">
                <a:solidFill>
                  <a:srgbClr val="101C30"/>
                </a:solidFill>
                <a:latin typeface="Aptos Display"/>
              </a:rPr>
              <a:t> References</a:t>
            </a:r>
          </a:p>
        </p:txBody>
      </p:sp>
      <p:sp>
        <p:nvSpPr>
          <p:cNvPr id="4" name="TextBox 3"/>
          <p:cNvSpPr txBox="1"/>
          <p:nvPr/>
        </p:nvSpPr>
        <p:spPr>
          <a:xfrm>
            <a:off x="566928" y="850392"/>
            <a:ext cx="10881360" cy="347472"/>
          </a:xfrm>
          <a:prstGeom prst="rect">
            <a:avLst/>
          </a:prstGeom>
          <a:noFill/>
        </p:spPr>
        <p:txBody>
          <a:bodyPr wrap="none">
            <a:spAutoFit/>
          </a:bodyPr>
          <a:lstStyle/>
          <a:p>
            <a:r>
              <a:rPr sz="1050">
                <a:solidFill>
                  <a:srgbClr val="677486"/>
                </a:solidFill>
                <a:latin typeface="Aptos"/>
              </a:rPr>
              <a:t>What should be completed or validated before the final investment decision</a:t>
            </a:r>
          </a:p>
        </p:txBody>
      </p:sp>
      <p:sp>
        <p:nvSpPr>
          <p:cNvPr id="5" name="Rectangle 4"/>
          <p:cNvSpPr/>
          <p:nvPr/>
        </p:nvSpPr>
        <p:spPr>
          <a:xfrm>
            <a:off x="566928" y="1170432"/>
            <a:ext cx="1005840" cy="50292"/>
          </a:xfrm>
          <a:prstGeom prst="rect">
            <a:avLst/>
          </a:prstGeom>
          <a:solidFill>
            <a:srgbClr val="1491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371600"/>
            <a:ext cx="5977030" cy="2240280"/>
          </a:xfrm>
          <a:prstGeom prst="roundRect">
            <a:avLst/>
          </a:prstGeom>
          <a:solidFill>
            <a:srgbClr val="FFFFFF"/>
          </a:solidFill>
          <a:ln>
            <a:solidFill>
              <a:srgbClr val="E1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371600"/>
            <a:ext cx="73152" cy="2240280"/>
          </a:xfrm>
          <a:prstGeom prst="rect">
            <a:avLst/>
          </a:prstGeom>
          <a:solidFill>
            <a:srgbClr val="CD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508760"/>
            <a:ext cx="5029200" cy="338554"/>
          </a:xfrm>
          <a:prstGeom prst="rect">
            <a:avLst/>
          </a:prstGeom>
          <a:noFill/>
        </p:spPr>
        <p:txBody>
          <a:bodyPr wrap="square" anchor="t">
            <a:spAutoFit/>
          </a:bodyPr>
          <a:lstStyle/>
          <a:p>
            <a:pPr algn="l"/>
            <a:r>
              <a:rPr sz="1600" b="1" dirty="0">
                <a:solidFill>
                  <a:srgbClr val="101C30"/>
                </a:solidFill>
                <a:latin typeface="Aptos"/>
              </a:rPr>
              <a:t>Key limitations</a:t>
            </a:r>
          </a:p>
        </p:txBody>
      </p:sp>
      <p:sp>
        <p:nvSpPr>
          <p:cNvPr id="9" name="TextBox 8"/>
          <p:cNvSpPr txBox="1"/>
          <p:nvPr/>
        </p:nvSpPr>
        <p:spPr>
          <a:xfrm>
            <a:off x="822958" y="1856232"/>
            <a:ext cx="5646667" cy="1384995"/>
          </a:xfrm>
          <a:prstGeom prst="rect">
            <a:avLst/>
          </a:prstGeom>
          <a:noFill/>
        </p:spPr>
        <p:txBody>
          <a:bodyPr wrap="square" anchor="t">
            <a:spAutoFit/>
          </a:bodyPr>
          <a:lstStyle/>
          <a:p>
            <a:pPr algn="l"/>
            <a:r>
              <a:rPr sz="1400" b="0" dirty="0">
                <a:solidFill>
                  <a:srgbClr val="242E3C"/>
                </a:solidFill>
                <a:latin typeface="Aptos"/>
              </a:rPr>
              <a:t>• One-month behavioral snapshot; not a longitudinal customer view.
• Derived satisfaction is not survey-based sentiment.
• Mean/IQR outlier treatment can reduce extreme-value information.
• Very high regression R² is partly structural because the target is derived from predictor information.
• Financial and valuation evidence is outside the supplied dataset</a:t>
            </a:r>
            <a:r>
              <a:rPr sz="1200" b="0" dirty="0">
                <a:solidFill>
                  <a:srgbClr val="242E3C"/>
                </a:solidFill>
                <a:latin typeface="Aptos"/>
              </a:rPr>
              <a:t>.</a:t>
            </a:r>
          </a:p>
        </p:txBody>
      </p:sp>
      <p:sp>
        <p:nvSpPr>
          <p:cNvPr id="14" name="TextBox 13"/>
          <p:cNvSpPr txBox="1"/>
          <p:nvPr/>
        </p:nvSpPr>
        <p:spPr>
          <a:xfrm>
            <a:off x="658367" y="3977639"/>
            <a:ext cx="3431851" cy="369332"/>
          </a:xfrm>
          <a:prstGeom prst="rect">
            <a:avLst/>
          </a:prstGeom>
          <a:noFill/>
        </p:spPr>
        <p:txBody>
          <a:bodyPr wrap="square" anchor="t">
            <a:spAutoFit/>
          </a:bodyPr>
          <a:lstStyle/>
          <a:p>
            <a:pPr algn="l"/>
            <a:r>
              <a:rPr b="1" dirty="0">
                <a:solidFill>
                  <a:srgbClr val="101C30"/>
                </a:solidFill>
                <a:latin typeface="Aptos"/>
              </a:rPr>
              <a:t>References / source artifacts</a:t>
            </a:r>
          </a:p>
        </p:txBody>
      </p:sp>
      <p:sp>
        <p:nvSpPr>
          <p:cNvPr id="15" name="TextBox 14"/>
          <p:cNvSpPr txBox="1"/>
          <p:nvPr/>
        </p:nvSpPr>
        <p:spPr>
          <a:xfrm>
            <a:off x="713232" y="4389120"/>
            <a:ext cx="10607040" cy="1272143"/>
          </a:xfrm>
          <a:prstGeom prst="rect">
            <a:avLst/>
          </a:prstGeom>
          <a:noFill/>
        </p:spPr>
        <p:txBody>
          <a:bodyPr wrap="square">
            <a:spAutoFit/>
          </a:bodyPr>
          <a:lstStyle/>
          <a:p>
            <a:pPr>
              <a:spcAft>
                <a:spcPts val="500"/>
              </a:spcAft>
              <a:defRPr sz="1050">
                <a:solidFill>
                  <a:srgbClr val="242E3C"/>
                </a:solidFill>
                <a:latin typeface="Aptos"/>
              </a:defRPr>
            </a:pPr>
            <a:r>
              <a:rPr sz="1200" dirty="0"/>
              <a:t>• Telecommunication_Project_Task1&amp;2.ipynb — Customer overview, application usage and engagement analysis</a:t>
            </a:r>
          </a:p>
          <a:p>
            <a:pPr>
              <a:spcAft>
                <a:spcPts val="500"/>
              </a:spcAft>
              <a:defRPr sz="1050">
                <a:solidFill>
                  <a:srgbClr val="242E3C"/>
                </a:solidFill>
                <a:latin typeface="Aptos"/>
              </a:defRPr>
            </a:pPr>
            <a:r>
              <a:rPr sz="1200" dirty="0"/>
              <a:t>• Telecommunication_Project_Task3.ipynb — Experience metrics, handset analysis and K-Means segmentation</a:t>
            </a:r>
          </a:p>
          <a:p>
            <a:pPr>
              <a:spcAft>
                <a:spcPts val="500"/>
              </a:spcAft>
              <a:defRPr sz="1050">
                <a:solidFill>
                  <a:srgbClr val="242E3C"/>
                </a:solidFill>
                <a:latin typeface="Aptos"/>
              </a:defRPr>
            </a:pPr>
            <a:r>
              <a:rPr sz="1200" dirty="0"/>
              <a:t>• Telecommunication_Project_Task4.ipynb — Satisfaction scoring, regression, K-Means and MySQL export</a:t>
            </a:r>
          </a:p>
          <a:p>
            <a:pPr>
              <a:spcAft>
                <a:spcPts val="500"/>
              </a:spcAft>
              <a:defRPr sz="1050">
                <a:solidFill>
                  <a:srgbClr val="242E3C"/>
                </a:solidFill>
                <a:latin typeface="Aptos"/>
              </a:defRPr>
            </a:pPr>
            <a:r>
              <a:rPr sz="1200" dirty="0"/>
              <a:t>• Supplied MySQL SELECT query screenshot — </a:t>
            </a:r>
            <a:r>
              <a:rPr sz="1200" dirty="0" err="1"/>
              <a:t>customer_satisfaction</a:t>
            </a:r>
            <a:r>
              <a:rPr sz="1200" dirty="0"/>
              <a:t> table evidence</a:t>
            </a:r>
          </a:p>
          <a:p>
            <a:pPr>
              <a:spcAft>
                <a:spcPts val="500"/>
              </a:spcAft>
              <a:defRPr sz="1050">
                <a:solidFill>
                  <a:srgbClr val="242E3C"/>
                </a:solidFill>
                <a:latin typeface="Aptos"/>
              </a:defRPr>
            </a:pPr>
            <a:r>
              <a:rPr sz="1200" dirty="0"/>
              <a:t>• Project brief — final presentation, dashboard, data analysis code and Task 4.7 requirements</a:t>
            </a:r>
          </a:p>
        </p:txBody>
      </p:sp>
      <p:sp>
        <p:nvSpPr>
          <p:cNvPr id="17" name="TextBox 16"/>
          <p:cNvSpPr txBox="1"/>
          <p:nvPr/>
        </p:nvSpPr>
        <p:spPr>
          <a:xfrm>
            <a:off x="548640" y="6473952"/>
            <a:ext cx="8686800" cy="201168"/>
          </a:xfrm>
          <a:prstGeom prst="rect">
            <a:avLst/>
          </a:prstGeom>
          <a:noFill/>
        </p:spPr>
        <p:txBody>
          <a:bodyPr wrap="none">
            <a:spAutoFit/>
          </a:bodyPr>
          <a:lstStyle/>
          <a:p>
            <a:r>
              <a:rPr sz="850">
                <a:solidFill>
                  <a:srgbClr val="677486"/>
                </a:solidFill>
                <a:latin typeface="Aptos"/>
              </a:rPr>
              <a:t>TellCo User Analytics</a:t>
            </a:r>
          </a:p>
        </p:txBody>
      </p:sp>
      <p:sp>
        <p:nvSpPr>
          <p:cNvPr id="18" name="TextBox 17"/>
          <p:cNvSpPr txBox="1"/>
          <p:nvPr/>
        </p:nvSpPr>
        <p:spPr>
          <a:xfrm>
            <a:off x="11109960" y="6446520"/>
            <a:ext cx="502920" cy="228600"/>
          </a:xfrm>
          <a:prstGeom prst="rect">
            <a:avLst/>
          </a:prstGeom>
          <a:noFill/>
        </p:spPr>
        <p:txBody>
          <a:bodyPr wrap="none">
            <a:spAutoFit/>
          </a:bodyPr>
          <a:lstStyle/>
          <a:p>
            <a:pPr algn="r"/>
            <a:r>
              <a:rPr sz="900" b="1">
                <a:solidFill>
                  <a:srgbClr val="677486"/>
                </a:solidFill>
                <a:latin typeface="Aptos"/>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04D067-60C1-B7C6-CB8A-33D005F63BC2}"/>
              </a:ext>
            </a:extLst>
          </p:cNvPr>
          <p:cNvSpPr txBox="1"/>
          <p:nvPr/>
        </p:nvSpPr>
        <p:spPr>
          <a:xfrm>
            <a:off x="3834580" y="2485103"/>
            <a:ext cx="4031226" cy="1015663"/>
          </a:xfrm>
          <a:prstGeom prst="rect">
            <a:avLst/>
          </a:prstGeom>
          <a:noFill/>
        </p:spPr>
        <p:txBody>
          <a:bodyPr wrap="square" rtlCol="0">
            <a:spAutoFit/>
          </a:bodyPr>
          <a:lstStyle/>
          <a:p>
            <a:r>
              <a:rPr lang="en-US" sz="6000" dirty="0">
                <a:solidFill>
                  <a:srgbClr val="92D050"/>
                </a:solidFill>
              </a:rPr>
              <a:t>THANKYOU</a:t>
            </a:r>
            <a:endParaRPr lang="en-IN" sz="6000" dirty="0">
              <a:solidFill>
                <a:srgbClr val="92D050"/>
              </a:solidFill>
            </a:endParaRPr>
          </a:p>
        </p:txBody>
      </p:sp>
    </p:spTree>
    <p:extLst>
      <p:ext uri="{BB962C8B-B14F-4D97-AF65-F5344CB8AC3E}">
        <p14:creationId xmlns:p14="http://schemas.microsoft.com/office/powerpoint/2010/main" val="441457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1946</Words>
  <Application>Microsoft Office PowerPoint</Application>
  <PresentationFormat>Widescreen</PresentationFormat>
  <Paragraphs>404</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TellCo User Analytics — Final Presentation</dc:title>
  <dc:subject>Customer Overview, User Engagement, User Experience and Satisfaction Analysis</dc:subject>
  <dc:creator>TellCo User Analytics Project</dc:creator>
  <cp:keywords>TellCo, telecom, customer analytics, engagement, experience, satisfaction, KMeans, Random Forest</cp:keywords>
  <dc:description>generated using python-pptx</dc:description>
  <cp:lastModifiedBy>Isha Jain</cp:lastModifiedBy>
  <cp:revision>2</cp:revision>
  <dcterms:created xsi:type="dcterms:W3CDTF">2013-01-27T09:14:16Z</dcterms:created>
  <dcterms:modified xsi:type="dcterms:W3CDTF">2026-10-01T12:44:00Z</dcterms:modified>
  <cp:category/>
</cp:coreProperties>
</file>